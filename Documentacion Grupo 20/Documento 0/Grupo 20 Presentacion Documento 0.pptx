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hS3zARzmDwR+ix8GE7tQSqNfn6p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 dt="2026-09-23T23:15:03.232"/>
    <p1510:client id="{5D67F122-2B85-98FC-62CC-536EC821BAB8}" v="393" dt="2026-09-24T19:24:53.534"/>
    <p1510:client id="{69780A69-3767-F124-19C5-A713A9EBC3CC}" v="4" dt="2026-09-25T04:10:30.812"/>
    <p1510:client id="{BDC78214-7DDF-7E38-7055-087AC0D15B00}" v="34" dt="2026-09-23T23:12:18.441"/>
    <p1510:client id="{FF2177B5-21A2-D575-E334-456D359B8E83}" v="45" dt="2026-09-24T19:25:02.531"/>
  </p1510:revLst>
</p1510:revInfo>
</file>

<file path=ppt/tableStyles.xml><?xml version="1.0" encoding="utf-8"?>
<a:tblStyleLst xmlns:a="http://schemas.openxmlformats.org/drawingml/2006/main" def="{41871B0C-AF7D-4192-89DD-12DB13C66A15}">
  <a:tblStyle styleId="{41871B0C-AF7D-4192-89DD-12DB13C66A1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ÁNDEZ LEIVA ERICK D" userId="S::e.hernndezleiva@uandresbello.edu::9c5b8259-4361-4a22-8228-673ea94f99ad" providerId="AD" clId="Web-{69780A69-3767-F124-19C5-A713A9EBC3CC}"/>
    <pc:docChg chg="modSld">
      <pc:chgData name="HERNÁNDEZ LEIVA ERICK D" userId="S::e.hernndezleiva@uandresbello.edu::9c5b8259-4361-4a22-8228-673ea94f99ad" providerId="AD" clId="Web-{69780A69-3767-F124-19C5-A713A9EBC3CC}" dt="2026-09-25T04:10:30.812" v="3"/>
      <pc:docMkLst>
        <pc:docMk/>
      </pc:docMkLst>
      <pc:sldChg chg="modSp">
        <pc:chgData name="HERNÁNDEZ LEIVA ERICK D" userId="S::e.hernndezleiva@uandresbello.edu::9c5b8259-4361-4a22-8228-673ea94f99ad" providerId="AD" clId="Web-{69780A69-3767-F124-19C5-A713A9EBC3CC}" dt="2026-09-25T04:10:30.812" v="3"/>
        <pc:sldMkLst>
          <pc:docMk/>
          <pc:sldMk cId="0" sldId="276"/>
        </pc:sldMkLst>
        <pc:spChg chg="mod">
          <ac:chgData name="HERNÁNDEZ LEIVA ERICK D" userId="S::e.hernndezleiva@uandresbello.edu::9c5b8259-4361-4a22-8228-673ea94f99ad" providerId="AD" clId="Web-{69780A69-3767-F124-19C5-A713A9EBC3CC}" dt="2026-09-25T04:10:23.655" v="1" actId="20577"/>
          <ac:spMkLst>
            <pc:docMk/>
            <pc:sldMk cId="0" sldId="276"/>
            <ac:spMk id="660" creationId="{00000000-0000-0000-0000-000000000000}"/>
          </ac:spMkLst>
        </pc:spChg>
        <pc:graphicFrameChg chg="modGraphic">
          <ac:chgData name="HERNÁNDEZ LEIVA ERICK D" userId="S::e.hernndezleiva@uandresbello.edu::9c5b8259-4361-4a22-8228-673ea94f99ad" providerId="AD" clId="Web-{69780A69-3767-F124-19C5-A713A9EBC3CC}" dt="2026-09-25T04:10:30.812" v="3"/>
          <ac:graphicFrameMkLst>
            <pc:docMk/>
            <pc:sldMk cId="0" sldId="276"/>
            <ac:graphicFrameMk id="668" creationId="{00000000-0000-0000-0000-000000000000}"/>
          </ac:graphicFrameMkLst>
        </pc:graphicFrameChg>
      </pc:sldChg>
    </pc:docChg>
  </pc:docChgLst>
  <pc:docChgLst>
    <pc:chgData name="SALAS ORTIZ FELIPE P" userId="S::f.salasortiz@uandresbello.edu::50b57c22-9f6d-44aa-ae83-adb288526a08" providerId="AD" clId="Web-{5D67F122-2B85-98FC-62CC-536EC821BAB8}"/>
    <pc:docChg chg="modSld">
      <pc:chgData name="SALAS ORTIZ FELIPE P" userId="S::f.salasortiz@uandresbello.edu::50b57c22-9f6d-44aa-ae83-adb288526a08" providerId="AD" clId="Web-{5D67F122-2B85-98FC-62CC-536EC821BAB8}" dt="2026-09-24T19:24:50.316" v="343" actId="20577"/>
      <pc:docMkLst>
        <pc:docMk/>
      </pc:docMkLst>
      <pc:sldChg chg="modSp">
        <pc:chgData name="SALAS ORTIZ FELIPE P" userId="S::f.salasortiz@uandresbello.edu::50b57c22-9f6d-44aa-ae83-adb288526a08" providerId="AD" clId="Web-{5D67F122-2B85-98FC-62CC-536EC821BAB8}" dt="2026-09-24T19:23:02.439" v="293" actId="20577"/>
        <pc:sldMkLst>
          <pc:docMk/>
          <pc:sldMk cId="0" sldId="279"/>
        </pc:sldMkLst>
        <pc:spChg chg="mod">
          <ac:chgData name="SALAS ORTIZ FELIPE P" userId="S::f.salasortiz@uandresbello.edu::50b57c22-9f6d-44aa-ae83-adb288526a08" providerId="AD" clId="Web-{5D67F122-2B85-98FC-62CC-536EC821BAB8}" dt="2026-09-24T19:23:02.439" v="293" actId="20577"/>
          <ac:spMkLst>
            <pc:docMk/>
            <pc:sldMk cId="0" sldId="279"/>
            <ac:spMk id="776" creationId="{00000000-0000-0000-0000-000000000000}"/>
          </ac:spMkLst>
        </pc:spChg>
      </pc:sldChg>
      <pc:sldChg chg="modSp">
        <pc:chgData name="SALAS ORTIZ FELIPE P" userId="S::f.salasortiz@uandresbello.edu::50b57c22-9f6d-44aa-ae83-adb288526a08" providerId="AD" clId="Web-{5D67F122-2B85-98FC-62CC-536EC821BAB8}" dt="2026-09-24T19:18:55.593" v="30" actId="20577"/>
        <pc:sldMkLst>
          <pc:docMk/>
          <pc:sldMk cId="0" sldId="281"/>
        </pc:sldMkLst>
        <pc:spChg chg="mod">
          <ac:chgData name="SALAS ORTIZ FELIPE P" userId="S::f.salasortiz@uandresbello.edu::50b57c22-9f6d-44aa-ae83-adb288526a08" providerId="AD" clId="Web-{5D67F122-2B85-98FC-62CC-536EC821BAB8}" dt="2026-09-24T19:18:40.764" v="14" actId="20577"/>
          <ac:spMkLst>
            <pc:docMk/>
            <pc:sldMk cId="0" sldId="281"/>
            <ac:spMk id="820" creationId="{00000000-0000-0000-0000-000000000000}"/>
          </ac:spMkLst>
        </pc:spChg>
        <pc:spChg chg="mod">
          <ac:chgData name="SALAS ORTIZ FELIPE P" userId="S::f.salasortiz@uandresbello.edu::50b57c22-9f6d-44aa-ae83-adb288526a08" providerId="AD" clId="Web-{5D67F122-2B85-98FC-62CC-536EC821BAB8}" dt="2026-09-24T19:18:55.593" v="30" actId="20577"/>
          <ac:spMkLst>
            <pc:docMk/>
            <pc:sldMk cId="0" sldId="281"/>
            <ac:spMk id="840" creationId="{00000000-0000-0000-0000-000000000000}"/>
          </ac:spMkLst>
        </pc:spChg>
        <pc:spChg chg="mod">
          <ac:chgData name="SALAS ORTIZ FELIPE P" userId="S::f.salasortiz@uandresbello.edu::50b57c22-9f6d-44aa-ae83-adb288526a08" providerId="AD" clId="Web-{5D67F122-2B85-98FC-62CC-536EC821BAB8}" dt="2026-09-24T19:18:28.389" v="11" actId="20577"/>
          <ac:spMkLst>
            <pc:docMk/>
            <pc:sldMk cId="0" sldId="281"/>
            <ac:spMk id="844" creationId="{00000000-0000-0000-0000-000000000000}"/>
          </ac:spMkLst>
        </pc:spChg>
      </pc:sldChg>
      <pc:sldChg chg="modSp">
        <pc:chgData name="SALAS ORTIZ FELIPE P" userId="S::f.salasortiz@uandresbello.edu::50b57c22-9f6d-44aa-ae83-adb288526a08" providerId="AD" clId="Web-{5D67F122-2B85-98FC-62CC-536EC821BAB8}" dt="2026-09-24T19:21:26.626" v="276"/>
        <pc:sldMkLst>
          <pc:docMk/>
          <pc:sldMk cId="0" sldId="282"/>
        </pc:sldMkLst>
        <pc:graphicFrameChg chg="mod modGraphic">
          <ac:chgData name="SALAS ORTIZ FELIPE P" userId="S::f.salasortiz@uandresbello.edu::50b57c22-9f6d-44aa-ae83-adb288526a08" providerId="AD" clId="Web-{5D67F122-2B85-98FC-62CC-536EC821BAB8}" dt="2026-09-24T19:21:26.626" v="276"/>
          <ac:graphicFrameMkLst>
            <pc:docMk/>
            <pc:sldMk cId="0" sldId="282"/>
            <ac:graphicFrameMk id="869" creationId="{00000000-0000-0000-0000-000000000000}"/>
          </ac:graphicFrameMkLst>
        </pc:graphicFrameChg>
      </pc:sldChg>
      <pc:sldChg chg="modSp">
        <pc:chgData name="SALAS ORTIZ FELIPE P" userId="S::f.salasortiz@uandresbello.edu::50b57c22-9f6d-44aa-ae83-adb288526a08" providerId="AD" clId="Web-{5D67F122-2B85-98FC-62CC-536EC821BAB8}" dt="2026-09-24T19:24:50.316" v="343" actId="20577"/>
        <pc:sldMkLst>
          <pc:docMk/>
          <pc:sldMk cId="0" sldId="283"/>
        </pc:sldMkLst>
        <pc:spChg chg="mod">
          <ac:chgData name="SALAS ORTIZ FELIPE P" userId="S::f.salasortiz@uandresbello.edu::50b57c22-9f6d-44aa-ae83-adb288526a08" providerId="AD" clId="Web-{5D67F122-2B85-98FC-62CC-536EC821BAB8}" dt="2026-09-24T19:24:50.316" v="343" actId="20577"/>
          <ac:spMkLst>
            <pc:docMk/>
            <pc:sldMk cId="0" sldId="283"/>
            <ac:spMk id="888" creationId="{00000000-0000-0000-0000-000000000000}"/>
          </ac:spMkLst>
        </pc:spChg>
      </pc:sldChg>
    </pc:docChg>
  </pc:docChgLst>
  <pc:docChgLst>
    <pc:chgData name="OSORIO RIQUELME CRISTOBAL A" userId="S::c.osorioriquelme@uandresbello.edu::8825b92d-bffb-4c70-9f71-df0b4be0989f" providerId="AD" clId="Web-{BDC78214-7DDF-7E38-7055-087AC0D15B00}"/>
    <pc:docChg chg="modSld">
      <pc:chgData name="OSORIO RIQUELME CRISTOBAL A" userId="S::c.osorioriquelme@uandresbello.edu::8825b92d-bffb-4c70-9f71-df0b4be0989f" providerId="AD" clId="Web-{BDC78214-7DDF-7E38-7055-087AC0D15B00}" dt="2026-09-23T23:12:17.566" v="7"/>
      <pc:docMkLst>
        <pc:docMk/>
      </pc:docMkLst>
      <pc:sldChg chg="modSp">
        <pc:chgData name="OSORIO RIQUELME CRISTOBAL A" userId="S::c.osorioriquelme@uandresbello.edu::8825b92d-bffb-4c70-9f71-df0b4be0989f" providerId="AD" clId="Web-{BDC78214-7DDF-7E38-7055-087AC0D15B00}" dt="2026-09-23T23:11:10.688" v="1" actId="20577"/>
        <pc:sldMkLst>
          <pc:docMk/>
          <pc:sldMk cId="0" sldId="270"/>
        </pc:sldMkLst>
        <pc:spChg chg="mod">
          <ac:chgData name="OSORIO RIQUELME CRISTOBAL A" userId="S::c.osorioriquelme@uandresbello.edu::8825b92d-bffb-4c70-9f71-df0b4be0989f" providerId="AD" clId="Web-{BDC78214-7DDF-7E38-7055-087AC0D15B00}" dt="2026-09-23T23:11:10.688" v="1" actId="20577"/>
          <ac:spMkLst>
            <pc:docMk/>
            <pc:sldMk cId="0" sldId="270"/>
            <ac:spMk id="479" creationId="{00000000-0000-0000-0000-000000000000}"/>
          </ac:spMkLst>
        </pc:spChg>
      </pc:sldChg>
      <pc:sldChg chg="modSp">
        <pc:chgData name="OSORIO RIQUELME CRISTOBAL A" userId="S::c.osorioriquelme@uandresbello.edu::8825b92d-bffb-4c70-9f71-df0b4be0989f" providerId="AD" clId="Web-{BDC78214-7DDF-7E38-7055-087AC0D15B00}" dt="2026-09-23T23:11:23.360" v="3" actId="20577"/>
        <pc:sldMkLst>
          <pc:docMk/>
          <pc:sldMk cId="0" sldId="271"/>
        </pc:sldMkLst>
        <pc:spChg chg="mod">
          <ac:chgData name="OSORIO RIQUELME CRISTOBAL A" userId="S::c.osorioriquelme@uandresbello.edu::8825b92d-bffb-4c70-9f71-df0b4be0989f" providerId="AD" clId="Web-{BDC78214-7DDF-7E38-7055-087AC0D15B00}" dt="2026-09-23T23:11:23.360" v="3" actId="20577"/>
          <ac:spMkLst>
            <pc:docMk/>
            <pc:sldMk cId="0" sldId="271"/>
            <ac:spMk id="519" creationId="{00000000-0000-0000-0000-000000000000}"/>
          </ac:spMkLst>
        </pc:spChg>
      </pc:sldChg>
      <pc:sldChg chg="modSp">
        <pc:chgData name="OSORIO RIQUELME CRISTOBAL A" userId="S::c.osorioriquelme@uandresbello.edu::8825b92d-bffb-4c70-9f71-df0b4be0989f" providerId="AD" clId="Web-{BDC78214-7DDF-7E38-7055-087AC0D15B00}" dt="2026-09-23T23:12:17.566" v="7"/>
        <pc:sldMkLst>
          <pc:docMk/>
          <pc:sldMk cId="0" sldId="276"/>
        </pc:sldMkLst>
        <pc:spChg chg="mod">
          <ac:chgData name="OSORIO RIQUELME CRISTOBAL A" userId="S::c.osorioriquelme@uandresbello.edu::8825b92d-bffb-4c70-9f71-df0b4be0989f" providerId="AD" clId="Web-{BDC78214-7DDF-7E38-7055-087AC0D15B00}" dt="2026-09-23T23:11:57.612" v="5" actId="20577"/>
          <ac:spMkLst>
            <pc:docMk/>
            <pc:sldMk cId="0" sldId="276"/>
            <ac:spMk id="673" creationId="{00000000-0000-0000-0000-000000000000}"/>
          </ac:spMkLst>
        </pc:spChg>
        <pc:graphicFrameChg chg="modGraphic">
          <ac:chgData name="OSORIO RIQUELME CRISTOBAL A" userId="S::c.osorioriquelme@uandresbello.edu::8825b92d-bffb-4c70-9f71-df0b4be0989f" providerId="AD" clId="Web-{BDC78214-7DDF-7E38-7055-087AC0D15B00}" dt="2026-09-23T23:12:17.566" v="7"/>
          <ac:graphicFrameMkLst>
            <pc:docMk/>
            <pc:sldMk cId="0" sldId="276"/>
            <ac:graphicFrameMk id="668" creationId="{00000000-0000-0000-0000-000000000000}"/>
          </ac:graphicFrameMkLst>
        </pc:graphicFrameChg>
      </pc:sldChg>
    </pc:docChg>
  </pc:docChgLst>
  <pc:docChgLst>
    <pc:chgData name="OSORIO RIQUELME CRISTOBAL A" userId="S::c.osorioriquelme@uandresbello.edu::8825b92d-bffb-4c70-9f71-df0b4be0989f" providerId="AD" clId="Web-{00000000-0000-0000-0000-000000000000}"/>
    <pc:docChg chg="modSld">
      <pc:chgData name="OSORIO RIQUELME CRISTOBAL A" userId="S::c.osorioriquelme@uandresbello.edu::8825b92d-bffb-4c70-9f71-df0b4be0989f" providerId="AD" clId="Web-{00000000-0000-0000-0000-000000000000}" dt="2026-09-23T23:14:49.762" v="1" actId="20577"/>
      <pc:docMkLst>
        <pc:docMk/>
      </pc:docMkLst>
      <pc:sldChg chg="modSp">
        <pc:chgData name="OSORIO RIQUELME CRISTOBAL A" userId="S::c.osorioriquelme@uandresbello.edu::8825b92d-bffb-4c70-9f71-df0b4be0989f" providerId="AD" clId="Web-{00000000-0000-0000-0000-000000000000}" dt="2026-09-23T23:14:49.762" v="1" actId="20577"/>
        <pc:sldMkLst>
          <pc:docMk/>
          <pc:sldMk cId="0" sldId="256"/>
        </pc:sldMkLst>
        <pc:spChg chg="mod">
          <ac:chgData name="OSORIO RIQUELME CRISTOBAL A" userId="S::c.osorioriquelme@uandresbello.edu::8825b92d-bffb-4c70-9f71-df0b4be0989f" providerId="AD" clId="Web-{00000000-0000-0000-0000-000000000000}" dt="2026-09-23T23:14:49.762" v="1" actId="20577"/>
          <ac:spMkLst>
            <pc:docMk/>
            <pc:sldMk cId="0" sldId="256"/>
            <ac:spMk id="22" creationId="{00000000-0000-0000-0000-000000000000}"/>
          </ac:spMkLst>
        </pc:spChg>
      </pc:sldChg>
    </pc:docChg>
  </pc:docChgLst>
  <pc:docChgLst>
    <pc:chgData name="HERNÁNDEZ LEIVA ERICK D" userId="S::e.hernndezleiva@uandresbello.edu::9c5b8259-4361-4a22-8228-673ea94f99ad" providerId="AD" clId="Web-{FF2177B5-21A2-D575-E334-456D359B8E83}"/>
    <pc:docChg chg="modSld">
      <pc:chgData name="HERNÁNDEZ LEIVA ERICK D" userId="S::e.hernndezleiva@uandresbello.edu::9c5b8259-4361-4a22-8228-673ea94f99ad" providerId="AD" clId="Web-{FF2177B5-21A2-D575-E334-456D359B8E83}" dt="2026-09-24T19:24:58.766" v="41" actId="20577"/>
      <pc:docMkLst>
        <pc:docMk/>
      </pc:docMkLst>
      <pc:sldChg chg="modSp">
        <pc:chgData name="HERNÁNDEZ LEIVA ERICK D" userId="S::e.hernndezleiva@uandresbello.edu::9c5b8259-4361-4a22-8228-673ea94f99ad" providerId="AD" clId="Web-{FF2177B5-21A2-D575-E334-456D359B8E83}" dt="2026-09-24T19:24:58.766" v="41" actId="20577"/>
        <pc:sldMkLst>
          <pc:docMk/>
          <pc:sldMk cId="0" sldId="279"/>
        </pc:sldMkLst>
        <pc:spChg chg="mod">
          <ac:chgData name="HERNÁNDEZ LEIVA ERICK D" userId="S::e.hernndezleiva@uandresbello.edu::9c5b8259-4361-4a22-8228-673ea94f99ad" providerId="AD" clId="Web-{FF2177B5-21A2-D575-E334-456D359B8E83}" dt="2026-09-24T19:18:34.972" v="3" actId="20577"/>
          <ac:spMkLst>
            <pc:docMk/>
            <pc:sldMk cId="0" sldId="279"/>
            <ac:spMk id="745" creationId="{00000000-0000-0000-0000-000000000000}"/>
          </ac:spMkLst>
        </pc:spChg>
        <pc:spChg chg="mod">
          <ac:chgData name="HERNÁNDEZ LEIVA ERICK D" userId="S::e.hernndezleiva@uandresbello.edu::9c5b8259-4361-4a22-8228-673ea94f99ad" providerId="AD" clId="Web-{FF2177B5-21A2-D575-E334-456D359B8E83}" dt="2026-09-24T19:23:09.606" v="28" actId="20577"/>
          <ac:spMkLst>
            <pc:docMk/>
            <pc:sldMk cId="0" sldId="279"/>
            <ac:spMk id="746" creationId="{00000000-0000-0000-0000-000000000000}"/>
          </ac:spMkLst>
        </pc:spChg>
        <pc:spChg chg="mod">
          <ac:chgData name="HERNÁNDEZ LEIVA ERICK D" userId="S::e.hernndezleiva@uandresbello.edu::9c5b8259-4361-4a22-8228-673ea94f99ad" providerId="AD" clId="Web-{FF2177B5-21A2-D575-E334-456D359B8E83}" dt="2026-09-24T19:19:11.801" v="21" actId="20577"/>
          <ac:spMkLst>
            <pc:docMk/>
            <pc:sldMk cId="0" sldId="279"/>
            <ac:spMk id="752" creationId="{00000000-0000-0000-0000-000000000000}"/>
          </ac:spMkLst>
        </pc:spChg>
        <pc:spChg chg="mod">
          <ac:chgData name="HERNÁNDEZ LEIVA ERICK D" userId="S::e.hernndezleiva@uandresbello.edu::9c5b8259-4361-4a22-8228-673ea94f99ad" providerId="AD" clId="Web-{FF2177B5-21A2-D575-E334-456D359B8E83}" dt="2026-09-24T19:24:36.718" v="31" actId="20577"/>
          <ac:spMkLst>
            <pc:docMk/>
            <pc:sldMk cId="0" sldId="279"/>
            <ac:spMk id="753" creationId="{00000000-0000-0000-0000-000000000000}"/>
          </ac:spMkLst>
        </pc:spChg>
        <pc:spChg chg="mod">
          <ac:chgData name="HERNÁNDEZ LEIVA ERICK D" userId="S::e.hernndezleiva@uandresbello.edu::9c5b8259-4361-4a22-8228-673ea94f99ad" providerId="AD" clId="Web-{FF2177B5-21A2-D575-E334-456D359B8E83}" dt="2026-09-24T19:23:03.590" v="27" actId="20577"/>
          <ac:spMkLst>
            <pc:docMk/>
            <pc:sldMk cId="0" sldId="279"/>
            <ac:spMk id="758" creationId="{00000000-0000-0000-0000-000000000000}"/>
          </ac:spMkLst>
        </pc:spChg>
        <pc:spChg chg="mod">
          <ac:chgData name="HERNÁNDEZ LEIVA ERICK D" userId="S::e.hernndezleiva@uandresbello.edu::9c5b8259-4361-4a22-8228-673ea94f99ad" providerId="AD" clId="Web-{FF2177B5-21A2-D575-E334-456D359B8E83}" dt="2026-09-24T19:24:58.766" v="41" actId="20577"/>
          <ac:spMkLst>
            <pc:docMk/>
            <pc:sldMk cId="0" sldId="279"/>
            <ac:spMk id="76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 name="Google Shape;30;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1" name="Google Shape;31;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25" name="Google Shape;125;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5" name="Google Shape;15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 name="Google Shape;18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83" name="Google Shape;183;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35" name="Google Shape;235;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47" name="Google Shape;24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59" name="Google Shape;25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71" name="Google Shape;271;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0" name="Google Shape;30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01" name="Google Shape;301;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13" name="Google Shape;31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7" name="Google Shape;347;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48" name="Google Shape;348;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9" name="Google Shape;369;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70" name="Google Shape;370;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7" name="Google Shape;397;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98" name="Google Shape;398;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5" name="Google Shape;435;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36" name="Google Shape;436;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5" name="Google Shape;485;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6" name="Google Shape;486;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5" name="Google Shape;52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26" name="Google Shape;52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72" name="Google Shape;572;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0" name="Google Shape;61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11" name="Google Shape;611;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2" name="Google Shape;642;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3" name="Google Shape;643;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20</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4" name="Google Shape;654;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55" name="Google Shape;655;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9" name="Google Shape;679;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80" name="Google Shape;680;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1" name="Google Shape;711;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12" name="Google Shape;712;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6" name="Google Shape;736;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37" name="Google Shape;737;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24</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83" name="Google Shape;783;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25</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2" name="Google Shape;812;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13" name="Google Shape;813;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26</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4" name="Google Shape;864;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65" name="Google Shape;865;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27</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8" name="Google Shape;878;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79" name="Google Shape;879;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28</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3B2E"/>
        </a:solidFill>
        <a:effectLst/>
      </p:bgPr>
    </p:bg>
    <p:spTree>
      <p:nvGrpSpPr>
        <p:cNvPr id="1" name="Shape 11"/>
        <p:cNvGrpSpPr/>
        <p:nvPr/>
      </p:nvGrpSpPr>
      <p:grpSpPr>
        <a:xfrm>
          <a:off x="0" y="0"/>
          <a:ext cx="0" cy="0"/>
          <a:chOff x="0" y="0"/>
          <a:chExt cx="0" cy="0"/>
        </a:xfrm>
      </p:grpSpPr>
      <p:sp>
        <p:nvSpPr>
          <p:cNvPr id="12" name="Google Shape;12;p1"/>
          <p:cNvSpPr/>
          <p:nvPr/>
        </p:nvSpPr>
        <p:spPr>
          <a:xfrm>
            <a:off x="7772400" y="-2286000"/>
            <a:ext cx="6400800" cy="6400800"/>
          </a:xfrm>
          <a:prstGeom prst="ellipse">
            <a:avLst/>
          </a:prstGeom>
          <a:solidFill>
            <a:srgbClr val="2D6A4F">
              <a:alpha val="6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1"/>
          <p:cNvSpPr/>
          <p:nvPr/>
        </p:nvSpPr>
        <p:spPr>
          <a:xfrm>
            <a:off x="8686800" y="3474720"/>
            <a:ext cx="4572000" cy="4572000"/>
          </a:xfrm>
          <a:prstGeom prst="ellipse">
            <a:avLst/>
          </a:prstGeom>
          <a:solidFill>
            <a:srgbClr val="E8963C">
              <a:alpha val="6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4;p1"/>
          <p:cNvSpPr/>
          <p:nvPr/>
        </p:nvSpPr>
        <p:spPr>
          <a:xfrm>
            <a:off x="1600200" y="502920"/>
            <a:ext cx="73152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a:solidFill>
                  <a:srgbClr val="FFFFFF"/>
                </a:solidFill>
                <a:latin typeface="Calibri"/>
                <a:ea typeface="Calibri"/>
                <a:cs typeface="Calibri"/>
                <a:sym typeface="Calibri"/>
              </a:rPr>
              <a:t>UNIVERSIDAD ANDRÉS BELLO</a:t>
            </a:r>
            <a:endParaRPr sz="1300">
              <a:solidFill>
                <a:schemeClr val="dk1"/>
              </a:solidFill>
              <a:latin typeface="Calibri"/>
              <a:ea typeface="Calibri"/>
              <a:cs typeface="Calibri"/>
              <a:sym typeface="Calibri"/>
            </a:endParaRPr>
          </a:p>
        </p:txBody>
      </p:sp>
      <p:sp>
        <p:nvSpPr>
          <p:cNvPr id="15" name="Google Shape;15;p1"/>
          <p:cNvSpPr/>
          <p:nvPr/>
        </p:nvSpPr>
        <p:spPr>
          <a:xfrm>
            <a:off x="1600200" y="804672"/>
            <a:ext cx="73152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9D6D0"/>
              </a:buClr>
              <a:buSzPts val="1100"/>
              <a:buFont typeface="Calibri"/>
              <a:buNone/>
            </a:pPr>
            <a:r>
              <a:rPr lang="en-US" sz="1100">
                <a:solidFill>
                  <a:srgbClr val="C9D6D0"/>
                </a:solidFill>
                <a:latin typeface="Calibri"/>
                <a:ea typeface="Calibri"/>
                <a:cs typeface="Calibri"/>
                <a:sym typeface="Calibri"/>
              </a:rPr>
              <a:t>Facultad de Ingeniería   •   Ingeniería de Software I</a:t>
            </a:r>
            <a:endParaRPr sz="1100">
              <a:solidFill>
                <a:schemeClr val="dk1"/>
              </a:solidFill>
              <a:latin typeface="Calibri"/>
              <a:ea typeface="Calibri"/>
              <a:cs typeface="Calibri"/>
              <a:sym typeface="Calibri"/>
            </a:endParaRPr>
          </a:p>
        </p:txBody>
      </p:sp>
      <p:sp>
        <p:nvSpPr>
          <p:cNvPr id="16" name="Google Shape;16;p1"/>
          <p:cNvSpPr/>
          <p:nvPr/>
        </p:nvSpPr>
        <p:spPr>
          <a:xfrm>
            <a:off x="640080" y="1737360"/>
            <a:ext cx="91440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300"/>
              <a:buFont typeface="Calibri"/>
              <a:buNone/>
            </a:pPr>
            <a:r>
              <a:rPr lang="en-US" sz="1300" b="1">
                <a:solidFill>
                  <a:srgbClr val="E8963C"/>
                </a:solidFill>
                <a:latin typeface="Calibri"/>
                <a:ea typeface="Calibri"/>
                <a:cs typeface="Calibri"/>
                <a:sym typeface="Calibri"/>
              </a:rPr>
              <a:t>DOCUMENTO 0</a:t>
            </a:r>
            <a:r>
              <a:rPr lang="en-US" sz="1300">
                <a:solidFill>
                  <a:srgbClr val="E8963C"/>
                </a:solidFill>
                <a:latin typeface="Calibri"/>
                <a:ea typeface="Calibri"/>
                <a:cs typeface="Calibri"/>
                <a:sym typeface="Calibri"/>
              </a:rPr>
              <a:t>   •   </a:t>
            </a:r>
            <a:r>
              <a:rPr lang="en-US" sz="1300" b="1">
                <a:solidFill>
                  <a:srgbClr val="E8963C"/>
                </a:solidFill>
                <a:latin typeface="Calibri"/>
                <a:ea typeface="Calibri"/>
                <a:cs typeface="Calibri"/>
                <a:sym typeface="Calibri"/>
              </a:rPr>
              <a:t>CONTEXTO DE LA ORGANIZACIÓN</a:t>
            </a:r>
            <a:endParaRPr sz="1300">
              <a:solidFill>
                <a:schemeClr val="dk1"/>
              </a:solidFill>
              <a:latin typeface="Calibri"/>
              <a:ea typeface="Calibri"/>
              <a:cs typeface="Calibri"/>
              <a:sym typeface="Calibri"/>
            </a:endParaRPr>
          </a:p>
        </p:txBody>
      </p:sp>
      <p:sp>
        <p:nvSpPr>
          <p:cNvPr id="17" name="Google Shape;17;p1"/>
          <p:cNvSpPr/>
          <p:nvPr/>
        </p:nvSpPr>
        <p:spPr>
          <a:xfrm>
            <a:off x="640080" y="2148840"/>
            <a:ext cx="8686800" cy="1737360"/>
          </a:xfrm>
          <a:prstGeom prst="rect">
            <a:avLst/>
          </a:prstGeom>
          <a:noFill/>
          <a:ln>
            <a:noFill/>
          </a:ln>
        </p:spPr>
        <p:txBody>
          <a:bodyPr spcFirstLastPara="1" wrap="square" lIns="91425" tIns="45700" rIns="91425" bIns="45700" anchor="ctr" anchorCtr="0">
            <a:noAutofit/>
          </a:bodyPr>
          <a:lstStyle/>
          <a:p>
            <a:pPr marL="0" marR="0" lvl="0" indent="0" algn="l" rtl="0">
              <a:lnSpc>
                <a:spcPct val="105000"/>
              </a:lnSpc>
              <a:spcBef>
                <a:spcPts val="0"/>
              </a:spcBef>
              <a:spcAft>
                <a:spcPts val="0"/>
              </a:spcAft>
              <a:buClr>
                <a:srgbClr val="FFFFFF"/>
              </a:buClr>
              <a:buSzPts val="4600"/>
              <a:buFont typeface="Georgia"/>
              <a:buNone/>
            </a:pPr>
            <a:r>
              <a:rPr lang="en-US" sz="4600" b="1">
                <a:solidFill>
                  <a:srgbClr val="FFFFFF"/>
                </a:solidFill>
                <a:latin typeface="Georgia"/>
                <a:ea typeface="Georgia"/>
                <a:cs typeface="Georgia"/>
                <a:sym typeface="Georgia"/>
              </a:rPr>
              <a:t>Sistema de Gestión de</a:t>
            </a:r>
            <a:endParaRPr sz="4600">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4600"/>
              <a:buFont typeface="Georgia"/>
              <a:buNone/>
            </a:pPr>
            <a:r>
              <a:rPr lang="en-US" sz="4600" b="1">
                <a:solidFill>
                  <a:srgbClr val="FFFFFF"/>
                </a:solidFill>
                <a:latin typeface="Georgia"/>
                <a:ea typeface="Georgia"/>
                <a:cs typeface="Georgia"/>
                <a:sym typeface="Georgia"/>
              </a:rPr>
              <a:t>Inventario y Facturas</a:t>
            </a:r>
            <a:endParaRPr sz="4600">
              <a:solidFill>
                <a:schemeClr val="dk1"/>
              </a:solidFill>
              <a:latin typeface="Calibri"/>
              <a:ea typeface="Calibri"/>
              <a:cs typeface="Calibri"/>
              <a:sym typeface="Calibri"/>
            </a:endParaRPr>
          </a:p>
        </p:txBody>
      </p:sp>
      <p:sp>
        <p:nvSpPr>
          <p:cNvPr id="18" name="Google Shape;18;p1"/>
          <p:cNvSpPr/>
          <p:nvPr/>
        </p:nvSpPr>
        <p:spPr>
          <a:xfrm>
            <a:off x="640080" y="379476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2800"/>
              <a:buFont typeface="Georgia"/>
              <a:buNone/>
            </a:pPr>
            <a:r>
              <a:rPr lang="en-US" sz="2800" i="1">
                <a:solidFill>
                  <a:srgbClr val="E8963C"/>
                </a:solidFill>
                <a:latin typeface="Georgia"/>
                <a:ea typeface="Georgia"/>
                <a:cs typeface="Georgia"/>
                <a:sym typeface="Georgia"/>
              </a:rPr>
              <a:t>Minimarket Antucayen</a:t>
            </a:r>
            <a:endParaRPr sz="2800">
              <a:solidFill>
                <a:schemeClr val="dk1"/>
              </a:solidFill>
              <a:latin typeface="Calibri"/>
              <a:ea typeface="Calibri"/>
              <a:cs typeface="Calibri"/>
              <a:sym typeface="Calibri"/>
            </a:endParaRPr>
          </a:p>
        </p:txBody>
      </p:sp>
      <p:sp>
        <p:nvSpPr>
          <p:cNvPr id="19" name="Google Shape;19;p1"/>
          <p:cNvSpPr/>
          <p:nvPr/>
        </p:nvSpPr>
        <p:spPr>
          <a:xfrm>
            <a:off x="640080" y="4572000"/>
            <a:ext cx="54864" cy="14173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20;p1"/>
          <p:cNvSpPr/>
          <p:nvPr/>
        </p:nvSpPr>
        <p:spPr>
          <a:xfrm>
            <a:off x="777240" y="4572000"/>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100"/>
              <a:buFont typeface="Calibri"/>
              <a:buNone/>
            </a:pPr>
            <a:r>
              <a:rPr lang="en-US" sz="1100" b="1">
                <a:solidFill>
                  <a:srgbClr val="E8963C"/>
                </a:solidFill>
                <a:latin typeface="Calibri"/>
                <a:ea typeface="Calibri"/>
                <a:cs typeface="Calibri"/>
                <a:sym typeface="Calibri"/>
              </a:rPr>
              <a:t>INTEGRANTES</a:t>
            </a:r>
            <a:endParaRPr sz="1100">
              <a:solidFill>
                <a:schemeClr val="dk1"/>
              </a:solidFill>
              <a:latin typeface="Calibri"/>
              <a:ea typeface="Calibri"/>
              <a:cs typeface="Calibri"/>
              <a:sym typeface="Calibri"/>
            </a:endParaRPr>
          </a:p>
        </p:txBody>
      </p:sp>
      <p:sp>
        <p:nvSpPr>
          <p:cNvPr id="21" name="Google Shape;21;p1"/>
          <p:cNvSpPr/>
          <p:nvPr/>
        </p:nvSpPr>
        <p:spPr>
          <a:xfrm>
            <a:off x="777240" y="4846320"/>
            <a:ext cx="4114800" cy="11887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Matías Ale Guajardo</a:t>
            </a:r>
            <a:endParaRPr sz="1250">
              <a:solidFill>
                <a:schemeClr val="dk1"/>
              </a:solidFill>
              <a:latin typeface="Calibri"/>
              <a:ea typeface="Calibri"/>
              <a:cs typeface="Calibri"/>
              <a:sym typeface="Calibri"/>
            </a:endParaRPr>
          </a:p>
          <a:p>
            <a:pPr marL="0" marR="0" lvl="0" indent="0" algn="l" rtl="0">
              <a:spcBef>
                <a:spcPts val="20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Fabián Gómez Díaz</a:t>
            </a:r>
            <a:endParaRPr sz="1250">
              <a:solidFill>
                <a:schemeClr val="dk1"/>
              </a:solidFill>
              <a:latin typeface="Calibri"/>
              <a:ea typeface="Calibri"/>
              <a:cs typeface="Calibri"/>
              <a:sym typeface="Calibri"/>
            </a:endParaRPr>
          </a:p>
          <a:p>
            <a:pPr marL="0" marR="0" lvl="0" indent="0" algn="l" rtl="0">
              <a:spcBef>
                <a:spcPts val="20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Erick Hernández</a:t>
            </a:r>
            <a:endParaRPr sz="1250">
              <a:solidFill>
                <a:schemeClr val="dk1"/>
              </a:solidFill>
              <a:latin typeface="Calibri"/>
              <a:ea typeface="Calibri"/>
              <a:cs typeface="Calibri"/>
              <a:sym typeface="Calibri"/>
            </a:endParaRPr>
          </a:p>
          <a:p>
            <a:pPr marL="0" marR="0" lvl="0" indent="0" algn="l" rtl="0">
              <a:spcBef>
                <a:spcPts val="20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Nicolás Isaac López Tapia</a:t>
            </a:r>
            <a:endParaRPr sz="1250">
              <a:solidFill>
                <a:schemeClr val="dk1"/>
              </a:solidFill>
              <a:latin typeface="Calibri"/>
              <a:ea typeface="Calibri"/>
              <a:cs typeface="Calibri"/>
              <a:sym typeface="Calibri"/>
            </a:endParaRPr>
          </a:p>
        </p:txBody>
      </p:sp>
      <p:sp>
        <p:nvSpPr>
          <p:cNvPr id="22" name="Google Shape;22;p1"/>
          <p:cNvSpPr/>
          <p:nvPr/>
        </p:nvSpPr>
        <p:spPr>
          <a:xfrm>
            <a:off x="4937760" y="4846320"/>
            <a:ext cx="4114800" cy="1188720"/>
          </a:xfrm>
          <a:prstGeom prst="rect">
            <a:avLst/>
          </a:prstGeom>
          <a:noFill/>
          <a:ln>
            <a:noFill/>
          </a:ln>
        </p:spPr>
        <p:txBody>
          <a:bodyPr spcFirstLastPara="1" wrap="square" lIns="91425" tIns="45700" rIns="91425" bIns="45700" anchor="ctr" anchorCtr="0">
            <a:noAutofit/>
          </a:bodyPr>
          <a:lstStyle/>
          <a:p>
            <a:pPr marL="0" marR="0" lvl="0" indent="0" algn="l" rtl="0">
              <a:spcBef>
                <a:spcPts val="20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Diego Lobos</a:t>
            </a:r>
            <a:endParaRPr lang="en-US" sz="1250">
              <a:solidFill>
                <a:schemeClr val="dk1"/>
              </a:solidFill>
              <a:latin typeface="Calibri"/>
              <a:ea typeface="Calibri"/>
              <a:cs typeface="Calibri"/>
            </a:endParaRPr>
          </a:p>
          <a:p>
            <a:pPr marL="0" marR="0" lvl="0" indent="0" algn="l" rtl="0">
              <a:spcBef>
                <a:spcPts val="20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Cristobal Osorio</a:t>
            </a:r>
            <a:endParaRPr sz="1250">
              <a:solidFill>
                <a:schemeClr val="dk1"/>
              </a:solidFill>
              <a:latin typeface="Calibri"/>
              <a:ea typeface="Calibri"/>
              <a:cs typeface="Calibri"/>
              <a:sym typeface="Calibri"/>
            </a:endParaRPr>
          </a:p>
        </p:txBody>
      </p:sp>
      <p:sp>
        <p:nvSpPr>
          <p:cNvPr id="23" name="Google Shape;23;p1"/>
          <p:cNvSpPr/>
          <p:nvPr/>
        </p:nvSpPr>
        <p:spPr>
          <a:xfrm>
            <a:off x="6858000" y="498348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a:solidFill>
                  <a:srgbClr val="FFFFFF"/>
                </a:solidFill>
                <a:latin typeface="Calibri"/>
                <a:ea typeface="Calibri"/>
                <a:cs typeface="Calibri"/>
                <a:sym typeface="Calibri"/>
              </a:rPr>
              <a:t>Profesor:  Paulo Quinsacara Jofré</a:t>
            </a:r>
            <a:endParaRPr sz="1150">
              <a:solidFill>
                <a:schemeClr val="dk1"/>
              </a:solidFill>
              <a:latin typeface="Calibri"/>
              <a:ea typeface="Calibri"/>
              <a:cs typeface="Calibri"/>
              <a:sym typeface="Calibri"/>
            </a:endParaRPr>
          </a:p>
        </p:txBody>
      </p:sp>
      <p:sp>
        <p:nvSpPr>
          <p:cNvPr id="24" name="Google Shape;24;p1"/>
          <p:cNvSpPr/>
          <p:nvPr/>
        </p:nvSpPr>
        <p:spPr>
          <a:xfrm>
            <a:off x="6858000" y="525780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a:solidFill>
                  <a:srgbClr val="FFFFFF"/>
                </a:solidFill>
                <a:latin typeface="Calibri"/>
                <a:ea typeface="Calibri"/>
                <a:cs typeface="Calibri"/>
                <a:sym typeface="Calibri"/>
              </a:rPr>
              <a:t>Asignatura:  Ingeniería de Software I</a:t>
            </a:r>
            <a:endParaRPr sz="1150">
              <a:solidFill>
                <a:schemeClr val="dk1"/>
              </a:solidFill>
              <a:latin typeface="Calibri"/>
              <a:ea typeface="Calibri"/>
              <a:cs typeface="Calibri"/>
              <a:sym typeface="Calibri"/>
            </a:endParaRPr>
          </a:p>
        </p:txBody>
      </p:sp>
      <p:sp>
        <p:nvSpPr>
          <p:cNvPr id="25" name="Google Shape;25;p1"/>
          <p:cNvSpPr/>
          <p:nvPr/>
        </p:nvSpPr>
        <p:spPr>
          <a:xfrm>
            <a:off x="6858000" y="553212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a:solidFill>
                  <a:srgbClr val="FFFFFF"/>
                </a:solidFill>
                <a:latin typeface="Calibri"/>
                <a:ea typeface="Calibri"/>
                <a:cs typeface="Calibri"/>
                <a:sym typeface="Calibri"/>
              </a:rPr>
              <a:t>Fecha de entrega:  19 de abril de 2026</a:t>
            </a:r>
            <a:endParaRPr sz="1150">
              <a:solidFill>
                <a:schemeClr val="dk1"/>
              </a:solidFill>
              <a:latin typeface="Calibri"/>
              <a:ea typeface="Calibri"/>
              <a:cs typeface="Calibri"/>
              <a:sym typeface="Calibri"/>
            </a:endParaRPr>
          </a:p>
        </p:txBody>
      </p:sp>
      <p:sp>
        <p:nvSpPr>
          <p:cNvPr id="26" name="Google Shape;26;p1"/>
          <p:cNvSpPr/>
          <p:nvPr/>
        </p:nvSpPr>
        <p:spPr>
          <a:xfrm>
            <a:off x="6858000" y="585216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9D6D0"/>
              </a:buClr>
              <a:buSzPts val="1100"/>
              <a:buFont typeface="Calibri"/>
              <a:buNone/>
            </a:pPr>
            <a:r>
              <a:rPr lang="en-US" sz="1100" i="1">
                <a:solidFill>
                  <a:srgbClr val="C9D6D0"/>
                </a:solidFill>
                <a:latin typeface="Calibri"/>
                <a:ea typeface="Calibri"/>
                <a:cs typeface="Calibri"/>
                <a:sym typeface="Calibri"/>
              </a:rPr>
              <a:t>Santiago, Chile   •   2026</a:t>
            </a:r>
            <a:endParaRPr sz="1100">
              <a:solidFill>
                <a:schemeClr val="dk1"/>
              </a:solidFill>
              <a:latin typeface="Calibri"/>
              <a:ea typeface="Calibri"/>
              <a:cs typeface="Calibri"/>
              <a:sym typeface="Calibri"/>
            </a:endParaRPr>
          </a:p>
        </p:txBody>
      </p:sp>
      <p:pic>
        <p:nvPicPr>
          <p:cNvPr id="27" name="Google Shape;27;p1" descr="Universidad Andrés Bello – SABA"/>
          <p:cNvPicPr preferRelativeResize="0"/>
          <p:nvPr/>
        </p:nvPicPr>
        <p:blipFill rotWithShape="1">
          <a:blip r:embed="rId3">
            <a:alphaModFix/>
          </a:blip>
          <a:srcRect/>
          <a:stretch/>
        </p:blipFill>
        <p:spPr>
          <a:xfrm>
            <a:off x="375338" y="182417"/>
            <a:ext cx="1509224" cy="1509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
        <p:cNvGrpSpPr/>
        <p:nvPr/>
      </p:nvGrpSpPr>
      <p:grpSpPr>
        <a:xfrm>
          <a:off x="0" y="0"/>
          <a:ext cx="0" cy="0"/>
          <a:chOff x="0" y="0"/>
          <a:chExt cx="0" cy="0"/>
        </a:xfrm>
      </p:grpSpPr>
      <p:sp>
        <p:nvSpPr>
          <p:cNvPr id="33" name="Google Shape;33;p2"/>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Contenidos</a:t>
            </a:r>
            <a:endParaRPr sz="3400">
              <a:solidFill>
                <a:schemeClr val="dk1"/>
              </a:solidFill>
              <a:latin typeface="Calibri"/>
              <a:ea typeface="Calibri"/>
              <a:cs typeface="Calibri"/>
              <a:sym typeface="Calibri"/>
            </a:endParaRPr>
          </a:p>
        </p:txBody>
      </p:sp>
      <p:sp>
        <p:nvSpPr>
          <p:cNvPr id="34" name="Google Shape;34;p2"/>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Recorrido completo de la presentación</a:t>
            </a:r>
            <a:endParaRPr sz="1300">
              <a:solidFill>
                <a:schemeClr val="dk1"/>
              </a:solidFill>
              <a:latin typeface="Calibri"/>
              <a:ea typeface="Calibri"/>
              <a:cs typeface="Calibri"/>
              <a:sym typeface="Calibri"/>
            </a:endParaRPr>
          </a:p>
        </p:txBody>
      </p:sp>
      <p:sp>
        <p:nvSpPr>
          <p:cNvPr id="35" name="Google Shape;35;p2"/>
          <p:cNvSpPr/>
          <p:nvPr/>
        </p:nvSpPr>
        <p:spPr>
          <a:xfrm>
            <a:off x="457200" y="1691640"/>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 name="Google Shape;36;p2"/>
          <p:cNvSpPr/>
          <p:nvPr/>
        </p:nvSpPr>
        <p:spPr>
          <a:xfrm>
            <a:off x="457200" y="1691640"/>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 name="Google Shape;37;p2"/>
          <p:cNvSpPr/>
          <p:nvPr/>
        </p:nvSpPr>
        <p:spPr>
          <a:xfrm>
            <a:off x="640080" y="1783080"/>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01</a:t>
            </a:r>
            <a:endParaRPr sz="1150">
              <a:solidFill>
                <a:schemeClr val="dk1"/>
              </a:solidFill>
              <a:latin typeface="Calibri"/>
              <a:ea typeface="Calibri"/>
              <a:cs typeface="Calibri"/>
              <a:sym typeface="Calibri"/>
            </a:endParaRPr>
          </a:p>
        </p:txBody>
      </p:sp>
      <p:sp>
        <p:nvSpPr>
          <p:cNvPr id="38" name="Google Shape;38;p2"/>
          <p:cNvSpPr/>
          <p:nvPr/>
        </p:nvSpPr>
        <p:spPr>
          <a:xfrm>
            <a:off x="2606040" y="1801368"/>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9" name="Google Shape;39;p2" descr="preencoded.png"/>
          <p:cNvPicPr preferRelativeResize="0"/>
          <p:nvPr/>
        </p:nvPicPr>
        <p:blipFill rotWithShape="1">
          <a:blip r:embed="rId3">
            <a:alphaModFix/>
          </a:blip>
          <a:srcRect/>
          <a:stretch/>
        </p:blipFill>
        <p:spPr>
          <a:xfrm>
            <a:off x="2706624" y="1901952"/>
            <a:ext cx="182880" cy="182880"/>
          </a:xfrm>
          <a:prstGeom prst="rect">
            <a:avLst/>
          </a:prstGeom>
          <a:noFill/>
          <a:ln>
            <a:noFill/>
          </a:ln>
        </p:spPr>
      </p:pic>
      <p:sp>
        <p:nvSpPr>
          <p:cNvPr id="40" name="Google Shape;40;p2"/>
          <p:cNvSpPr/>
          <p:nvPr/>
        </p:nvSpPr>
        <p:spPr>
          <a:xfrm>
            <a:off x="640080" y="2148840"/>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Introducción</a:t>
            </a:r>
            <a:endParaRPr sz="1300">
              <a:solidFill>
                <a:schemeClr val="dk1"/>
              </a:solidFill>
              <a:latin typeface="Calibri"/>
              <a:ea typeface="Calibri"/>
              <a:cs typeface="Calibri"/>
              <a:sym typeface="Calibri"/>
            </a:endParaRPr>
          </a:p>
        </p:txBody>
      </p:sp>
      <p:sp>
        <p:nvSpPr>
          <p:cNvPr id="41" name="Google Shape;41;p2"/>
          <p:cNvSpPr/>
          <p:nvPr/>
        </p:nvSpPr>
        <p:spPr>
          <a:xfrm>
            <a:off x="640080" y="2651760"/>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Contexto del proyecto</a:t>
            </a:r>
            <a:endParaRPr sz="950">
              <a:solidFill>
                <a:schemeClr val="dk1"/>
              </a:solidFill>
              <a:latin typeface="Calibri"/>
              <a:ea typeface="Calibri"/>
              <a:cs typeface="Calibri"/>
              <a:sym typeface="Calibri"/>
            </a:endParaRPr>
          </a:p>
        </p:txBody>
      </p:sp>
      <p:sp>
        <p:nvSpPr>
          <p:cNvPr id="42" name="Google Shape;42;p2"/>
          <p:cNvSpPr/>
          <p:nvPr/>
        </p:nvSpPr>
        <p:spPr>
          <a:xfrm>
            <a:off x="3264408" y="1691640"/>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 name="Google Shape;43;p2"/>
          <p:cNvSpPr/>
          <p:nvPr/>
        </p:nvSpPr>
        <p:spPr>
          <a:xfrm>
            <a:off x="3264408" y="1691640"/>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 name="Google Shape;44;p2"/>
          <p:cNvSpPr/>
          <p:nvPr/>
        </p:nvSpPr>
        <p:spPr>
          <a:xfrm>
            <a:off x="3447288" y="1783080"/>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02</a:t>
            </a:r>
            <a:endParaRPr sz="1150">
              <a:solidFill>
                <a:schemeClr val="dk1"/>
              </a:solidFill>
              <a:latin typeface="Calibri"/>
              <a:ea typeface="Calibri"/>
              <a:cs typeface="Calibri"/>
              <a:sym typeface="Calibri"/>
            </a:endParaRPr>
          </a:p>
        </p:txBody>
      </p:sp>
      <p:sp>
        <p:nvSpPr>
          <p:cNvPr id="45" name="Google Shape;45;p2"/>
          <p:cNvSpPr/>
          <p:nvPr/>
        </p:nvSpPr>
        <p:spPr>
          <a:xfrm>
            <a:off x="5413248" y="1801368"/>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6" name="Google Shape;46;p2" descr="preencoded.png"/>
          <p:cNvPicPr preferRelativeResize="0"/>
          <p:nvPr/>
        </p:nvPicPr>
        <p:blipFill rotWithShape="1">
          <a:blip r:embed="rId4">
            <a:alphaModFix/>
          </a:blip>
          <a:srcRect/>
          <a:stretch/>
        </p:blipFill>
        <p:spPr>
          <a:xfrm>
            <a:off x="5513832" y="1901952"/>
            <a:ext cx="182880" cy="182880"/>
          </a:xfrm>
          <a:prstGeom prst="rect">
            <a:avLst/>
          </a:prstGeom>
          <a:noFill/>
          <a:ln>
            <a:noFill/>
          </a:ln>
        </p:spPr>
      </p:pic>
      <p:sp>
        <p:nvSpPr>
          <p:cNvPr id="47" name="Google Shape;47;p2"/>
          <p:cNvSpPr/>
          <p:nvPr/>
        </p:nvSpPr>
        <p:spPr>
          <a:xfrm>
            <a:off x="3447288" y="2148840"/>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Organización</a:t>
            </a:r>
            <a:endParaRPr sz="1300">
              <a:solidFill>
                <a:schemeClr val="dk1"/>
              </a:solidFill>
              <a:latin typeface="Calibri"/>
              <a:ea typeface="Calibri"/>
              <a:cs typeface="Calibri"/>
              <a:sym typeface="Calibri"/>
            </a:endParaRPr>
          </a:p>
        </p:txBody>
      </p:sp>
      <p:sp>
        <p:nvSpPr>
          <p:cNvPr id="48" name="Google Shape;48;p2"/>
          <p:cNvSpPr/>
          <p:nvPr/>
        </p:nvSpPr>
        <p:spPr>
          <a:xfrm>
            <a:off x="3447288" y="2651760"/>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Misión, visión, organigrama</a:t>
            </a:r>
            <a:endParaRPr sz="950">
              <a:solidFill>
                <a:schemeClr val="dk1"/>
              </a:solidFill>
              <a:latin typeface="Calibri"/>
              <a:ea typeface="Calibri"/>
              <a:cs typeface="Calibri"/>
              <a:sym typeface="Calibri"/>
            </a:endParaRPr>
          </a:p>
        </p:txBody>
      </p:sp>
      <p:sp>
        <p:nvSpPr>
          <p:cNvPr id="49" name="Google Shape;49;p2"/>
          <p:cNvSpPr/>
          <p:nvPr/>
        </p:nvSpPr>
        <p:spPr>
          <a:xfrm>
            <a:off x="6071616" y="1691640"/>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2"/>
          <p:cNvSpPr/>
          <p:nvPr/>
        </p:nvSpPr>
        <p:spPr>
          <a:xfrm>
            <a:off x="6071616" y="1691640"/>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 name="Google Shape;51;p2"/>
          <p:cNvSpPr/>
          <p:nvPr/>
        </p:nvSpPr>
        <p:spPr>
          <a:xfrm>
            <a:off x="6254496" y="1783080"/>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03</a:t>
            </a:r>
            <a:endParaRPr sz="1150">
              <a:solidFill>
                <a:schemeClr val="dk1"/>
              </a:solidFill>
              <a:latin typeface="Calibri"/>
              <a:ea typeface="Calibri"/>
              <a:cs typeface="Calibri"/>
              <a:sym typeface="Calibri"/>
            </a:endParaRPr>
          </a:p>
        </p:txBody>
      </p:sp>
      <p:sp>
        <p:nvSpPr>
          <p:cNvPr id="52" name="Google Shape;52;p2"/>
          <p:cNvSpPr/>
          <p:nvPr/>
        </p:nvSpPr>
        <p:spPr>
          <a:xfrm>
            <a:off x="8220456" y="1801368"/>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3" name="Google Shape;53;p2" descr="preencoded.png"/>
          <p:cNvPicPr preferRelativeResize="0"/>
          <p:nvPr/>
        </p:nvPicPr>
        <p:blipFill rotWithShape="1">
          <a:blip r:embed="rId5">
            <a:alphaModFix/>
          </a:blip>
          <a:srcRect/>
          <a:stretch/>
        </p:blipFill>
        <p:spPr>
          <a:xfrm>
            <a:off x="8321040" y="1901952"/>
            <a:ext cx="182880" cy="182880"/>
          </a:xfrm>
          <a:prstGeom prst="rect">
            <a:avLst/>
          </a:prstGeom>
          <a:noFill/>
          <a:ln>
            <a:noFill/>
          </a:ln>
        </p:spPr>
      </p:pic>
      <p:sp>
        <p:nvSpPr>
          <p:cNvPr id="54" name="Google Shape;54;p2"/>
          <p:cNvSpPr/>
          <p:nvPr/>
        </p:nvSpPr>
        <p:spPr>
          <a:xfrm>
            <a:off x="6254496" y="2148840"/>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Análisis estratégico</a:t>
            </a:r>
            <a:endParaRPr sz="1300">
              <a:solidFill>
                <a:schemeClr val="dk1"/>
              </a:solidFill>
              <a:latin typeface="Calibri"/>
              <a:ea typeface="Calibri"/>
              <a:cs typeface="Calibri"/>
              <a:sym typeface="Calibri"/>
            </a:endParaRPr>
          </a:p>
        </p:txBody>
      </p:sp>
      <p:sp>
        <p:nvSpPr>
          <p:cNvPr id="55" name="Google Shape;55;p2"/>
          <p:cNvSpPr/>
          <p:nvPr/>
        </p:nvSpPr>
        <p:spPr>
          <a:xfrm>
            <a:off x="6254496" y="2651760"/>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PEST · Porter · Cadena de Valor · FODA</a:t>
            </a:r>
            <a:endParaRPr sz="950">
              <a:solidFill>
                <a:schemeClr val="dk1"/>
              </a:solidFill>
              <a:latin typeface="Calibri"/>
              <a:ea typeface="Calibri"/>
              <a:cs typeface="Calibri"/>
              <a:sym typeface="Calibri"/>
            </a:endParaRPr>
          </a:p>
        </p:txBody>
      </p:sp>
      <p:sp>
        <p:nvSpPr>
          <p:cNvPr id="56" name="Google Shape;56;p2"/>
          <p:cNvSpPr/>
          <p:nvPr/>
        </p:nvSpPr>
        <p:spPr>
          <a:xfrm>
            <a:off x="8878824" y="1691640"/>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 name="Google Shape;57;p2"/>
          <p:cNvSpPr/>
          <p:nvPr/>
        </p:nvSpPr>
        <p:spPr>
          <a:xfrm>
            <a:off x="8878824" y="1691640"/>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2"/>
          <p:cNvSpPr/>
          <p:nvPr/>
        </p:nvSpPr>
        <p:spPr>
          <a:xfrm>
            <a:off x="9061704" y="1783080"/>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04</a:t>
            </a:r>
            <a:endParaRPr sz="1150">
              <a:solidFill>
                <a:schemeClr val="dk1"/>
              </a:solidFill>
              <a:latin typeface="Calibri"/>
              <a:ea typeface="Calibri"/>
              <a:cs typeface="Calibri"/>
              <a:sym typeface="Calibri"/>
            </a:endParaRPr>
          </a:p>
        </p:txBody>
      </p:sp>
      <p:sp>
        <p:nvSpPr>
          <p:cNvPr id="59" name="Google Shape;59;p2"/>
          <p:cNvSpPr/>
          <p:nvPr/>
        </p:nvSpPr>
        <p:spPr>
          <a:xfrm>
            <a:off x="11027664" y="1801368"/>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0" name="Google Shape;60;p2" descr="preencoded.png"/>
          <p:cNvPicPr preferRelativeResize="0"/>
          <p:nvPr/>
        </p:nvPicPr>
        <p:blipFill rotWithShape="1">
          <a:blip r:embed="rId6">
            <a:alphaModFix/>
          </a:blip>
          <a:srcRect/>
          <a:stretch/>
        </p:blipFill>
        <p:spPr>
          <a:xfrm>
            <a:off x="11128248" y="1901952"/>
            <a:ext cx="182880" cy="182880"/>
          </a:xfrm>
          <a:prstGeom prst="rect">
            <a:avLst/>
          </a:prstGeom>
          <a:noFill/>
          <a:ln>
            <a:noFill/>
          </a:ln>
        </p:spPr>
      </p:pic>
      <p:sp>
        <p:nvSpPr>
          <p:cNvPr id="61" name="Google Shape;61;p2"/>
          <p:cNvSpPr/>
          <p:nvPr/>
        </p:nvSpPr>
        <p:spPr>
          <a:xfrm>
            <a:off x="9061704" y="2148840"/>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Levantamiento BPMN</a:t>
            </a:r>
            <a:endParaRPr sz="1300">
              <a:solidFill>
                <a:schemeClr val="dk1"/>
              </a:solidFill>
              <a:latin typeface="Calibri"/>
              <a:ea typeface="Calibri"/>
              <a:cs typeface="Calibri"/>
              <a:sym typeface="Calibri"/>
            </a:endParaRPr>
          </a:p>
        </p:txBody>
      </p:sp>
      <p:sp>
        <p:nvSpPr>
          <p:cNvPr id="62" name="Google Shape;62;p2"/>
          <p:cNvSpPr/>
          <p:nvPr/>
        </p:nvSpPr>
        <p:spPr>
          <a:xfrm>
            <a:off x="9061704" y="2651760"/>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Proceso de recepción de mercadería</a:t>
            </a:r>
            <a:endParaRPr sz="950">
              <a:solidFill>
                <a:schemeClr val="dk1"/>
              </a:solidFill>
              <a:latin typeface="Calibri"/>
              <a:ea typeface="Calibri"/>
              <a:cs typeface="Calibri"/>
              <a:sym typeface="Calibri"/>
            </a:endParaRPr>
          </a:p>
        </p:txBody>
      </p:sp>
      <p:sp>
        <p:nvSpPr>
          <p:cNvPr id="63" name="Google Shape;63;p2"/>
          <p:cNvSpPr/>
          <p:nvPr/>
        </p:nvSpPr>
        <p:spPr>
          <a:xfrm>
            <a:off x="457200" y="3264408"/>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64;p2"/>
          <p:cNvSpPr/>
          <p:nvPr/>
        </p:nvSpPr>
        <p:spPr>
          <a:xfrm>
            <a:off x="457200" y="3264408"/>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65;p2"/>
          <p:cNvSpPr/>
          <p:nvPr/>
        </p:nvSpPr>
        <p:spPr>
          <a:xfrm>
            <a:off x="640080" y="3355848"/>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05</a:t>
            </a:r>
            <a:endParaRPr sz="1150">
              <a:solidFill>
                <a:schemeClr val="dk1"/>
              </a:solidFill>
              <a:latin typeface="Calibri"/>
              <a:ea typeface="Calibri"/>
              <a:cs typeface="Calibri"/>
              <a:sym typeface="Calibri"/>
            </a:endParaRPr>
          </a:p>
        </p:txBody>
      </p:sp>
      <p:sp>
        <p:nvSpPr>
          <p:cNvPr id="66" name="Google Shape;66;p2"/>
          <p:cNvSpPr/>
          <p:nvPr/>
        </p:nvSpPr>
        <p:spPr>
          <a:xfrm>
            <a:off x="2606040" y="3374136"/>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7" name="Google Shape;67;p2" descr="preencoded.png"/>
          <p:cNvPicPr preferRelativeResize="0"/>
          <p:nvPr/>
        </p:nvPicPr>
        <p:blipFill rotWithShape="1">
          <a:blip r:embed="rId7">
            <a:alphaModFix/>
          </a:blip>
          <a:srcRect/>
          <a:stretch/>
        </p:blipFill>
        <p:spPr>
          <a:xfrm>
            <a:off x="2706624" y="3474720"/>
            <a:ext cx="182880" cy="182880"/>
          </a:xfrm>
          <a:prstGeom prst="rect">
            <a:avLst/>
          </a:prstGeom>
          <a:noFill/>
          <a:ln>
            <a:noFill/>
          </a:ln>
        </p:spPr>
      </p:pic>
      <p:sp>
        <p:nvSpPr>
          <p:cNvPr id="68" name="Google Shape;68;p2"/>
          <p:cNvSpPr/>
          <p:nvPr/>
        </p:nvSpPr>
        <p:spPr>
          <a:xfrm>
            <a:off x="640080" y="3721608"/>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Análisis técnico BPMN</a:t>
            </a:r>
            <a:endParaRPr sz="1300">
              <a:solidFill>
                <a:schemeClr val="dk1"/>
              </a:solidFill>
              <a:latin typeface="Calibri"/>
              <a:ea typeface="Calibri"/>
              <a:cs typeface="Calibri"/>
              <a:sym typeface="Calibri"/>
            </a:endParaRPr>
          </a:p>
        </p:txBody>
      </p:sp>
      <p:sp>
        <p:nvSpPr>
          <p:cNvPr id="69" name="Google Shape;69;p2"/>
          <p:cNvSpPr/>
          <p:nvPr/>
        </p:nvSpPr>
        <p:spPr>
          <a:xfrm>
            <a:off x="640080" y="4224528"/>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Gateways, cuellos de botella, automatización</a:t>
            </a:r>
            <a:endParaRPr sz="950">
              <a:solidFill>
                <a:schemeClr val="dk1"/>
              </a:solidFill>
              <a:latin typeface="Calibri"/>
              <a:ea typeface="Calibri"/>
              <a:cs typeface="Calibri"/>
              <a:sym typeface="Calibri"/>
            </a:endParaRPr>
          </a:p>
        </p:txBody>
      </p:sp>
      <p:sp>
        <p:nvSpPr>
          <p:cNvPr id="70" name="Google Shape;70;p2"/>
          <p:cNvSpPr/>
          <p:nvPr/>
        </p:nvSpPr>
        <p:spPr>
          <a:xfrm>
            <a:off x="3264408" y="3264408"/>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2"/>
          <p:cNvSpPr/>
          <p:nvPr/>
        </p:nvSpPr>
        <p:spPr>
          <a:xfrm>
            <a:off x="3264408" y="3264408"/>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72;p2"/>
          <p:cNvSpPr/>
          <p:nvPr/>
        </p:nvSpPr>
        <p:spPr>
          <a:xfrm>
            <a:off x="3447288" y="3355848"/>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06</a:t>
            </a:r>
            <a:endParaRPr sz="1150">
              <a:solidFill>
                <a:schemeClr val="dk1"/>
              </a:solidFill>
              <a:latin typeface="Calibri"/>
              <a:ea typeface="Calibri"/>
              <a:cs typeface="Calibri"/>
              <a:sym typeface="Calibri"/>
            </a:endParaRPr>
          </a:p>
        </p:txBody>
      </p:sp>
      <p:sp>
        <p:nvSpPr>
          <p:cNvPr id="73" name="Google Shape;73;p2"/>
          <p:cNvSpPr/>
          <p:nvPr/>
        </p:nvSpPr>
        <p:spPr>
          <a:xfrm>
            <a:off x="5413248" y="3374136"/>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4" name="Google Shape;74;p2" descr="preencoded.png"/>
          <p:cNvPicPr preferRelativeResize="0"/>
          <p:nvPr/>
        </p:nvPicPr>
        <p:blipFill rotWithShape="1">
          <a:blip r:embed="rId6">
            <a:alphaModFix/>
          </a:blip>
          <a:srcRect/>
          <a:stretch/>
        </p:blipFill>
        <p:spPr>
          <a:xfrm>
            <a:off x="5513832" y="3474720"/>
            <a:ext cx="182880" cy="182880"/>
          </a:xfrm>
          <a:prstGeom prst="rect">
            <a:avLst/>
          </a:prstGeom>
          <a:noFill/>
          <a:ln>
            <a:noFill/>
          </a:ln>
        </p:spPr>
      </p:pic>
      <p:sp>
        <p:nvSpPr>
          <p:cNvPr id="75" name="Google Shape;75;p2"/>
          <p:cNvSpPr/>
          <p:nvPr/>
        </p:nvSpPr>
        <p:spPr>
          <a:xfrm>
            <a:off x="3447288" y="3721608"/>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Herramienta cuantitativa</a:t>
            </a:r>
            <a:endParaRPr sz="1300">
              <a:solidFill>
                <a:schemeClr val="dk1"/>
              </a:solidFill>
              <a:latin typeface="Calibri"/>
              <a:ea typeface="Calibri"/>
              <a:cs typeface="Calibri"/>
              <a:sym typeface="Calibri"/>
            </a:endParaRPr>
          </a:p>
        </p:txBody>
      </p:sp>
      <p:sp>
        <p:nvSpPr>
          <p:cNvPr id="76" name="Google Shape;76;p2"/>
          <p:cNvSpPr/>
          <p:nvPr/>
        </p:nvSpPr>
        <p:spPr>
          <a:xfrm>
            <a:off x="3447288" y="4224528"/>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Histograma de inventario</a:t>
            </a:r>
            <a:endParaRPr sz="950">
              <a:solidFill>
                <a:schemeClr val="dk1"/>
              </a:solidFill>
              <a:latin typeface="Calibri"/>
              <a:ea typeface="Calibri"/>
              <a:cs typeface="Calibri"/>
              <a:sym typeface="Calibri"/>
            </a:endParaRPr>
          </a:p>
        </p:txBody>
      </p:sp>
      <p:sp>
        <p:nvSpPr>
          <p:cNvPr id="77" name="Google Shape;77;p2"/>
          <p:cNvSpPr/>
          <p:nvPr/>
        </p:nvSpPr>
        <p:spPr>
          <a:xfrm>
            <a:off x="6071616" y="3264408"/>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 name="Google Shape;78;p2"/>
          <p:cNvSpPr/>
          <p:nvPr/>
        </p:nvSpPr>
        <p:spPr>
          <a:xfrm>
            <a:off x="6071616" y="3264408"/>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79;p2"/>
          <p:cNvSpPr/>
          <p:nvPr/>
        </p:nvSpPr>
        <p:spPr>
          <a:xfrm>
            <a:off x="6254496" y="3355848"/>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07</a:t>
            </a:r>
            <a:endParaRPr sz="1150">
              <a:solidFill>
                <a:schemeClr val="dk1"/>
              </a:solidFill>
              <a:latin typeface="Calibri"/>
              <a:ea typeface="Calibri"/>
              <a:cs typeface="Calibri"/>
              <a:sym typeface="Calibri"/>
            </a:endParaRPr>
          </a:p>
        </p:txBody>
      </p:sp>
      <p:sp>
        <p:nvSpPr>
          <p:cNvPr id="80" name="Google Shape;80;p2"/>
          <p:cNvSpPr/>
          <p:nvPr/>
        </p:nvSpPr>
        <p:spPr>
          <a:xfrm>
            <a:off x="8220456" y="3374136"/>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1" name="Google Shape;81;p2" descr="preencoded.png"/>
          <p:cNvPicPr preferRelativeResize="0"/>
          <p:nvPr/>
        </p:nvPicPr>
        <p:blipFill rotWithShape="1">
          <a:blip r:embed="rId8">
            <a:alphaModFix/>
          </a:blip>
          <a:srcRect/>
          <a:stretch/>
        </p:blipFill>
        <p:spPr>
          <a:xfrm>
            <a:off x="8321040" y="3474720"/>
            <a:ext cx="182880" cy="182880"/>
          </a:xfrm>
          <a:prstGeom prst="rect">
            <a:avLst/>
          </a:prstGeom>
          <a:noFill/>
          <a:ln>
            <a:noFill/>
          </a:ln>
        </p:spPr>
      </p:pic>
      <p:sp>
        <p:nvSpPr>
          <p:cNvPr id="82" name="Google Shape;82;p2"/>
          <p:cNvSpPr/>
          <p:nvPr/>
        </p:nvSpPr>
        <p:spPr>
          <a:xfrm>
            <a:off x="6254496" y="3721608"/>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Herramienta cualitativa</a:t>
            </a:r>
            <a:endParaRPr sz="1300">
              <a:solidFill>
                <a:schemeClr val="dk1"/>
              </a:solidFill>
              <a:latin typeface="Calibri"/>
              <a:ea typeface="Calibri"/>
              <a:cs typeface="Calibri"/>
              <a:sym typeface="Calibri"/>
            </a:endParaRPr>
          </a:p>
        </p:txBody>
      </p:sp>
      <p:sp>
        <p:nvSpPr>
          <p:cNvPr id="83" name="Google Shape;83;p2"/>
          <p:cNvSpPr/>
          <p:nvPr/>
        </p:nvSpPr>
        <p:spPr>
          <a:xfrm>
            <a:off x="6254496" y="4224528"/>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Ishikawa y causas raíz</a:t>
            </a:r>
            <a:endParaRPr sz="950">
              <a:solidFill>
                <a:schemeClr val="dk1"/>
              </a:solidFill>
              <a:latin typeface="Calibri"/>
              <a:ea typeface="Calibri"/>
              <a:cs typeface="Calibri"/>
              <a:sym typeface="Calibri"/>
            </a:endParaRPr>
          </a:p>
        </p:txBody>
      </p:sp>
      <p:sp>
        <p:nvSpPr>
          <p:cNvPr id="84" name="Google Shape;84;p2"/>
          <p:cNvSpPr/>
          <p:nvPr/>
        </p:nvSpPr>
        <p:spPr>
          <a:xfrm>
            <a:off x="8878824" y="3264408"/>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85;p2"/>
          <p:cNvSpPr/>
          <p:nvPr/>
        </p:nvSpPr>
        <p:spPr>
          <a:xfrm>
            <a:off x="8878824" y="3264408"/>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2"/>
          <p:cNvSpPr/>
          <p:nvPr/>
        </p:nvSpPr>
        <p:spPr>
          <a:xfrm>
            <a:off x="9061704" y="3355848"/>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08</a:t>
            </a:r>
            <a:endParaRPr sz="1150">
              <a:solidFill>
                <a:schemeClr val="dk1"/>
              </a:solidFill>
              <a:latin typeface="Calibri"/>
              <a:ea typeface="Calibri"/>
              <a:cs typeface="Calibri"/>
              <a:sym typeface="Calibri"/>
            </a:endParaRPr>
          </a:p>
        </p:txBody>
      </p:sp>
      <p:sp>
        <p:nvSpPr>
          <p:cNvPr id="87" name="Google Shape;87;p2"/>
          <p:cNvSpPr/>
          <p:nvPr/>
        </p:nvSpPr>
        <p:spPr>
          <a:xfrm>
            <a:off x="11027664" y="3374136"/>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8" name="Google Shape;88;p2" descr="preencoded.png"/>
          <p:cNvPicPr preferRelativeResize="0"/>
          <p:nvPr/>
        </p:nvPicPr>
        <p:blipFill rotWithShape="1">
          <a:blip r:embed="rId8">
            <a:alphaModFix/>
          </a:blip>
          <a:srcRect/>
          <a:stretch/>
        </p:blipFill>
        <p:spPr>
          <a:xfrm>
            <a:off x="11128248" y="3474720"/>
            <a:ext cx="182880" cy="182880"/>
          </a:xfrm>
          <a:prstGeom prst="rect">
            <a:avLst/>
          </a:prstGeom>
          <a:noFill/>
          <a:ln>
            <a:noFill/>
          </a:ln>
        </p:spPr>
      </p:pic>
      <p:sp>
        <p:nvSpPr>
          <p:cNvPr id="89" name="Google Shape;89;p2"/>
          <p:cNvSpPr/>
          <p:nvPr/>
        </p:nvSpPr>
        <p:spPr>
          <a:xfrm>
            <a:off x="9061704" y="3721608"/>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Problemática central</a:t>
            </a:r>
            <a:endParaRPr sz="1300">
              <a:solidFill>
                <a:schemeClr val="dk1"/>
              </a:solidFill>
              <a:latin typeface="Calibri"/>
              <a:ea typeface="Calibri"/>
              <a:cs typeface="Calibri"/>
              <a:sym typeface="Calibri"/>
            </a:endParaRPr>
          </a:p>
        </p:txBody>
      </p:sp>
      <p:sp>
        <p:nvSpPr>
          <p:cNvPr id="90" name="Google Shape;90;p2"/>
          <p:cNvSpPr/>
          <p:nvPr/>
        </p:nvSpPr>
        <p:spPr>
          <a:xfrm>
            <a:off x="9061704" y="4224528"/>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Diagnóstico y dolores detectados</a:t>
            </a:r>
            <a:endParaRPr sz="950">
              <a:solidFill>
                <a:schemeClr val="dk1"/>
              </a:solidFill>
              <a:latin typeface="Calibri"/>
              <a:ea typeface="Calibri"/>
              <a:cs typeface="Calibri"/>
              <a:sym typeface="Calibri"/>
            </a:endParaRPr>
          </a:p>
        </p:txBody>
      </p:sp>
      <p:sp>
        <p:nvSpPr>
          <p:cNvPr id="91" name="Google Shape;91;p2"/>
          <p:cNvSpPr/>
          <p:nvPr/>
        </p:nvSpPr>
        <p:spPr>
          <a:xfrm>
            <a:off x="457200" y="4837176"/>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2"/>
          <p:cNvSpPr/>
          <p:nvPr/>
        </p:nvSpPr>
        <p:spPr>
          <a:xfrm>
            <a:off x="457200" y="4837176"/>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2"/>
          <p:cNvSpPr/>
          <p:nvPr/>
        </p:nvSpPr>
        <p:spPr>
          <a:xfrm>
            <a:off x="640080" y="4928616"/>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09</a:t>
            </a:r>
            <a:endParaRPr sz="1150">
              <a:solidFill>
                <a:schemeClr val="dk1"/>
              </a:solidFill>
              <a:latin typeface="Calibri"/>
              <a:ea typeface="Calibri"/>
              <a:cs typeface="Calibri"/>
              <a:sym typeface="Calibri"/>
            </a:endParaRPr>
          </a:p>
        </p:txBody>
      </p:sp>
      <p:sp>
        <p:nvSpPr>
          <p:cNvPr id="94" name="Google Shape;94;p2"/>
          <p:cNvSpPr/>
          <p:nvPr/>
        </p:nvSpPr>
        <p:spPr>
          <a:xfrm>
            <a:off x="2606040" y="4946904"/>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5" name="Google Shape;95;p2" descr="preencoded.png"/>
          <p:cNvPicPr preferRelativeResize="0"/>
          <p:nvPr/>
        </p:nvPicPr>
        <p:blipFill rotWithShape="1">
          <a:blip r:embed="rId9">
            <a:alphaModFix/>
          </a:blip>
          <a:srcRect/>
          <a:stretch/>
        </p:blipFill>
        <p:spPr>
          <a:xfrm>
            <a:off x="2706624" y="5047488"/>
            <a:ext cx="182880" cy="182880"/>
          </a:xfrm>
          <a:prstGeom prst="rect">
            <a:avLst/>
          </a:prstGeom>
          <a:noFill/>
          <a:ln>
            <a:noFill/>
          </a:ln>
        </p:spPr>
      </p:pic>
      <p:sp>
        <p:nvSpPr>
          <p:cNvPr id="96" name="Google Shape;96;p2"/>
          <p:cNvSpPr/>
          <p:nvPr/>
        </p:nvSpPr>
        <p:spPr>
          <a:xfrm>
            <a:off x="640080" y="5294376"/>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Requerimientos y ESA</a:t>
            </a:r>
            <a:endParaRPr sz="1300">
              <a:solidFill>
                <a:schemeClr val="dk1"/>
              </a:solidFill>
              <a:latin typeface="Calibri"/>
              <a:ea typeface="Calibri"/>
              <a:cs typeface="Calibri"/>
              <a:sym typeface="Calibri"/>
            </a:endParaRPr>
          </a:p>
        </p:txBody>
      </p:sp>
      <p:sp>
        <p:nvSpPr>
          <p:cNvPr id="97" name="Google Shape;97;p2"/>
          <p:cNvSpPr/>
          <p:nvPr/>
        </p:nvSpPr>
        <p:spPr>
          <a:xfrm>
            <a:off x="640080" y="5797296"/>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Estándar ESA (UR) · RF · RNF</a:t>
            </a:r>
            <a:endParaRPr sz="950">
              <a:solidFill>
                <a:schemeClr val="dk1"/>
              </a:solidFill>
              <a:latin typeface="Calibri"/>
              <a:ea typeface="Calibri"/>
              <a:cs typeface="Calibri"/>
              <a:sym typeface="Calibri"/>
            </a:endParaRPr>
          </a:p>
        </p:txBody>
      </p:sp>
      <p:sp>
        <p:nvSpPr>
          <p:cNvPr id="98" name="Google Shape;98;p2"/>
          <p:cNvSpPr/>
          <p:nvPr/>
        </p:nvSpPr>
        <p:spPr>
          <a:xfrm>
            <a:off x="3264408" y="4837176"/>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2"/>
          <p:cNvSpPr/>
          <p:nvPr/>
        </p:nvSpPr>
        <p:spPr>
          <a:xfrm>
            <a:off x="3264408" y="4837176"/>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p2"/>
          <p:cNvSpPr/>
          <p:nvPr/>
        </p:nvSpPr>
        <p:spPr>
          <a:xfrm>
            <a:off x="3447288" y="4928616"/>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10</a:t>
            </a:r>
            <a:endParaRPr sz="1150">
              <a:solidFill>
                <a:schemeClr val="dk1"/>
              </a:solidFill>
              <a:latin typeface="Calibri"/>
              <a:ea typeface="Calibri"/>
              <a:cs typeface="Calibri"/>
              <a:sym typeface="Calibri"/>
            </a:endParaRPr>
          </a:p>
        </p:txBody>
      </p:sp>
      <p:sp>
        <p:nvSpPr>
          <p:cNvPr id="101" name="Google Shape;101;p2"/>
          <p:cNvSpPr/>
          <p:nvPr/>
        </p:nvSpPr>
        <p:spPr>
          <a:xfrm>
            <a:off x="5413248" y="4946904"/>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2" name="Google Shape;102;p2" descr="preencoded.png"/>
          <p:cNvPicPr preferRelativeResize="0"/>
          <p:nvPr/>
        </p:nvPicPr>
        <p:blipFill rotWithShape="1">
          <a:blip r:embed="rId10">
            <a:alphaModFix/>
          </a:blip>
          <a:srcRect/>
          <a:stretch/>
        </p:blipFill>
        <p:spPr>
          <a:xfrm>
            <a:off x="5513832" y="5047488"/>
            <a:ext cx="182880" cy="182880"/>
          </a:xfrm>
          <a:prstGeom prst="rect">
            <a:avLst/>
          </a:prstGeom>
          <a:noFill/>
          <a:ln>
            <a:noFill/>
          </a:ln>
        </p:spPr>
      </p:pic>
      <p:sp>
        <p:nvSpPr>
          <p:cNvPr id="103" name="Google Shape;103;p2"/>
          <p:cNvSpPr/>
          <p:nvPr/>
        </p:nvSpPr>
        <p:spPr>
          <a:xfrm>
            <a:off x="3447288" y="5294376"/>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Casos de uso</a:t>
            </a:r>
            <a:endParaRPr sz="1300">
              <a:solidFill>
                <a:schemeClr val="dk1"/>
              </a:solidFill>
              <a:latin typeface="Calibri"/>
              <a:ea typeface="Calibri"/>
              <a:cs typeface="Calibri"/>
              <a:sym typeface="Calibri"/>
            </a:endParaRPr>
          </a:p>
        </p:txBody>
      </p:sp>
      <p:sp>
        <p:nvSpPr>
          <p:cNvPr id="104" name="Google Shape;104;p2"/>
          <p:cNvSpPr/>
          <p:nvPr/>
        </p:nvSpPr>
        <p:spPr>
          <a:xfrm>
            <a:off x="3447288" y="5797296"/>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Gerundio · diagrama · matriz trazabilidad</a:t>
            </a:r>
            <a:endParaRPr sz="950">
              <a:solidFill>
                <a:schemeClr val="dk1"/>
              </a:solidFill>
              <a:latin typeface="Calibri"/>
              <a:ea typeface="Calibri"/>
              <a:cs typeface="Calibri"/>
              <a:sym typeface="Calibri"/>
            </a:endParaRPr>
          </a:p>
        </p:txBody>
      </p:sp>
      <p:sp>
        <p:nvSpPr>
          <p:cNvPr id="105" name="Google Shape;105;p2"/>
          <p:cNvSpPr/>
          <p:nvPr/>
        </p:nvSpPr>
        <p:spPr>
          <a:xfrm>
            <a:off x="6071616" y="4837176"/>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2"/>
          <p:cNvSpPr/>
          <p:nvPr/>
        </p:nvSpPr>
        <p:spPr>
          <a:xfrm>
            <a:off x="6071616" y="4837176"/>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 name="Google Shape;107;p2"/>
          <p:cNvSpPr/>
          <p:nvPr/>
        </p:nvSpPr>
        <p:spPr>
          <a:xfrm>
            <a:off x="6254496" y="4928616"/>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11</a:t>
            </a:r>
            <a:endParaRPr sz="1150">
              <a:solidFill>
                <a:schemeClr val="dk1"/>
              </a:solidFill>
              <a:latin typeface="Calibri"/>
              <a:ea typeface="Calibri"/>
              <a:cs typeface="Calibri"/>
              <a:sym typeface="Calibri"/>
            </a:endParaRPr>
          </a:p>
        </p:txBody>
      </p:sp>
      <p:sp>
        <p:nvSpPr>
          <p:cNvPr id="108" name="Google Shape;108;p2"/>
          <p:cNvSpPr/>
          <p:nvPr/>
        </p:nvSpPr>
        <p:spPr>
          <a:xfrm>
            <a:off x="8220456" y="4946904"/>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9" name="Google Shape;109;p2" descr="preencoded.png"/>
          <p:cNvPicPr preferRelativeResize="0"/>
          <p:nvPr/>
        </p:nvPicPr>
        <p:blipFill rotWithShape="1">
          <a:blip r:embed="rId3">
            <a:alphaModFix/>
          </a:blip>
          <a:srcRect/>
          <a:stretch/>
        </p:blipFill>
        <p:spPr>
          <a:xfrm>
            <a:off x="8321040" y="5047488"/>
            <a:ext cx="182880" cy="182880"/>
          </a:xfrm>
          <a:prstGeom prst="rect">
            <a:avLst/>
          </a:prstGeom>
          <a:noFill/>
          <a:ln>
            <a:noFill/>
          </a:ln>
        </p:spPr>
      </p:pic>
      <p:sp>
        <p:nvSpPr>
          <p:cNvPr id="110" name="Google Shape;110;p2"/>
          <p:cNvSpPr/>
          <p:nvPr/>
        </p:nvSpPr>
        <p:spPr>
          <a:xfrm>
            <a:off x="6254496" y="5294376"/>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Objetivos y dimensión técnica</a:t>
            </a:r>
            <a:endParaRPr sz="1300">
              <a:solidFill>
                <a:schemeClr val="dk1"/>
              </a:solidFill>
              <a:latin typeface="Calibri"/>
              <a:ea typeface="Calibri"/>
              <a:cs typeface="Calibri"/>
              <a:sym typeface="Calibri"/>
            </a:endParaRPr>
          </a:p>
        </p:txBody>
      </p:sp>
      <p:sp>
        <p:nvSpPr>
          <p:cNvPr id="111" name="Google Shape;111;p2"/>
          <p:cNvSpPr/>
          <p:nvPr/>
        </p:nvSpPr>
        <p:spPr>
          <a:xfrm>
            <a:off x="6254496" y="5797296"/>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Objetivo general, específicos, arquitectura</a:t>
            </a:r>
            <a:endParaRPr sz="950">
              <a:solidFill>
                <a:schemeClr val="dk1"/>
              </a:solidFill>
              <a:latin typeface="Calibri"/>
              <a:ea typeface="Calibri"/>
              <a:cs typeface="Calibri"/>
              <a:sym typeface="Calibri"/>
            </a:endParaRPr>
          </a:p>
        </p:txBody>
      </p:sp>
      <p:sp>
        <p:nvSpPr>
          <p:cNvPr id="112" name="Google Shape;112;p2"/>
          <p:cNvSpPr/>
          <p:nvPr/>
        </p:nvSpPr>
        <p:spPr>
          <a:xfrm>
            <a:off x="8878824" y="4837176"/>
            <a:ext cx="2697480" cy="14630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
          <p:cNvSpPr/>
          <p:nvPr/>
        </p:nvSpPr>
        <p:spPr>
          <a:xfrm>
            <a:off x="8878824" y="4837176"/>
            <a:ext cx="73152" cy="14630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 name="Google Shape;114;p2"/>
          <p:cNvSpPr/>
          <p:nvPr/>
        </p:nvSpPr>
        <p:spPr>
          <a:xfrm>
            <a:off x="9061704" y="4928616"/>
            <a:ext cx="6400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12</a:t>
            </a:r>
            <a:endParaRPr sz="1150">
              <a:solidFill>
                <a:schemeClr val="dk1"/>
              </a:solidFill>
              <a:latin typeface="Calibri"/>
              <a:ea typeface="Calibri"/>
              <a:cs typeface="Calibri"/>
              <a:sym typeface="Calibri"/>
            </a:endParaRPr>
          </a:p>
        </p:txBody>
      </p:sp>
      <p:sp>
        <p:nvSpPr>
          <p:cNvPr id="115" name="Google Shape;115;p2"/>
          <p:cNvSpPr/>
          <p:nvPr/>
        </p:nvSpPr>
        <p:spPr>
          <a:xfrm>
            <a:off x="11027664" y="4946904"/>
            <a:ext cx="384048" cy="384048"/>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6" name="Google Shape;116;p2" descr="preencoded.png"/>
          <p:cNvPicPr preferRelativeResize="0"/>
          <p:nvPr/>
        </p:nvPicPr>
        <p:blipFill rotWithShape="1">
          <a:blip r:embed="rId11">
            <a:alphaModFix/>
          </a:blip>
          <a:srcRect/>
          <a:stretch/>
        </p:blipFill>
        <p:spPr>
          <a:xfrm>
            <a:off x="11128248" y="5047488"/>
            <a:ext cx="182880" cy="182880"/>
          </a:xfrm>
          <a:prstGeom prst="rect">
            <a:avLst/>
          </a:prstGeom>
          <a:noFill/>
          <a:ln>
            <a:noFill/>
          </a:ln>
        </p:spPr>
      </p:pic>
      <p:sp>
        <p:nvSpPr>
          <p:cNvPr id="117" name="Google Shape;117;p2"/>
          <p:cNvSpPr/>
          <p:nvPr/>
        </p:nvSpPr>
        <p:spPr>
          <a:xfrm>
            <a:off x="9061704" y="5294376"/>
            <a:ext cx="242316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Costos · Equipo · Cierre</a:t>
            </a:r>
            <a:endParaRPr sz="1300">
              <a:solidFill>
                <a:schemeClr val="dk1"/>
              </a:solidFill>
              <a:latin typeface="Calibri"/>
              <a:ea typeface="Calibri"/>
              <a:cs typeface="Calibri"/>
              <a:sym typeface="Calibri"/>
            </a:endParaRPr>
          </a:p>
        </p:txBody>
      </p:sp>
      <p:sp>
        <p:nvSpPr>
          <p:cNvPr id="118" name="Google Shape;118;p2"/>
          <p:cNvSpPr/>
          <p:nvPr/>
        </p:nvSpPr>
        <p:spPr>
          <a:xfrm>
            <a:off x="9061704" y="5797296"/>
            <a:ext cx="24231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950"/>
              <a:buFont typeface="Calibri"/>
              <a:buNone/>
            </a:pPr>
            <a:r>
              <a:rPr lang="en-US" sz="950">
                <a:solidFill>
                  <a:srgbClr val="6B7785"/>
                </a:solidFill>
                <a:latin typeface="Calibri"/>
                <a:ea typeface="Calibri"/>
                <a:cs typeface="Calibri"/>
                <a:sym typeface="Calibri"/>
              </a:rPr>
              <a:t>VAN/TIR/ROI, equipo, Gantt y cierre</a:t>
            </a:r>
            <a:endParaRPr sz="950">
              <a:solidFill>
                <a:schemeClr val="dk1"/>
              </a:solidFill>
              <a:latin typeface="Calibri"/>
              <a:ea typeface="Calibri"/>
              <a:cs typeface="Calibri"/>
              <a:sym typeface="Calibri"/>
            </a:endParaRPr>
          </a:p>
        </p:txBody>
      </p:sp>
      <p:cxnSp>
        <p:nvCxnSpPr>
          <p:cNvPr id="119" name="Google Shape;119;p2"/>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120" name="Google Shape;120;p2"/>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121" name="Google Shape;121;p2"/>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 / 28</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6"/>
        <p:cNvGrpSpPr/>
        <p:nvPr/>
      </p:nvGrpSpPr>
      <p:grpSpPr>
        <a:xfrm>
          <a:off x="0" y="0"/>
          <a:ext cx="0" cy="0"/>
          <a:chOff x="0" y="0"/>
          <a:chExt cx="0" cy="0"/>
        </a:xfrm>
      </p:grpSpPr>
      <p:sp>
        <p:nvSpPr>
          <p:cNvPr id="127" name="Google Shape;127;p3"/>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1. Introducción</a:t>
            </a:r>
            <a:endParaRPr sz="3400">
              <a:solidFill>
                <a:schemeClr val="dk1"/>
              </a:solidFill>
              <a:latin typeface="Calibri"/>
              <a:ea typeface="Calibri"/>
              <a:cs typeface="Calibri"/>
              <a:sym typeface="Calibri"/>
            </a:endParaRPr>
          </a:p>
        </p:txBody>
      </p:sp>
      <p:sp>
        <p:nvSpPr>
          <p:cNvPr id="128" name="Google Shape;128;p3"/>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Contexto del proyecto Ingeniería de Software I</a:t>
            </a:r>
            <a:endParaRPr sz="1300">
              <a:solidFill>
                <a:schemeClr val="dk1"/>
              </a:solidFill>
              <a:latin typeface="Calibri"/>
              <a:ea typeface="Calibri"/>
              <a:cs typeface="Calibri"/>
              <a:sym typeface="Calibri"/>
            </a:endParaRPr>
          </a:p>
        </p:txBody>
      </p:sp>
      <p:sp>
        <p:nvSpPr>
          <p:cNvPr id="129" name="Google Shape;129;p3"/>
          <p:cNvSpPr/>
          <p:nvPr/>
        </p:nvSpPr>
        <p:spPr>
          <a:xfrm>
            <a:off x="457200" y="1828800"/>
            <a:ext cx="6766560" cy="137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400"/>
              <a:buFont typeface="Calibri"/>
              <a:buNone/>
            </a:pPr>
            <a:r>
              <a:rPr lang="en-US" sz="1400">
                <a:solidFill>
                  <a:srgbClr val="1F2A26"/>
                </a:solidFill>
                <a:latin typeface="Calibri"/>
                <a:ea typeface="Calibri"/>
                <a:cs typeface="Calibri"/>
                <a:sym typeface="Calibri"/>
              </a:rPr>
              <a:t>En un entorno comercial dinámico, la automatización de procesos administrativos y operacionales representa una ventaja competitiva clave para negocios de menor escala.</a:t>
            </a:r>
            <a:endParaRPr sz="1400">
              <a:solidFill>
                <a:schemeClr val="dk1"/>
              </a:solidFill>
              <a:latin typeface="Calibri"/>
              <a:ea typeface="Calibri"/>
              <a:cs typeface="Calibri"/>
              <a:sym typeface="Calibri"/>
            </a:endParaRPr>
          </a:p>
        </p:txBody>
      </p:sp>
      <p:sp>
        <p:nvSpPr>
          <p:cNvPr id="130" name="Google Shape;130;p3"/>
          <p:cNvSpPr/>
          <p:nvPr/>
        </p:nvSpPr>
        <p:spPr>
          <a:xfrm>
            <a:off x="457200" y="3200400"/>
            <a:ext cx="6766560" cy="1828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400"/>
              <a:buFont typeface="Calibri"/>
              <a:buNone/>
            </a:pPr>
            <a:r>
              <a:rPr lang="en-US" sz="1400">
                <a:solidFill>
                  <a:srgbClr val="1F2A26"/>
                </a:solidFill>
                <a:latin typeface="Calibri"/>
                <a:ea typeface="Calibri"/>
                <a:cs typeface="Calibri"/>
                <a:sym typeface="Calibri"/>
              </a:rPr>
              <a:t>Este proyecto aborda el análisis organizacional de </a:t>
            </a:r>
            <a:r>
              <a:rPr lang="en-US" sz="1400" b="1">
                <a:solidFill>
                  <a:srgbClr val="2D6A4F"/>
                </a:solidFill>
                <a:latin typeface="Calibri"/>
                <a:ea typeface="Calibri"/>
                <a:cs typeface="Calibri"/>
                <a:sym typeface="Calibri"/>
              </a:rPr>
              <a:t>Minimarket Antucayen</a:t>
            </a:r>
            <a:r>
              <a:rPr lang="en-US" sz="1400">
                <a:solidFill>
                  <a:srgbClr val="1F2A26"/>
                </a:solidFill>
                <a:latin typeface="Calibri"/>
                <a:ea typeface="Calibri"/>
                <a:cs typeface="Calibri"/>
                <a:sym typeface="Calibri"/>
              </a:rPr>
              <a:t>, empresa seleccionada como cliente para desarrollar una solución tecnológica orientada a mejorar su gestión interna y apoyar su crecimiento.</a:t>
            </a:r>
            <a:endParaRPr sz="1400">
              <a:solidFill>
                <a:schemeClr val="dk1"/>
              </a:solidFill>
              <a:latin typeface="Calibri"/>
              <a:ea typeface="Calibri"/>
              <a:cs typeface="Calibri"/>
              <a:sym typeface="Calibri"/>
            </a:endParaRPr>
          </a:p>
        </p:txBody>
      </p:sp>
      <p:sp>
        <p:nvSpPr>
          <p:cNvPr id="131" name="Google Shape;131;p3"/>
          <p:cNvSpPr/>
          <p:nvPr/>
        </p:nvSpPr>
        <p:spPr>
          <a:xfrm>
            <a:off x="7589520" y="1828800"/>
            <a:ext cx="4114800" cy="12344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3"/>
          <p:cNvSpPr/>
          <p:nvPr/>
        </p:nvSpPr>
        <p:spPr>
          <a:xfrm>
            <a:off x="7589520" y="1828800"/>
            <a:ext cx="73152" cy="12344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3"/>
          <p:cNvSpPr/>
          <p:nvPr/>
        </p:nvSpPr>
        <p:spPr>
          <a:xfrm>
            <a:off x="7772400" y="2103120"/>
            <a:ext cx="685800" cy="68580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4" name="Google Shape;134;p3" descr="preencoded.png"/>
          <p:cNvPicPr preferRelativeResize="0"/>
          <p:nvPr/>
        </p:nvPicPr>
        <p:blipFill rotWithShape="1">
          <a:blip r:embed="rId3">
            <a:alphaModFix/>
          </a:blip>
          <a:srcRect/>
          <a:stretch/>
        </p:blipFill>
        <p:spPr>
          <a:xfrm>
            <a:off x="7955280" y="2267712"/>
            <a:ext cx="347472" cy="347472"/>
          </a:xfrm>
          <a:prstGeom prst="rect">
            <a:avLst/>
          </a:prstGeom>
          <a:noFill/>
          <a:ln>
            <a:noFill/>
          </a:ln>
        </p:spPr>
      </p:pic>
      <p:sp>
        <p:nvSpPr>
          <p:cNvPr id="135" name="Google Shape;135;p3"/>
          <p:cNvSpPr/>
          <p:nvPr/>
        </p:nvSpPr>
        <p:spPr>
          <a:xfrm>
            <a:off x="8641080" y="2084832"/>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500"/>
              <a:buFont typeface="Calibri"/>
              <a:buNone/>
            </a:pPr>
            <a:r>
              <a:rPr lang="en-US" sz="1500" b="1">
                <a:solidFill>
                  <a:srgbClr val="1F2A26"/>
                </a:solidFill>
                <a:latin typeface="Calibri"/>
                <a:ea typeface="Calibri"/>
                <a:cs typeface="Calibri"/>
                <a:sym typeface="Calibri"/>
              </a:rPr>
              <a:t>Automatización</a:t>
            </a:r>
            <a:endParaRPr sz="1500">
              <a:solidFill>
                <a:schemeClr val="dk1"/>
              </a:solidFill>
              <a:latin typeface="Calibri"/>
              <a:ea typeface="Calibri"/>
              <a:cs typeface="Calibri"/>
              <a:sym typeface="Calibri"/>
            </a:endParaRPr>
          </a:p>
        </p:txBody>
      </p:sp>
      <p:sp>
        <p:nvSpPr>
          <p:cNvPr id="136" name="Google Shape;136;p3"/>
          <p:cNvSpPr/>
          <p:nvPr/>
        </p:nvSpPr>
        <p:spPr>
          <a:xfrm>
            <a:off x="8641080" y="2450592"/>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50"/>
              <a:buFont typeface="Calibri"/>
              <a:buNone/>
            </a:pPr>
            <a:r>
              <a:rPr lang="en-US" sz="1150">
                <a:solidFill>
                  <a:srgbClr val="6B7785"/>
                </a:solidFill>
                <a:latin typeface="Calibri"/>
                <a:ea typeface="Calibri"/>
                <a:cs typeface="Calibri"/>
                <a:sym typeface="Calibri"/>
              </a:rPr>
              <a:t>Reducir tareas manuales y errores</a:t>
            </a:r>
            <a:endParaRPr sz="1150">
              <a:solidFill>
                <a:schemeClr val="dk1"/>
              </a:solidFill>
              <a:latin typeface="Calibri"/>
              <a:ea typeface="Calibri"/>
              <a:cs typeface="Calibri"/>
              <a:sym typeface="Calibri"/>
            </a:endParaRPr>
          </a:p>
        </p:txBody>
      </p:sp>
      <p:sp>
        <p:nvSpPr>
          <p:cNvPr id="137" name="Google Shape;137;p3"/>
          <p:cNvSpPr/>
          <p:nvPr/>
        </p:nvSpPr>
        <p:spPr>
          <a:xfrm>
            <a:off x="7589520" y="3291840"/>
            <a:ext cx="4114800" cy="12344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3"/>
          <p:cNvSpPr/>
          <p:nvPr/>
        </p:nvSpPr>
        <p:spPr>
          <a:xfrm>
            <a:off x="7589520" y="3291840"/>
            <a:ext cx="73152" cy="12344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3"/>
          <p:cNvSpPr/>
          <p:nvPr/>
        </p:nvSpPr>
        <p:spPr>
          <a:xfrm>
            <a:off x="7772400" y="3566160"/>
            <a:ext cx="685800" cy="68580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0" name="Google Shape;140;p3" descr="preencoded.png"/>
          <p:cNvPicPr preferRelativeResize="0"/>
          <p:nvPr/>
        </p:nvPicPr>
        <p:blipFill rotWithShape="1">
          <a:blip r:embed="rId4">
            <a:alphaModFix/>
          </a:blip>
          <a:srcRect/>
          <a:stretch/>
        </p:blipFill>
        <p:spPr>
          <a:xfrm>
            <a:off x="7955280" y="3730752"/>
            <a:ext cx="347472" cy="347472"/>
          </a:xfrm>
          <a:prstGeom prst="rect">
            <a:avLst/>
          </a:prstGeom>
          <a:noFill/>
          <a:ln>
            <a:noFill/>
          </a:ln>
        </p:spPr>
      </p:pic>
      <p:sp>
        <p:nvSpPr>
          <p:cNvPr id="141" name="Google Shape;141;p3"/>
          <p:cNvSpPr/>
          <p:nvPr/>
        </p:nvSpPr>
        <p:spPr>
          <a:xfrm>
            <a:off x="8641080" y="3547872"/>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500"/>
              <a:buFont typeface="Calibri"/>
              <a:buNone/>
            </a:pPr>
            <a:r>
              <a:rPr lang="en-US" sz="1500" b="1">
                <a:solidFill>
                  <a:srgbClr val="1F2A26"/>
                </a:solidFill>
                <a:latin typeface="Calibri"/>
                <a:ea typeface="Calibri"/>
                <a:cs typeface="Calibri"/>
                <a:sym typeface="Calibri"/>
              </a:rPr>
              <a:t>Control interno</a:t>
            </a:r>
            <a:endParaRPr sz="1500">
              <a:solidFill>
                <a:schemeClr val="dk1"/>
              </a:solidFill>
              <a:latin typeface="Calibri"/>
              <a:ea typeface="Calibri"/>
              <a:cs typeface="Calibri"/>
              <a:sym typeface="Calibri"/>
            </a:endParaRPr>
          </a:p>
        </p:txBody>
      </p:sp>
      <p:sp>
        <p:nvSpPr>
          <p:cNvPr id="142" name="Google Shape;142;p3"/>
          <p:cNvSpPr/>
          <p:nvPr/>
        </p:nvSpPr>
        <p:spPr>
          <a:xfrm>
            <a:off x="8641080" y="3913632"/>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50"/>
              <a:buFont typeface="Calibri"/>
              <a:buNone/>
            </a:pPr>
            <a:r>
              <a:rPr lang="en-US" sz="1150">
                <a:solidFill>
                  <a:srgbClr val="6B7785"/>
                </a:solidFill>
                <a:latin typeface="Calibri"/>
                <a:ea typeface="Calibri"/>
                <a:cs typeface="Calibri"/>
                <a:sym typeface="Calibri"/>
              </a:rPr>
              <a:t>Trazabilidad y calidad de datos</a:t>
            </a:r>
            <a:endParaRPr sz="1150">
              <a:solidFill>
                <a:schemeClr val="dk1"/>
              </a:solidFill>
              <a:latin typeface="Calibri"/>
              <a:ea typeface="Calibri"/>
              <a:cs typeface="Calibri"/>
              <a:sym typeface="Calibri"/>
            </a:endParaRPr>
          </a:p>
        </p:txBody>
      </p:sp>
      <p:sp>
        <p:nvSpPr>
          <p:cNvPr id="143" name="Google Shape;143;p3"/>
          <p:cNvSpPr/>
          <p:nvPr/>
        </p:nvSpPr>
        <p:spPr>
          <a:xfrm>
            <a:off x="7589520" y="4754880"/>
            <a:ext cx="4114800" cy="12344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3"/>
          <p:cNvSpPr/>
          <p:nvPr/>
        </p:nvSpPr>
        <p:spPr>
          <a:xfrm>
            <a:off x="7589520" y="4754880"/>
            <a:ext cx="73152" cy="12344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3"/>
          <p:cNvSpPr/>
          <p:nvPr/>
        </p:nvSpPr>
        <p:spPr>
          <a:xfrm>
            <a:off x="7772400" y="5029200"/>
            <a:ext cx="685800" cy="68580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6" name="Google Shape;146;p3" descr="preencoded.png"/>
          <p:cNvPicPr preferRelativeResize="0"/>
          <p:nvPr/>
        </p:nvPicPr>
        <p:blipFill rotWithShape="1">
          <a:blip r:embed="rId5">
            <a:alphaModFix/>
          </a:blip>
          <a:srcRect/>
          <a:stretch/>
        </p:blipFill>
        <p:spPr>
          <a:xfrm>
            <a:off x="7955280" y="5193792"/>
            <a:ext cx="347472" cy="347472"/>
          </a:xfrm>
          <a:prstGeom prst="rect">
            <a:avLst/>
          </a:prstGeom>
          <a:noFill/>
          <a:ln>
            <a:noFill/>
          </a:ln>
        </p:spPr>
      </p:pic>
      <p:sp>
        <p:nvSpPr>
          <p:cNvPr id="147" name="Google Shape;147;p3"/>
          <p:cNvSpPr/>
          <p:nvPr/>
        </p:nvSpPr>
        <p:spPr>
          <a:xfrm>
            <a:off x="8641080" y="5010912"/>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500"/>
              <a:buFont typeface="Calibri"/>
              <a:buNone/>
            </a:pPr>
            <a:r>
              <a:rPr lang="en-US" sz="1500" b="1">
                <a:solidFill>
                  <a:srgbClr val="1F2A26"/>
                </a:solidFill>
                <a:latin typeface="Calibri"/>
                <a:ea typeface="Calibri"/>
                <a:cs typeface="Calibri"/>
                <a:sym typeface="Calibri"/>
              </a:rPr>
              <a:t>Toma de decisiones</a:t>
            </a:r>
            <a:endParaRPr sz="1500">
              <a:solidFill>
                <a:schemeClr val="dk1"/>
              </a:solidFill>
              <a:latin typeface="Calibri"/>
              <a:ea typeface="Calibri"/>
              <a:cs typeface="Calibri"/>
              <a:sym typeface="Calibri"/>
            </a:endParaRPr>
          </a:p>
        </p:txBody>
      </p:sp>
      <p:sp>
        <p:nvSpPr>
          <p:cNvPr id="148" name="Google Shape;148;p3"/>
          <p:cNvSpPr/>
          <p:nvPr/>
        </p:nvSpPr>
        <p:spPr>
          <a:xfrm>
            <a:off x="8641080" y="5376672"/>
            <a:ext cx="30175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50"/>
              <a:buFont typeface="Calibri"/>
              <a:buNone/>
            </a:pPr>
            <a:r>
              <a:rPr lang="en-US" sz="1150">
                <a:solidFill>
                  <a:srgbClr val="6B7785"/>
                </a:solidFill>
                <a:latin typeface="Calibri"/>
                <a:ea typeface="Calibri"/>
                <a:cs typeface="Calibri"/>
                <a:sym typeface="Calibri"/>
              </a:rPr>
              <a:t>Información oportuna y confiable</a:t>
            </a:r>
            <a:endParaRPr sz="1150">
              <a:solidFill>
                <a:schemeClr val="dk1"/>
              </a:solidFill>
              <a:latin typeface="Calibri"/>
              <a:ea typeface="Calibri"/>
              <a:cs typeface="Calibri"/>
              <a:sym typeface="Calibri"/>
            </a:endParaRPr>
          </a:p>
        </p:txBody>
      </p:sp>
      <p:cxnSp>
        <p:nvCxnSpPr>
          <p:cNvPr id="149" name="Google Shape;149;p3"/>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150" name="Google Shape;150;p3"/>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151" name="Google Shape;151;p3"/>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3 / 28</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6"/>
        <p:cNvGrpSpPr/>
        <p:nvPr/>
      </p:nvGrpSpPr>
      <p:grpSpPr>
        <a:xfrm>
          <a:off x="0" y="0"/>
          <a:ext cx="0" cy="0"/>
          <a:chOff x="0" y="0"/>
          <a:chExt cx="0" cy="0"/>
        </a:xfrm>
      </p:grpSpPr>
      <p:sp>
        <p:nvSpPr>
          <p:cNvPr id="157" name="Google Shape;157;p4"/>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2. Contexto de la organización</a:t>
            </a:r>
            <a:endParaRPr sz="3400">
              <a:solidFill>
                <a:schemeClr val="dk1"/>
              </a:solidFill>
              <a:latin typeface="Calibri"/>
              <a:ea typeface="Calibri"/>
              <a:cs typeface="Calibri"/>
              <a:sym typeface="Calibri"/>
            </a:endParaRPr>
          </a:p>
        </p:txBody>
      </p:sp>
      <p:sp>
        <p:nvSpPr>
          <p:cNvPr id="158" name="Google Shape;158;p4"/>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Identificación de Minimarket Antucayen</a:t>
            </a:r>
            <a:endParaRPr sz="1300">
              <a:solidFill>
                <a:schemeClr val="dk1"/>
              </a:solidFill>
              <a:latin typeface="Calibri"/>
              <a:ea typeface="Calibri"/>
              <a:cs typeface="Calibri"/>
              <a:sym typeface="Calibri"/>
            </a:endParaRPr>
          </a:p>
        </p:txBody>
      </p:sp>
      <p:pic>
        <p:nvPicPr>
          <p:cNvPr id="159" name="Google Shape;159;p4" descr="assets/local.jpg"/>
          <p:cNvPicPr preferRelativeResize="0"/>
          <p:nvPr/>
        </p:nvPicPr>
        <p:blipFill rotWithShape="1">
          <a:blip r:embed="rId3">
            <a:alphaModFix/>
          </a:blip>
          <a:srcRect/>
          <a:stretch/>
        </p:blipFill>
        <p:spPr>
          <a:xfrm>
            <a:off x="457200" y="1783080"/>
            <a:ext cx="5486400" cy="4572000"/>
          </a:xfrm>
          <a:prstGeom prst="rect">
            <a:avLst/>
          </a:prstGeom>
          <a:noFill/>
          <a:ln>
            <a:noFill/>
          </a:ln>
        </p:spPr>
      </p:pic>
      <p:sp>
        <p:nvSpPr>
          <p:cNvPr id="160" name="Google Shape;160;p4"/>
          <p:cNvSpPr/>
          <p:nvPr/>
        </p:nvSpPr>
        <p:spPr>
          <a:xfrm>
            <a:off x="457200" y="4206240"/>
            <a:ext cx="5486400" cy="2148840"/>
          </a:xfrm>
          <a:prstGeom prst="rect">
            <a:avLst/>
          </a:prstGeom>
          <a:solidFill>
            <a:srgbClr val="0F3B2E">
              <a:alpha val="8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4"/>
          <p:cNvSpPr/>
          <p:nvPr/>
        </p:nvSpPr>
        <p:spPr>
          <a:xfrm>
            <a:off x="457200" y="1783080"/>
            <a:ext cx="5486400" cy="457200"/>
          </a:xfrm>
          <a:prstGeom prst="rect">
            <a:avLst/>
          </a:prstGeom>
          <a:solidFill>
            <a:srgbClr val="0F3B2E">
              <a:alpha val="74902"/>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4"/>
          <p:cNvSpPr/>
          <p:nvPr/>
        </p:nvSpPr>
        <p:spPr>
          <a:xfrm>
            <a:off x="594360" y="1801368"/>
            <a:ext cx="530352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MINIMARKET ANTUCAYEN</a:t>
            </a:r>
            <a:endParaRPr sz="1150">
              <a:solidFill>
                <a:schemeClr val="dk1"/>
              </a:solidFill>
              <a:latin typeface="Calibri"/>
              <a:ea typeface="Calibri"/>
              <a:cs typeface="Calibri"/>
              <a:sym typeface="Calibri"/>
            </a:endParaRPr>
          </a:p>
        </p:txBody>
      </p:sp>
      <p:sp>
        <p:nvSpPr>
          <p:cNvPr id="163" name="Google Shape;163;p4"/>
          <p:cNvSpPr/>
          <p:nvPr/>
        </p:nvSpPr>
        <p:spPr>
          <a:xfrm>
            <a:off x="640080" y="4251960"/>
            <a:ext cx="512064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600"/>
              <a:buFont typeface="Georgia"/>
              <a:buNone/>
            </a:pPr>
            <a:r>
              <a:rPr lang="en-US" sz="2600" b="1" i="1">
                <a:solidFill>
                  <a:srgbClr val="FFFFFF"/>
                </a:solidFill>
                <a:latin typeface="Georgia"/>
                <a:ea typeface="Georgia"/>
                <a:cs typeface="Georgia"/>
                <a:sym typeface="Georgia"/>
              </a:rPr>
              <a:t>Antucayen</a:t>
            </a:r>
            <a:endParaRPr sz="2600">
              <a:solidFill>
                <a:schemeClr val="dk1"/>
              </a:solidFill>
              <a:latin typeface="Calibri"/>
              <a:ea typeface="Calibri"/>
              <a:cs typeface="Calibri"/>
              <a:sym typeface="Calibri"/>
            </a:endParaRPr>
          </a:p>
        </p:txBody>
      </p:sp>
      <p:cxnSp>
        <p:nvCxnSpPr>
          <p:cNvPr id="164" name="Google Shape;164;p4"/>
          <p:cNvCxnSpPr/>
          <p:nvPr/>
        </p:nvCxnSpPr>
        <p:spPr>
          <a:xfrm>
            <a:off x="640080" y="4800600"/>
            <a:ext cx="1828800" cy="0"/>
          </a:xfrm>
          <a:prstGeom prst="straightConnector1">
            <a:avLst/>
          </a:prstGeom>
          <a:noFill/>
          <a:ln w="25400" cap="flat" cmpd="sng">
            <a:solidFill>
              <a:srgbClr val="E8963C"/>
            </a:solidFill>
            <a:prstDash val="solid"/>
            <a:round/>
            <a:headEnd type="none" w="sm" len="sm"/>
            <a:tailEnd type="none" w="sm" len="sm"/>
          </a:ln>
        </p:spPr>
      </p:cxnSp>
      <p:sp>
        <p:nvSpPr>
          <p:cNvPr id="165" name="Google Shape;165;p4"/>
          <p:cNvSpPr/>
          <p:nvPr/>
        </p:nvSpPr>
        <p:spPr>
          <a:xfrm>
            <a:off x="640080" y="4937760"/>
            <a:ext cx="5120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a:solidFill>
                  <a:srgbClr val="FFFFFF"/>
                </a:solidFill>
                <a:latin typeface="Calibri"/>
                <a:ea typeface="Calibri"/>
                <a:cs typeface="Calibri"/>
                <a:sym typeface="Calibri"/>
              </a:rPr>
              <a:t>•  Av. Central 273, San Bernardo</a:t>
            </a:r>
            <a:endParaRPr sz="1150">
              <a:solidFill>
                <a:schemeClr val="dk1"/>
              </a:solidFill>
              <a:latin typeface="Calibri"/>
              <a:ea typeface="Calibri"/>
              <a:cs typeface="Calibri"/>
              <a:sym typeface="Calibri"/>
            </a:endParaRPr>
          </a:p>
        </p:txBody>
      </p:sp>
      <p:sp>
        <p:nvSpPr>
          <p:cNvPr id="166" name="Google Shape;166;p4"/>
          <p:cNvSpPr/>
          <p:nvPr/>
        </p:nvSpPr>
        <p:spPr>
          <a:xfrm>
            <a:off x="640080" y="5212080"/>
            <a:ext cx="5120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a:solidFill>
                  <a:srgbClr val="FFFFFF"/>
                </a:solidFill>
                <a:latin typeface="Calibri"/>
                <a:ea typeface="Calibri"/>
                <a:cs typeface="Calibri"/>
                <a:sym typeface="Calibri"/>
              </a:rPr>
              <a:t>•  Región Metropolitana, Chile</a:t>
            </a:r>
            <a:endParaRPr sz="1150">
              <a:solidFill>
                <a:schemeClr val="dk1"/>
              </a:solidFill>
              <a:latin typeface="Calibri"/>
              <a:ea typeface="Calibri"/>
              <a:cs typeface="Calibri"/>
              <a:sym typeface="Calibri"/>
            </a:endParaRPr>
          </a:p>
        </p:txBody>
      </p:sp>
      <p:sp>
        <p:nvSpPr>
          <p:cNvPr id="167" name="Google Shape;167;p4"/>
          <p:cNvSpPr/>
          <p:nvPr/>
        </p:nvSpPr>
        <p:spPr>
          <a:xfrm>
            <a:off x="640080" y="5486400"/>
            <a:ext cx="51206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50"/>
              <a:buFont typeface="Calibri"/>
              <a:buNone/>
            </a:pPr>
            <a:r>
              <a:rPr lang="en-US" sz="1150">
                <a:solidFill>
                  <a:srgbClr val="FFFFFF"/>
                </a:solidFill>
                <a:latin typeface="Calibri"/>
                <a:ea typeface="Calibri"/>
                <a:cs typeface="Calibri"/>
                <a:sym typeface="Calibri"/>
              </a:rPr>
              <a:t>•  Negocio de barrio  •  productos esenciales</a:t>
            </a:r>
            <a:endParaRPr sz="1150">
              <a:solidFill>
                <a:schemeClr val="dk1"/>
              </a:solidFill>
              <a:latin typeface="Calibri"/>
              <a:ea typeface="Calibri"/>
              <a:cs typeface="Calibri"/>
              <a:sym typeface="Calibri"/>
            </a:endParaRPr>
          </a:p>
        </p:txBody>
      </p:sp>
      <p:sp>
        <p:nvSpPr>
          <p:cNvPr id="168" name="Google Shape;168;p4"/>
          <p:cNvSpPr/>
          <p:nvPr/>
        </p:nvSpPr>
        <p:spPr>
          <a:xfrm>
            <a:off x="640080" y="5897880"/>
            <a:ext cx="512064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D78F"/>
              </a:buClr>
              <a:buSzPts val="1100"/>
              <a:buFont typeface="Georgia"/>
              <a:buNone/>
            </a:pPr>
            <a:r>
              <a:rPr lang="en-US" sz="1100" i="1">
                <a:solidFill>
                  <a:srgbClr val="FFD78F"/>
                </a:solidFill>
                <a:latin typeface="Georgia"/>
                <a:ea typeface="Georgia"/>
                <a:cs typeface="Georgia"/>
                <a:sym typeface="Georgia"/>
              </a:rPr>
              <a:t>“Cercanía, rapidez y acceso a productos esenciales”</a:t>
            </a:r>
            <a:endParaRPr sz="1100">
              <a:solidFill>
                <a:schemeClr val="dk1"/>
              </a:solidFill>
              <a:latin typeface="Calibri"/>
              <a:ea typeface="Calibri"/>
              <a:cs typeface="Calibri"/>
              <a:sym typeface="Calibri"/>
            </a:endParaRPr>
          </a:p>
        </p:txBody>
      </p:sp>
      <p:sp>
        <p:nvSpPr>
          <p:cNvPr id="169" name="Google Shape;169;p4"/>
          <p:cNvSpPr/>
          <p:nvPr/>
        </p:nvSpPr>
        <p:spPr>
          <a:xfrm>
            <a:off x="6263640" y="1783080"/>
            <a:ext cx="5440680" cy="21031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0" name="Google Shape;170;p4"/>
          <p:cNvSpPr/>
          <p:nvPr/>
        </p:nvSpPr>
        <p:spPr>
          <a:xfrm>
            <a:off x="6263640" y="1783080"/>
            <a:ext cx="91440" cy="210312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4"/>
          <p:cNvSpPr/>
          <p:nvPr/>
        </p:nvSpPr>
        <p:spPr>
          <a:xfrm>
            <a:off x="6492240" y="1920240"/>
            <a:ext cx="36576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200"/>
              <a:buFont typeface="Calibri"/>
              <a:buNone/>
            </a:pPr>
            <a:r>
              <a:rPr lang="en-US" sz="1200" b="1">
                <a:solidFill>
                  <a:srgbClr val="2D6A4F"/>
                </a:solidFill>
                <a:latin typeface="Calibri"/>
                <a:ea typeface="Calibri"/>
                <a:cs typeface="Calibri"/>
                <a:sym typeface="Calibri"/>
              </a:rPr>
              <a:t>MISIÓN</a:t>
            </a:r>
            <a:endParaRPr sz="1200">
              <a:solidFill>
                <a:schemeClr val="dk1"/>
              </a:solidFill>
              <a:latin typeface="Calibri"/>
              <a:ea typeface="Calibri"/>
              <a:cs typeface="Calibri"/>
              <a:sym typeface="Calibri"/>
            </a:endParaRPr>
          </a:p>
        </p:txBody>
      </p:sp>
      <p:sp>
        <p:nvSpPr>
          <p:cNvPr id="172" name="Google Shape;172;p4"/>
          <p:cNvSpPr/>
          <p:nvPr/>
        </p:nvSpPr>
        <p:spPr>
          <a:xfrm>
            <a:off x="6492240" y="2286000"/>
            <a:ext cx="5074920" cy="1463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250"/>
              <a:buFont typeface="Calibri"/>
              <a:buNone/>
            </a:pPr>
            <a:r>
              <a:rPr lang="en-US" sz="1250">
                <a:solidFill>
                  <a:srgbClr val="1F2A26"/>
                </a:solidFill>
                <a:latin typeface="Calibri"/>
                <a:ea typeface="Calibri"/>
                <a:cs typeface="Calibri"/>
                <a:sym typeface="Calibri"/>
              </a:rPr>
              <a:t>Entregar productos esenciales y de calidad a la comunidad, mediante atención cercana, eficiente y confiable, contribuyendo al bienestar del entorno.</a:t>
            </a:r>
            <a:endParaRPr sz="1250">
              <a:solidFill>
                <a:schemeClr val="dk1"/>
              </a:solidFill>
              <a:latin typeface="Calibri"/>
              <a:ea typeface="Calibri"/>
              <a:cs typeface="Calibri"/>
              <a:sym typeface="Calibri"/>
            </a:endParaRPr>
          </a:p>
        </p:txBody>
      </p:sp>
      <p:sp>
        <p:nvSpPr>
          <p:cNvPr id="173" name="Google Shape;173;p4"/>
          <p:cNvSpPr/>
          <p:nvPr/>
        </p:nvSpPr>
        <p:spPr>
          <a:xfrm>
            <a:off x="6263640" y="4069080"/>
            <a:ext cx="5440680" cy="228600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4"/>
          <p:cNvSpPr/>
          <p:nvPr/>
        </p:nvSpPr>
        <p:spPr>
          <a:xfrm>
            <a:off x="6263640" y="4069080"/>
            <a:ext cx="91440" cy="228600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4"/>
          <p:cNvSpPr/>
          <p:nvPr/>
        </p:nvSpPr>
        <p:spPr>
          <a:xfrm>
            <a:off x="6492240" y="4206240"/>
            <a:ext cx="36576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200"/>
              <a:buFont typeface="Calibri"/>
              <a:buNone/>
            </a:pPr>
            <a:r>
              <a:rPr lang="en-US" sz="1200" b="1">
                <a:solidFill>
                  <a:srgbClr val="E8963C"/>
                </a:solidFill>
                <a:latin typeface="Calibri"/>
                <a:ea typeface="Calibri"/>
                <a:cs typeface="Calibri"/>
                <a:sym typeface="Calibri"/>
              </a:rPr>
              <a:t>VISIÓN</a:t>
            </a:r>
            <a:endParaRPr sz="1200">
              <a:solidFill>
                <a:schemeClr val="dk1"/>
              </a:solidFill>
              <a:latin typeface="Calibri"/>
              <a:ea typeface="Calibri"/>
              <a:cs typeface="Calibri"/>
              <a:sym typeface="Calibri"/>
            </a:endParaRPr>
          </a:p>
        </p:txBody>
      </p:sp>
      <p:sp>
        <p:nvSpPr>
          <p:cNvPr id="176" name="Google Shape;176;p4"/>
          <p:cNvSpPr/>
          <p:nvPr/>
        </p:nvSpPr>
        <p:spPr>
          <a:xfrm>
            <a:off x="6492240" y="4572000"/>
            <a:ext cx="5074920" cy="1691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250"/>
              <a:buFont typeface="Calibri"/>
              <a:buNone/>
            </a:pPr>
            <a:r>
              <a:rPr lang="en-US" sz="1250">
                <a:solidFill>
                  <a:srgbClr val="1F2A26"/>
                </a:solidFill>
                <a:latin typeface="Calibri"/>
                <a:ea typeface="Calibri"/>
                <a:cs typeface="Calibri"/>
                <a:sym typeface="Calibri"/>
              </a:rPr>
              <a:t>Consolidarse como un minimarket referente, destacando por calidad de servicio, eficiencia en sus procesos e incorporación progresiva de soluciones tecnológicas que impulsen su crecimiento sostenible.</a:t>
            </a:r>
            <a:endParaRPr sz="1250">
              <a:solidFill>
                <a:schemeClr val="dk1"/>
              </a:solidFill>
              <a:latin typeface="Calibri"/>
              <a:ea typeface="Calibri"/>
              <a:cs typeface="Calibri"/>
              <a:sym typeface="Calibri"/>
            </a:endParaRPr>
          </a:p>
        </p:txBody>
      </p:sp>
      <p:cxnSp>
        <p:nvCxnSpPr>
          <p:cNvPr id="177" name="Google Shape;177;p4"/>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178" name="Google Shape;178;p4"/>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179" name="Google Shape;179;p4"/>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4 / 28</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4"/>
        <p:cNvGrpSpPr/>
        <p:nvPr/>
      </p:nvGrpSpPr>
      <p:grpSpPr>
        <a:xfrm>
          <a:off x="0" y="0"/>
          <a:ext cx="0" cy="0"/>
          <a:chOff x="0" y="0"/>
          <a:chExt cx="0" cy="0"/>
        </a:xfrm>
      </p:grpSpPr>
      <p:sp>
        <p:nvSpPr>
          <p:cNvPr id="185" name="Google Shape;185;p5"/>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2. Organigrama y quehacer</a:t>
            </a:r>
            <a:endParaRPr sz="3400">
              <a:solidFill>
                <a:schemeClr val="dk1"/>
              </a:solidFill>
              <a:latin typeface="Calibri"/>
              <a:ea typeface="Calibri"/>
              <a:cs typeface="Calibri"/>
              <a:sym typeface="Calibri"/>
            </a:endParaRPr>
          </a:p>
        </p:txBody>
      </p:sp>
      <p:sp>
        <p:nvSpPr>
          <p:cNvPr id="186" name="Google Shape;186;p5"/>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Estructura organizacional y actividades</a:t>
            </a:r>
            <a:endParaRPr sz="1300">
              <a:solidFill>
                <a:schemeClr val="dk1"/>
              </a:solidFill>
              <a:latin typeface="Calibri"/>
              <a:ea typeface="Calibri"/>
              <a:cs typeface="Calibri"/>
              <a:sym typeface="Calibri"/>
            </a:endParaRPr>
          </a:p>
        </p:txBody>
      </p:sp>
      <p:sp>
        <p:nvSpPr>
          <p:cNvPr id="187" name="Google Shape;187;p5"/>
          <p:cNvSpPr/>
          <p:nvPr/>
        </p:nvSpPr>
        <p:spPr>
          <a:xfrm>
            <a:off x="457200" y="1783080"/>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100"/>
              <a:buFont typeface="Calibri"/>
              <a:buNone/>
            </a:pPr>
            <a:r>
              <a:rPr lang="en-US" sz="1100" b="1">
                <a:solidFill>
                  <a:srgbClr val="2D6A4F"/>
                </a:solidFill>
                <a:latin typeface="Calibri"/>
                <a:ea typeface="Calibri"/>
                <a:cs typeface="Calibri"/>
                <a:sym typeface="Calibri"/>
              </a:rPr>
              <a:t>ORGANIGRAMA</a:t>
            </a:r>
            <a:endParaRPr sz="1100">
              <a:solidFill>
                <a:schemeClr val="dk1"/>
              </a:solidFill>
              <a:latin typeface="Calibri"/>
              <a:ea typeface="Calibri"/>
              <a:cs typeface="Calibri"/>
              <a:sym typeface="Calibri"/>
            </a:endParaRPr>
          </a:p>
        </p:txBody>
      </p:sp>
      <p:sp>
        <p:nvSpPr>
          <p:cNvPr id="188" name="Google Shape;188;p5"/>
          <p:cNvSpPr/>
          <p:nvPr/>
        </p:nvSpPr>
        <p:spPr>
          <a:xfrm>
            <a:off x="1645920" y="2240280"/>
            <a:ext cx="3017520" cy="77724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5"/>
          <p:cNvSpPr/>
          <p:nvPr/>
        </p:nvSpPr>
        <p:spPr>
          <a:xfrm>
            <a:off x="1645920" y="2240280"/>
            <a:ext cx="3017520" cy="7772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Administrador / Dueño</a:t>
            </a:r>
            <a:endParaRPr sz="1400">
              <a:solidFill>
                <a:schemeClr val="dk1"/>
              </a:solidFill>
              <a:latin typeface="Calibri"/>
              <a:ea typeface="Calibri"/>
              <a:cs typeface="Calibri"/>
              <a:sym typeface="Calibri"/>
            </a:endParaRPr>
          </a:p>
        </p:txBody>
      </p:sp>
      <p:cxnSp>
        <p:nvCxnSpPr>
          <p:cNvPr id="190" name="Google Shape;190;p5"/>
          <p:cNvCxnSpPr/>
          <p:nvPr/>
        </p:nvCxnSpPr>
        <p:spPr>
          <a:xfrm>
            <a:off x="3154680" y="3017520"/>
            <a:ext cx="0" cy="274320"/>
          </a:xfrm>
          <a:prstGeom prst="straightConnector1">
            <a:avLst/>
          </a:prstGeom>
          <a:noFill/>
          <a:ln w="12700" cap="flat" cmpd="sng">
            <a:solidFill>
              <a:srgbClr val="6B7785"/>
            </a:solidFill>
            <a:prstDash val="solid"/>
            <a:round/>
            <a:headEnd type="none" w="sm" len="sm"/>
            <a:tailEnd type="none" w="sm" len="sm"/>
          </a:ln>
        </p:spPr>
      </p:cxnSp>
      <p:cxnSp>
        <p:nvCxnSpPr>
          <p:cNvPr id="191" name="Google Shape;191;p5"/>
          <p:cNvCxnSpPr/>
          <p:nvPr/>
        </p:nvCxnSpPr>
        <p:spPr>
          <a:xfrm>
            <a:off x="1691640" y="3291840"/>
            <a:ext cx="2926080" cy="0"/>
          </a:xfrm>
          <a:prstGeom prst="straightConnector1">
            <a:avLst/>
          </a:prstGeom>
          <a:noFill/>
          <a:ln w="12700" cap="flat" cmpd="sng">
            <a:solidFill>
              <a:srgbClr val="6B7785"/>
            </a:solidFill>
            <a:prstDash val="solid"/>
            <a:round/>
            <a:headEnd type="none" w="sm" len="sm"/>
            <a:tailEnd type="none" w="sm" len="sm"/>
          </a:ln>
        </p:spPr>
      </p:cxnSp>
      <p:cxnSp>
        <p:nvCxnSpPr>
          <p:cNvPr id="192" name="Google Shape;192;p5"/>
          <p:cNvCxnSpPr/>
          <p:nvPr/>
        </p:nvCxnSpPr>
        <p:spPr>
          <a:xfrm>
            <a:off x="1691640" y="3291840"/>
            <a:ext cx="0" cy="274320"/>
          </a:xfrm>
          <a:prstGeom prst="straightConnector1">
            <a:avLst/>
          </a:prstGeom>
          <a:noFill/>
          <a:ln w="12700" cap="flat" cmpd="sng">
            <a:solidFill>
              <a:srgbClr val="6B7785"/>
            </a:solidFill>
            <a:prstDash val="solid"/>
            <a:round/>
            <a:headEnd type="none" w="sm" len="sm"/>
            <a:tailEnd type="none" w="sm" len="sm"/>
          </a:ln>
        </p:spPr>
      </p:cxnSp>
      <p:cxnSp>
        <p:nvCxnSpPr>
          <p:cNvPr id="193" name="Google Shape;193;p5"/>
          <p:cNvCxnSpPr/>
          <p:nvPr/>
        </p:nvCxnSpPr>
        <p:spPr>
          <a:xfrm>
            <a:off x="4617720" y="3291840"/>
            <a:ext cx="0" cy="274320"/>
          </a:xfrm>
          <a:prstGeom prst="straightConnector1">
            <a:avLst/>
          </a:prstGeom>
          <a:noFill/>
          <a:ln w="12700" cap="flat" cmpd="sng">
            <a:solidFill>
              <a:srgbClr val="6B7785"/>
            </a:solidFill>
            <a:prstDash val="solid"/>
            <a:round/>
            <a:headEnd type="none" w="sm" len="sm"/>
            <a:tailEnd type="none" w="sm" len="sm"/>
          </a:ln>
        </p:spPr>
      </p:cxnSp>
      <p:sp>
        <p:nvSpPr>
          <p:cNvPr id="194" name="Google Shape;194;p5"/>
          <p:cNvSpPr/>
          <p:nvPr/>
        </p:nvSpPr>
        <p:spPr>
          <a:xfrm>
            <a:off x="457200" y="3566160"/>
            <a:ext cx="2468880" cy="118872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5" name="Google Shape;195;p5" descr="preencoded.png"/>
          <p:cNvPicPr preferRelativeResize="0"/>
          <p:nvPr/>
        </p:nvPicPr>
        <p:blipFill rotWithShape="1">
          <a:blip r:embed="rId3">
            <a:alphaModFix/>
          </a:blip>
          <a:srcRect/>
          <a:stretch/>
        </p:blipFill>
        <p:spPr>
          <a:xfrm>
            <a:off x="640080" y="3886200"/>
            <a:ext cx="548640" cy="548640"/>
          </a:xfrm>
          <a:prstGeom prst="rect">
            <a:avLst/>
          </a:prstGeom>
          <a:noFill/>
          <a:ln>
            <a:noFill/>
          </a:ln>
        </p:spPr>
      </p:pic>
      <p:sp>
        <p:nvSpPr>
          <p:cNvPr id="196" name="Google Shape;196;p5"/>
          <p:cNvSpPr/>
          <p:nvPr/>
        </p:nvSpPr>
        <p:spPr>
          <a:xfrm>
            <a:off x="1280160" y="3749040"/>
            <a:ext cx="1645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Encargado de</a:t>
            </a:r>
            <a:endParaRPr sz="1250">
              <a:solidFill>
                <a:schemeClr val="dk1"/>
              </a:solidFill>
              <a:latin typeface="Calibri"/>
              <a:ea typeface="Calibri"/>
              <a:cs typeface="Calibri"/>
              <a:sym typeface="Calibri"/>
            </a:endParaRPr>
          </a:p>
        </p:txBody>
      </p:sp>
      <p:sp>
        <p:nvSpPr>
          <p:cNvPr id="197" name="Google Shape;197;p5"/>
          <p:cNvSpPr/>
          <p:nvPr/>
        </p:nvSpPr>
        <p:spPr>
          <a:xfrm>
            <a:off x="1280160" y="4023360"/>
            <a:ext cx="1645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Inventario y</a:t>
            </a:r>
            <a:endParaRPr sz="1100">
              <a:solidFill>
                <a:schemeClr val="dk1"/>
              </a:solidFill>
              <a:latin typeface="Calibri"/>
              <a:ea typeface="Calibri"/>
              <a:cs typeface="Calibri"/>
              <a:sym typeface="Calibri"/>
            </a:endParaRPr>
          </a:p>
        </p:txBody>
      </p:sp>
      <p:sp>
        <p:nvSpPr>
          <p:cNvPr id="198" name="Google Shape;198;p5"/>
          <p:cNvSpPr/>
          <p:nvPr/>
        </p:nvSpPr>
        <p:spPr>
          <a:xfrm>
            <a:off x="1280160" y="4251960"/>
            <a:ext cx="1645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Abastecimiento</a:t>
            </a:r>
            <a:endParaRPr sz="1100">
              <a:solidFill>
                <a:schemeClr val="dk1"/>
              </a:solidFill>
              <a:latin typeface="Calibri"/>
              <a:ea typeface="Calibri"/>
              <a:cs typeface="Calibri"/>
              <a:sym typeface="Calibri"/>
            </a:endParaRPr>
          </a:p>
        </p:txBody>
      </p:sp>
      <p:sp>
        <p:nvSpPr>
          <p:cNvPr id="199" name="Google Shape;199;p5"/>
          <p:cNvSpPr/>
          <p:nvPr/>
        </p:nvSpPr>
        <p:spPr>
          <a:xfrm>
            <a:off x="3383280" y="3566160"/>
            <a:ext cx="2468880" cy="11887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00" name="Google Shape;200;p5" descr="preencoded.png"/>
          <p:cNvPicPr preferRelativeResize="0"/>
          <p:nvPr/>
        </p:nvPicPr>
        <p:blipFill rotWithShape="1">
          <a:blip r:embed="rId4">
            <a:alphaModFix/>
          </a:blip>
          <a:srcRect/>
          <a:stretch/>
        </p:blipFill>
        <p:spPr>
          <a:xfrm>
            <a:off x="3566160" y="3886200"/>
            <a:ext cx="548640" cy="548640"/>
          </a:xfrm>
          <a:prstGeom prst="rect">
            <a:avLst/>
          </a:prstGeom>
          <a:noFill/>
          <a:ln>
            <a:noFill/>
          </a:ln>
        </p:spPr>
      </p:pic>
      <p:sp>
        <p:nvSpPr>
          <p:cNvPr id="201" name="Google Shape;201;p5"/>
          <p:cNvSpPr/>
          <p:nvPr/>
        </p:nvSpPr>
        <p:spPr>
          <a:xfrm>
            <a:off x="4206240" y="3794760"/>
            <a:ext cx="16459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alibri"/>
              <a:buNone/>
            </a:pPr>
            <a:r>
              <a:rPr lang="en-US" sz="1250" b="1">
                <a:solidFill>
                  <a:srgbClr val="FFFFFF"/>
                </a:solidFill>
                <a:latin typeface="Calibri"/>
                <a:ea typeface="Calibri"/>
                <a:cs typeface="Calibri"/>
                <a:sym typeface="Calibri"/>
              </a:rPr>
              <a:t>Vendedor / Cajero</a:t>
            </a:r>
            <a:endParaRPr sz="1250">
              <a:solidFill>
                <a:schemeClr val="dk1"/>
              </a:solidFill>
              <a:latin typeface="Calibri"/>
              <a:ea typeface="Calibri"/>
              <a:cs typeface="Calibri"/>
              <a:sym typeface="Calibri"/>
            </a:endParaRPr>
          </a:p>
        </p:txBody>
      </p:sp>
      <p:sp>
        <p:nvSpPr>
          <p:cNvPr id="202" name="Google Shape;202;p5"/>
          <p:cNvSpPr/>
          <p:nvPr/>
        </p:nvSpPr>
        <p:spPr>
          <a:xfrm>
            <a:off x="4206240" y="4160520"/>
            <a:ext cx="1645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Atención y ventas</a:t>
            </a:r>
            <a:endParaRPr sz="1100">
              <a:solidFill>
                <a:schemeClr val="dk1"/>
              </a:solidFill>
              <a:latin typeface="Calibri"/>
              <a:ea typeface="Calibri"/>
              <a:cs typeface="Calibri"/>
              <a:sym typeface="Calibri"/>
            </a:endParaRPr>
          </a:p>
        </p:txBody>
      </p:sp>
      <p:sp>
        <p:nvSpPr>
          <p:cNvPr id="203" name="Google Shape;203;p5"/>
          <p:cNvSpPr/>
          <p:nvPr/>
        </p:nvSpPr>
        <p:spPr>
          <a:xfrm>
            <a:off x="457200" y="5074920"/>
            <a:ext cx="54864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150"/>
              <a:buFont typeface="Georgia"/>
              <a:buNone/>
            </a:pPr>
            <a:r>
              <a:rPr lang="en-US" sz="1150" i="1">
                <a:solidFill>
                  <a:srgbClr val="6B7785"/>
                </a:solidFill>
                <a:latin typeface="Georgia"/>
                <a:ea typeface="Georgia"/>
                <a:cs typeface="Georgia"/>
                <a:sym typeface="Georgia"/>
              </a:rPr>
              <a:t>Estructura simple, acorde al tamaño del negocio</a:t>
            </a:r>
            <a:endParaRPr sz="1150">
              <a:solidFill>
                <a:schemeClr val="dk1"/>
              </a:solidFill>
              <a:latin typeface="Calibri"/>
              <a:ea typeface="Calibri"/>
              <a:cs typeface="Calibri"/>
              <a:sym typeface="Calibri"/>
            </a:endParaRPr>
          </a:p>
        </p:txBody>
      </p:sp>
      <p:sp>
        <p:nvSpPr>
          <p:cNvPr id="204" name="Google Shape;204;p5"/>
          <p:cNvSpPr/>
          <p:nvPr/>
        </p:nvSpPr>
        <p:spPr>
          <a:xfrm>
            <a:off x="6400800" y="1783080"/>
            <a:ext cx="5486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100"/>
              <a:buFont typeface="Calibri"/>
              <a:buNone/>
            </a:pPr>
            <a:r>
              <a:rPr lang="en-US" sz="1100" b="1">
                <a:solidFill>
                  <a:srgbClr val="2D6A4F"/>
                </a:solidFill>
                <a:latin typeface="Calibri"/>
                <a:ea typeface="Calibri"/>
                <a:cs typeface="Calibri"/>
                <a:sym typeface="Calibri"/>
              </a:rPr>
              <a:t>QUEHACER DE LA ORGANIZACIÓN</a:t>
            </a:r>
            <a:endParaRPr sz="1100">
              <a:solidFill>
                <a:schemeClr val="dk1"/>
              </a:solidFill>
              <a:latin typeface="Calibri"/>
              <a:ea typeface="Calibri"/>
              <a:cs typeface="Calibri"/>
              <a:sym typeface="Calibri"/>
            </a:endParaRPr>
          </a:p>
        </p:txBody>
      </p:sp>
      <p:sp>
        <p:nvSpPr>
          <p:cNvPr id="205" name="Google Shape;205;p5"/>
          <p:cNvSpPr/>
          <p:nvPr/>
        </p:nvSpPr>
        <p:spPr>
          <a:xfrm>
            <a:off x="6400800" y="228600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06" name="Google Shape;206;p5" descr="preencoded.png"/>
          <p:cNvPicPr preferRelativeResize="0"/>
          <p:nvPr/>
        </p:nvPicPr>
        <p:blipFill rotWithShape="1">
          <a:blip r:embed="rId5">
            <a:alphaModFix/>
          </a:blip>
          <a:srcRect/>
          <a:stretch/>
        </p:blipFill>
        <p:spPr>
          <a:xfrm>
            <a:off x="6492240" y="2377440"/>
            <a:ext cx="228600" cy="228600"/>
          </a:xfrm>
          <a:prstGeom prst="rect">
            <a:avLst/>
          </a:prstGeom>
          <a:noFill/>
          <a:ln>
            <a:noFill/>
          </a:ln>
        </p:spPr>
      </p:pic>
      <p:sp>
        <p:nvSpPr>
          <p:cNvPr id="207" name="Google Shape;207;p5"/>
          <p:cNvSpPr/>
          <p:nvPr/>
        </p:nvSpPr>
        <p:spPr>
          <a:xfrm>
            <a:off x="6903720" y="228600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Compra de productos a proveedores</a:t>
            </a:r>
            <a:endParaRPr sz="1100">
              <a:solidFill>
                <a:schemeClr val="dk1"/>
              </a:solidFill>
              <a:latin typeface="Calibri"/>
              <a:ea typeface="Calibri"/>
              <a:cs typeface="Calibri"/>
              <a:sym typeface="Calibri"/>
            </a:endParaRPr>
          </a:p>
        </p:txBody>
      </p:sp>
      <p:sp>
        <p:nvSpPr>
          <p:cNvPr id="208" name="Google Shape;208;p5"/>
          <p:cNvSpPr/>
          <p:nvPr/>
        </p:nvSpPr>
        <p:spPr>
          <a:xfrm>
            <a:off x="6400800" y="324612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09" name="Google Shape;209;p5" descr="preencoded.png"/>
          <p:cNvPicPr preferRelativeResize="0"/>
          <p:nvPr/>
        </p:nvPicPr>
        <p:blipFill rotWithShape="1">
          <a:blip r:embed="rId5">
            <a:alphaModFix/>
          </a:blip>
          <a:srcRect/>
          <a:stretch/>
        </p:blipFill>
        <p:spPr>
          <a:xfrm>
            <a:off x="6492240" y="3337560"/>
            <a:ext cx="228600" cy="228600"/>
          </a:xfrm>
          <a:prstGeom prst="rect">
            <a:avLst/>
          </a:prstGeom>
          <a:noFill/>
          <a:ln>
            <a:noFill/>
          </a:ln>
        </p:spPr>
      </p:pic>
      <p:sp>
        <p:nvSpPr>
          <p:cNvPr id="210" name="Google Shape;210;p5"/>
          <p:cNvSpPr/>
          <p:nvPr/>
        </p:nvSpPr>
        <p:spPr>
          <a:xfrm>
            <a:off x="6903720" y="324612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Recepción y revisión de mercadería</a:t>
            </a:r>
            <a:endParaRPr sz="1100">
              <a:solidFill>
                <a:schemeClr val="dk1"/>
              </a:solidFill>
              <a:latin typeface="Calibri"/>
              <a:ea typeface="Calibri"/>
              <a:cs typeface="Calibri"/>
              <a:sym typeface="Calibri"/>
            </a:endParaRPr>
          </a:p>
        </p:txBody>
      </p:sp>
      <p:sp>
        <p:nvSpPr>
          <p:cNvPr id="211" name="Google Shape;211;p5"/>
          <p:cNvSpPr/>
          <p:nvPr/>
        </p:nvSpPr>
        <p:spPr>
          <a:xfrm>
            <a:off x="6400800" y="420624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2" name="Google Shape;212;p5" descr="preencoded.png"/>
          <p:cNvPicPr preferRelativeResize="0"/>
          <p:nvPr/>
        </p:nvPicPr>
        <p:blipFill rotWithShape="1">
          <a:blip r:embed="rId5">
            <a:alphaModFix/>
          </a:blip>
          <a:srcRect/>
          <a:stretch/>
        </p:blipFill>
        <p:spPr>
          <a:xfrm>
            <a:off x="6492240" y="4297680"/>
            <a:ext cx="228600" cy="228600"/>
          </a:xfrm>
          <a:prstGeom prst="rect">
            <a:avLst/>
          </a:prstGeom>
          <a:noFill/>
          <a:ln>
            <a:noFill/>
          </a:ln>
        </p:spPr>
      </p:pic>
      <p:sp>
        <p:nvSpPr>
          <p:cNvPr id="213" name="Google Shape;213;p5"/>
          <p:cNvSpPr/>
          <p:nvPr/>
        </p:nvSpPr>
        <p:spPr>
          <a:xfrm>
            <a:off x="6903720" y="420624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Registro y control de inventario</a:t>
            </a:r>
            <a:endParaRPr sz="1100">
              <a:solidFill>
                <a:schemeClr val="dk1"/>
              </a:solidFill>
              <a:latin typeface="Calibri"/>
              <a:ea typeface="Calibri"/>
              <a:cs typeface="Calibri"/>
              <a:sym typeface="Calibri"/>
            </a:endParaRPr>
          </a:p>
        </p:txBody>
      </p:sp>
      <p:sp>
        <p:nvSpPr>
          <p:cNvPr id="214" name="Google Shape;214;p5"/>
          <p:cNvSpPr/>
          <p:nvPr/>
        </p:nvSpPr>
        <p:spPr>
          <a:xfrm>
            <a:off x="6400800" y="516636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5" name="Google Shape;215;p5" descr="preencoded.png"/>
          <p:cNvPicPr preferRelativeResize="0"/>
          <p:nvPr/>
        </p:nvPicPr>
        <p:blipFill rotWithShape="1">
          <a:blip r:embed="rId5">
            <a:alphaModFix/>
          </a:blip>
          <a:srcRect/>
          <a:stretch/>
        </p:blipFill>
        <p:spPr>
          <a:xfrm>
            <a:off x="6492240" y="5257800"/>
            <a:ext cx="228600" cy="228600"/>
          </a:xfrm>
          <a:prstGeom prst="rect">
            <a:avLst/>
          </a:prstGeom>
          <a:noFill/>
          <a:ln>
            <a:noFill/>
          </a:ln>
        </p:spPr>
      </p:pic>
      <p:sp>
        <p:nvSpPr>
          <p:cNvPr id="216" name="Google Shape;216;p5"/>
          <p:cNvSpPr/>
          <p:nvPr/>
        </p:nvSpPr>
        <p:spPr>
          <a:xfrm>
            <a:off x="6903720" y="516636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Reposición de productos en sala</a:t>
            </a:r>
            <a:endParaRPr sz="1100">
              <a:solidFill>
                <a:schemeClr val="dk1"/>
              </a:solidFill>
              <a:latin typeface="Calibri"/>
              <a:ea typeface="Calibri"/>
              <a:cs typeface="Calibri"/>
              <a:sym typeface="Calibri"/>
            </a:endParaRPr>
          </a:p>
        </p:txBody>
      </p:sp>
      <p:sp>
        <p:nvSpPr>
          <p:cNvPr id="217" name="Google Shape;217;p5"/>
          <p:cNvSpPr/>
          <p:nvPr/>
        </p:nvSpPr>
        <p:spPr>
          <a:xfrm>
            <a:off x="9144000" y="228600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8" name="Google Shape;218;p5" descr="preencoded.png"/>
          <p:cNvPicPr preferRelativeResize="0"/>
          <p:nvPr/>
        </p:nvPicPr>
        <p:blipFill rotWithShape="1">
          <a:blip r:embed="rId5">
            <a:alphaModFix/>
          </a:blip>
          <a:srcRect/>
          <a:stretch/>
        </p:blipFill>
        <p:spPr>
          <a:xfrm>
            <a:off x="9235440" y="2377440"/>
            <a:ext cx="228600" cy="228600"/>
          </a:xfrm>
          <a:prstGeom prst="rect">
            <a:avLst/>
          </a:prstGeom>
          <a:noFill/>
          <a:ln>
            <a:noFill/>
          </a:ln>
        </p:spPr>
      </p:pic>
      <p:sp>
        <p:nvSpPr>
          <p:cNvPr id="219" name="Google Shape;219;p5"/>
          <p:cNvSpPr/>
          <p:nvPr/>
        </p:nvSpPr>
        <p:spPr>
          <a:xfrm>
            <a:off x="9646920" y="228600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Comercialización directa al cliente</a:t>
            </a:r>
            <a:endParaRPr sz="1100">
              <a:solidFill>
                <a:schemeClr val="dk1"/>
              </a:solidFill>
              <a:latin typeface="Calibri"/>
              <a:ea typeface="Calibri"/>
              <a:cs typeface="Calibri"/>
              <a:sym typeface="Calibri"/>
            </a:endParaRPr>
          </a:p>
        </p:txBody>
      </p:sp>
      <p:sp>
        <p:nvSpPr>
          <p:cNvPr id="220" name="Google Shape;220;p5"/>
          <p:cNvSpPr/>
          <p:nvPr/>
        </p:nvSpPr>
        <p:spPr>
          <a:xfrm>
            <a:off x="9144000" y="324612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1" name="Google Shape;221;p5" descr="preencoded.png"/>
          <p:cNvPicPr preferRelativeResize="0"/>
          <p:nvPr/>
        </p:nvPicPr>
        <p:blipFill rotWithShape="1">
          <a:blip r:embed="rId5">
            <a:alphaModFix/>
          </a:blip>
          <a:srcRect/>
          <a:stretch/>
        </p:blipFill>
        <p:spPr>
          <a:xfrm>
            <a:off x="9235440" y="3337560"/>
            <a:ext cx="228600" cy="228600"/>
          </a:xfrm>
          <a:prstGeom prst="rect">
            <a:avLst/>
          </a:prstGeom>
          <a:noFill/>
          <a:ln>
            <a:noFill/>
          </a:ln>
        </p:spPr>
      </p:pic>
      <p:sp>
        <p:nvSpPr>
          <p:cNvPr id="222" name="Google Shape;222;p5"/>
          <p:cNvSpPr/>
          <p:nvPr/>
        </p:nvSpPr>
        <p:spPr>
          <a:xfrm>
            <a:off x="9646920" y="324612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Atención al cliente y gestión de pagos</a:t>
            </a:r>
            <a:endParaRPr sz="1100">
              <a:solidFill>
                <a:schemeClr val="dk1"/>
              </a:solidFill>
              <a:latin typeface="Calibri"/>
              <a:ea typeface="Calibri"/>
              <a:cs typeface="Calibri"/>
              <a:sym typeface="Calibri"/>
            </a:endParaRPr>
          </a:p>
        </p:txBody>
      </p:sp>
      <p:sp>
        <p:nvSpPr>
          <p:cNvPr id="223" name="Google Shape;223;p5"/>
          <p:cNvSpPr/>
          <p:nvPr/>
        </p:nvSpPr>
        <p:spPr>
          <a:xfrm>
            <a:off x="9144000" y="420624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4" name="Google Shape;224;p5" descr="preencoded.png"/>
          <p:cNvPicPr preferRelativeResize="0"/>
          <p:nvPr/>
        </p:nvPicPr>
        <p:blipFill rotWithShape="1">
          <a:blip r:embed="rId5">
            <a:alphaModFix/>
          </a:blip>
          <a:srcRect/>
          <a:stretch/>
        </p:blipFill>
        <p:spPr>
          <a:xfrm>
            <a:off x="9235440" y="4297680"/>
            <a:ext cx="228600" cy="228600"/>
          </a:xfrm>
          <a:prstGeom prst="rect">
            <a:avLst/>
          </a:prstGeom>
          <a:noFill/>
          <a:ln>
            <a:noFill/>
          </a:ln>
        </p:spPr>
      </p:pic>
      <p:sp>
        <p:nvSpPr>
          <p:cNvPr id="225" name="Google Shape;225;p5"/>
          <p:cNvSpPr/>
          <p:nvPr/>
        </p:nvSpPr>
        <p:spPr>
          <a:xfrm>
            <a:off x="9646920" y="420624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Control de stock disponible</a:t>
            </a:r>
            <a:endParaRPr sz="1100">
              <a:solidFill>
                <a:schemeClr val="dk1"/>
              </a:solidFill>
              <a:latin typeface="Calibri"/>
              <a:ea typeface="Calibri"/>
              <a:cs typeface="Calibri"/>
              <a:sym typeface="Calibri"/>
            </a:endParaRPr>
          </a:p>
        </p:txBody>
      </p:sp>
      <p:sp>
        <p:nvSpPr>
          <p:cNvPr id="226" name="Google Shape;226;p5"/>
          <p:cNvSpPr/>
          <p:nvPr/>
        </p:nvSpPr>
        <p:spPr>
          <a:xfrm>
            <a:off x="9144000" y="5166360"/>
            <a:ext cx="411480" cy="4114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7" name="Google Shape;227;p5" descr="preencoded.png"/>
          <p:cNvPicPr preferRelativeResize="0"/>
          <p:nvPr/>
        </p:nvPicPr>
        <p:blipFill rotWithShape="1">
          <a:blip r:embed="rId5">
            <a:alphaModFix/>
          </a:blip>
          <a:srcRect/>
          <a:stretch/>
        </p:blipFill>
        <p:spPr>
          <a:xfrm>
            <a:off x="9235440" y="5257800"/>
            <a:ext cx="228600" cy="228600"/>
          </a:xfrm>
          <a:prstGeom prst="rect">
            <a:avLst/>
          </a:prstGeom>
          <a:noFill/>
          <a:ln>
            <a:noFill/>
          </a:ln>
        </p:spPr>
      </p:pic>
      <p:sp>
        <p:nvSpPr>
          <p:cNvPr id="228" name="Google Shape;228;p5"/>
          <p:cNvSpPr/>
          <p:nvPr/>
        </p:nvSpPr>
        <p:spPr>
          <a:xfrm>
            <a:off x="9646920" y="5166360"/>
            <a:ext cx="23317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Administración general y coordinación de pedidos</a:t>
            </a:r>
            <a:endParaRPr sz="1100">
              <a:solidFill>
                <a:schemeClr val="dk1"/>
              </a:solidFill>
              <a:latin typeface="Calibri"/>
              <a:ea typeface="Calibri"/>
              <a:cs typeface="Calibri"/>
              <a:sym typeface="Calibri"/>
            </a:endParaRPr>
          </a:p>
        </p:txBody>
      </p:sp>
      <p:cxnSp>
        <p:nvCxnSpPr>
          <p:cNvPr id="229" name="Google Shape;229;p5"/>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230" name="Google Shape;230;p5"/>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231" name="Google Shape;231;p5"/>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5 / 28</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6"/>
        <p:cNvGrpSpPr/>
        <p:nvPr/>
      </p:nvGrpSpPr>
      <p:grpSpPr>
        <a:xfrm>
          <a:off x="0" y="0"/>
          <a:ext cx="0" cy="0"/>
          <a:chOff x="0" y="0"/>
          <a:chExt cx="0" cy="0"/>
        </a:xfrm>
      </p:grpSpPr>
      <p:sp>
        <p:nvSpPr>
          <p:cNvPr id="237" name="Google Shape;237;p6"/>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3. Análisis PEST</a:t>
            </a:r>
            <a:endParaRPr sz="3400">
              <a:solidFill>
                <a:schemeClr val="dk1"/>
              </a:solidFill>
              <a:latin typeface="Calibri"/>
              <a:ea typeface="Calibri"/>
              <a:cs typeface="Calibri"/>
              <a:sym typeface="Calibri"/>
            </a:endParaRPr>
          </a:p>
        </p:txBody>
      </p:sp>
      <p:sp>
        <p:nvSpPr>
          <p:cNvPr id="238" name="Google Shape;238;p6"/>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Factores Políticos · Económicos · Sociales · Tecnológicos</a:t>
            </a:r>
            <a:endParaRPr sz="1300">
              <a:solidFill>
                <a:schemeClr val="dk1"/>
              </a:solidFill>
              <a:latin typeface="Calibri"/>
              <a:ea typeface="Calibri"/>
              <a:cs typeface="Calibri"/>
              <a:sym typeface="Calibri"/>
            </a:endParaRPr>
          </a:p>
        </p:txBody>
      </p:sp>
      <p:pic>
        <p:nvPicPr>
          <p:cNvPr id="239" name="Google Shape;239;p6" descr="assets/pest.jpg"/>
          <p:cNvPicPr preferRelativeResize="0"/>
          <p:nvPr/>
        </p:nvPicPr>
        <p:blipFill rotWithShape="1">
          <a:blip r:embed="rId3">
            <a:alphaModFix/>
          </a:blip>
          <a:srcRect/>
          <a:stretch/>
        </p:blipFill>
        <p:spPr>
          <a:xfrm>
            <a:off x="1097280" y="1783080"/>
            <a:ext cx="9966960" cy="4434840"/>
          </a:xfrm>
          <a:prstGeom prst="rect">
            <a:avLst/>
          </a:prstGeom>
          <a:noFill/>
          <a:ln>
            <a:noFill/>
          </a:ln>
        </p:spPr>
      </p:pic>
      <p:sp>
        <p:nvSpPr>
          <p:cNvPr id="240" name="Google Shape;240;p6"/>
          <p:cNvSpPr/>
          <p:nvPr/>
        </p:nvSpPr>
        <p:spPr>
          <a:xfrm>
            <a:off x="457200" y="626364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Figura 3.1. Análisis PEST Minimarket Antucayen.</a:t>
            </a:r>
            <a:endParaRPr sz="1000">
              <a:solidFill>
                <a:schemeClr val="dk1"/>
              </a:solidFill>
              <a:latin typeface="Calibri"/>
              <a:ea typeface="Calibri"/>
              <a:cs typeface="Calibri"/>
              <a:sym typeface="Calibri"/>
            </a:endParaRPr>
          </a:p>
        </p:txBody>
      </p:sp>
      <p:cxnSp>
        <p:nvCxnSpPr>
          <p:cNvPr id="241" name="Google Shape;241;p6"/>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242" name="Google Shape;242;p6"/>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243" name="Google Shape;243;p6"/>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6 / 28</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8"/>
        <p:cNvGrpSpPr/>
        <p:nvPr/>
      </p:nvGrpSpPr>
      <p:grpSpPr>
        <a:xfrm>
          <a:off x="0" y="0"/>
          <a:ext cx="0" cy="0"/>
          <a:chOff x="0" y="0"/>
          <a:chExt cx="0" cy="0"/>
        </a:xfrm>
      </p:grpSpPr>
      <p:sp>
        <p:nvSpPr>
          <p:cNvPr id="249" name="Google Shape;249;p7"/>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3. Cinco Fuerzas de Porter</a:t>
            </a:r>
            <a:endParaRPr sz="3400">
              <a:solidFill>
                <a:schemeClr val="dk1"/>
              </a:solidFill>
              <a:latin typeface="Calibri"/>
              <a:ea typeface="Calibri"/>
              <a:cs typeface="Calibri"/>
              <a:sym typeface="Calibri"/>
            </a:endParaRPr>
          </a:p>
        </p:txBody>
      </p:sp>
      <p:sp>
        <p:nvSpPr>
          <p:cNvPr id="250" name="Google Shape;250;p7"/>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Rivalidad · Entrantes · Proveedores · Clientes · Sustitutos</a:t>
            </a:r>
            <a:endParaRPr sz="1300">
              <a:solidFill>
                <a:schemeClr val="dk1"/>
              </a:solidFill>
              <a:latin typeface="Calibri"/>
              <a:ea typeface="Calibri"/>
              <a:cs typeface="Calibri"/>
              <a:sym typeface="Calibri"/>
            </a:endParaRPr>
          </a:p>
        </p:txBody>
      </p:sp>
      <p:pic>
        <p:nvPicPr>
          <p:cNvPr id="251" name="Google Shape;251;p7" descr="assets/porter.jpg"/>
          <p:cNvPicPr preferRelativeResize="0"/>
          <p:nvPr/>
        </p:nvPicPr>
        <p:blipFill rotWithShape="1">
          <a:blip r:embed="rId3">
            <a:alphaModFix/>
          </a:blip>
          <a:srcRect/>
          <a:stretch/>
        </p:blipFill>
        <p:spPr>
          <a:xfrm>
            <a:off x="1097280" y="1783080"/>
            <a:ext cx="9966960" cy="4434840"/>
          </a:xfrm>
          <a:prstGeom prst="rect">
            <a:avLst/>
          </a:prstGeom>
          <a:noFill/>
          <a:ln>
            <a:noFill/>
          </a:ln>
        </p:spPr>
      </p:pic>
      <p:sp>
        <p:nvSpPr>
          <p:cNvPr id="252" name="Google Shape;252;p7"/>
          <p:cNvSpPr/>
          <p:nvPr/>
        </p:nvSpPr>
        <p:spPr>
          <a:xfrm>
            <a:off x="457200" y="626364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Figura 3.2. Fuerzas de Porter Minimarket Antucayen.</a:t>
            </a:r>
            <a:endParaRPr sz="1000">
              <a:solidFill>
                <a:schemeClr val="dk1"/>
              </a:solidFill>
              <a:latin typeface="Calibri"/>
              <a:ea typeface="Calibri"/>
              <a:cs typeface="Calibri"/>
              <a:sym typeface="Calibri"/>
            </a:endParaRPr>
          </a:p>
        </p:txBody>
      </p:sp>
      <p:cxnSp>
        <p:nvCxnSpPr>
          <p:cNvPr id="253" name="Google Shape;253;p7"/>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254" name="Google Shape;254;p7"/>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255" name="Google Shape;255;p7"/>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7 / 28</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0"/>
        <p:cNvGrpSpPr/>
        <p:nvPr/>
      </p:nvGrpSpPr>
      <p:grpSpPr>
        <a:xfrm>
          <a:off x="0" y="0"/>
          <a:ext cx="0" cy="0"/>
          <a:chOff x="0" y="0"/>
          <a:chExt cx="0" cy="0"/>
        </a:xfrm>
      </p:grpSpPr>
      <p:sp>
        <p:nvSpPr>
          <p:cNvPr id="261" name="Google Shape;261;p8"/>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3. Cadena de Valor</a:t>
            </a:r>
            <a:endParaRPr sz="3400">
              <a:solidFill>
                <a:schemeClr val="dk1"/>
              </a:solidFill>
              <a:latin typeface="Calibri"/>
              <a:ea typeface="Calibri"/>
              <a:cs typeface="Calibri"/>
              <a:sym typeface="Calibri"/>
            </a:endParaRPr>
          </a:p>
        </p:txBody>
      </p:sp>
      <p:sp>
        <p:nvSpPr>
          <p:cNvPr id="262" name="Google Shape;262;p8"/>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Actividades primarias y de apoyo</a:t>
            </a:r>
            <a:endParaRPr sz="1300">
              <a:solidFill>
                <a:schemeClr val="dk1"/>
              </a:solidFill>
              <a:latin typeface="Calibri"/>
              <a:ea typeface="Calibri"/>
              <a:cs typeface="Calibri"/>
              <a:sym typeface="Calibri"/>
            </a:endParaRPr>
          </a:p>
        </p:txBody>
      </p:sp>
      <p:pic>
        <p:nvPicPr>
          <p:cNvPr id="263" name="Google Shape;263;p8" descr="assets/cadena_valor.png"/>
          <p:cNvPicPr preferRelativeResize="0"/>
          <p:nvPr/>
        </p:nvPicPr>
        <p:blipFill rotWithShape="1">
          <a:blip r:embed="rId3">
            <a:alphaModFix/>
          </a:blip>
          <a:srcRect/>
          <a:stretch/>
        </p:blipFill>
        <p:spPr>
          <a:xfrm>
            <a:off x="1097280" y="1783080"/>
            <a:ext cx="9966960" cy="4434840"/>
          </a:xfrm>
          <a:prstGeom prst="rect">
            <a:avLst/>
          </a:prstGeom>
          <a:noFill/>
          <a:ln>
            <a:noFill/>
          </a:ln>
        </p:spPr>
      </p:pic>
      <p:sp>
        <p:nvSpPr>
          <p:cNvPr id="264" name="Google Shape;264;p8"/>
          <p:cNvSpPr/>
          <p:nvPr/>
        </p:nvSpPr>
        <p:spPr>
          <a:xfrm>
            <a:off x="457200" y="626364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Figura 3.3. Cadena de Valor Minimarket Antucayen.</a:t>
            </a:r>
            <a:endParaRPr sz="1000">
              <a:solidFill>
                <a:schemeClr val="dk1"/>
              </a:solidFill>
              <a:latin typeface="Calibri"/>
              <a:ea typeface="Calibri"/>
              <a:cs typeface="Calibri"/>
              <a:sym typeface="Calibri"/>
            </a:endParaRPr>
          </a:p>
        </p:txBody>
      </p:sp>
      <p:cxnSp>
        <p:nvCxnSpPr>
          <p:cNvPr id="265" name="Google Shape;265;p8"/>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266" name="Google Shape;266;p8"/>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267" name="Google Shape;267;p8"/>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8 / 28</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sp>
        <p:nvSpPr>
          <p:cNvPr id="273" name="Google Shape;273;p9"/>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3. Análisis FODA</a:t>
            </a:r>
            <a:endParaRPr sz="3400">
              <a:solidFill>
                <a:schemeClr val="dk1"/>
              </a:solidFill>
              <a:latin typeface="Calibri"/>
              <a:ea typeface="Calibri"/>
              <a:cs typeface="Calibri"/>
              <a:sym typeface="Calibri"/>
            </a:endParaRPr>
          </a:p>
        </p:txBody>
      </p:sp>
      <p:sp>
        <p:nvSpPr>
          <p:cNvPr id="274" name="Google Shape;274;p9"/>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Minimarket Antucayen</a:t>
            </a:r>
            <a:endParaRPr sz="1300">
              <a:solidFill>
                <a:schemeClr val="dk1"/>
              </a:solidFill>
              <a:latin typeface="Calibri"/>
              <a:ea typeface="Calibri"/>
              <a:cs typeface="Calibri"/>
              <a:sym typeface="Calibri"/>
            </a:endParaRPr>
          </a:p>
        </p:txBody>
      </p:sp>
      <p:sp>
        <p:nvSpPr>
          <p:cNvPr id="275" name="Google Shape;275;p9"/>
          <p:cNvSpPr/>
          <p:nvPr/>
        </p:nvSpPr>
        <p:spPr>
          <a:xfrm>
            <a:off x="457200" y="1737360"/>
            <a:ext cx="5394960" cy="50292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76" name="Google Shape;276;p9" descr="preencoded.png"/>
          <p:cNvPicPr preferRelativeResize="0"/>
          <p:nvPr/>
        </p:nvPicPr>
        <p:blipFill rotWithShape="1">
          <a:blip r:embed="rId3">
            <a:alphaModFix/>
          </a:blip>
          <a:srcRect/>
          <a:stretch/>
        </p:blipFill>
        <p:spPr>
          <a:xfrm>
            <a:off x="640080" y="1828800"/>
            <a:ext cx="320040" cy="320040"/>
          </a:xfrm>
          <a:prstGeom prst="rect">
            <a:avLst/>
          </a:prstGeom>
          <a:noFill/>
          <a:ln>
            <a:noFill/>
          </a:ln>
        </p:spPr>
      </p:pic>
      <p:sp>
        <p:nvSpPr>
          <p:cNvPr id="277" name="Google Shape;277;p9"/>
          <p:cNvSpPr/>
          <p:nvPr/>
        </p:nvSpPr>
        <p:spPr>
          <a:xfrm>
            <a:off x="1097280" y="1801368"/>
            <a:ext cx="41148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FORTALEZAS</a:t>
            </a:r>
            <a:endParaRPr sz="1400">
              <a:solidFill>
                <a:schemeClr val="dk1"/>
              </a:solidFill>
              <a:latin typeface="Calibri"/>
              <a:ea typeface="Calibri"/>
              <a:cs typeface="Calibri"/>
              <a:sym typeface="Calibri"/>
            </a:endParaRPr>
          </a:p>
        </p:txBody>
      </p:sp>
      <p:sp>
        <p:nvSpPr>
          <p:cNvPr id="278" name="Google Shape;278;p9"/>
          <p:cNvSpPr/>
          <p:nvPr/>
        </p:nvSpPr>
        <p:spPr>
          <a:xfrm>
            <a:off x="457200" y="2240280"/>
            <a:ext cx="5394960" cy="182880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9"/>
          <p:cNvSpPr/>
          <p:nvPr/>
        </p:nvSpPr>
        <p:spPr>
          <a:xfrm>
            <a:off x="731520" y="2377440"/>
            <a:ext cx="4937760" cy="16459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Ubicación estratégica en zona residencial</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Conocimiento directo del negocio por el administrador</a:t>
            </a:r>
            <a:endParaRPr sz="1250">
              <a:solidFill>
                <a:schemeClr val="dk1"/>
              </a:solidFill>
              <a:latin typeface="Calibri"/>
              <a:ea typeface="Calibri"/>
              <a:cs typeface="Calibri"/>
              <a:sym typeface="Calibri"/>
            </a:endParaRPr>
          </a:p>
        </p:txBody>
      </p:sp>
      <p:sp>
        <p:nvSpPr>
          <p:cNvPr id="280" name="Google Shape;280;p9"/>
          <p:cNvSpPr/>
          <p:nvPr/>
        </p:nvSpPr>
        <p:spPr>
          <a:xfrm>
            <a:off x="6327648" y="1737360"/>
            <a:ext cx="5394960" cy="50292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1" name="Google Shape;281;p9" descr="preencoded.png"/>
          <p:cNvPicPr preferRelativeResize="0"/>
          <p:nvPr/>
        </p:nvPicPr>
        <p:blipFill rotWithShape="1">
          <a:blip r:embed="rId4">
            <a:alphaModFix/>
          </a:blip>
          <a:srcRect/>
          <a:stretch/>
        </p:blipFill>
        <p:spPr>
          <a:xfrm>
            <a:off x="6510528" y="1828800"/>
            <a:ext cx="320040" cy="320040"/>
          </a:xfrm>
          <a:prstGeom prst="rect">
            <a:avLst/>
          </a:prstGeom>
          <a:noFill/>
          <a:ln>
            <a:noFill/>
          </a:ln>
        </p:spPr>
      </p:pic>
      <p:sp>
        <p:nvSpPr>
          <p:cNvPr id="282" name="Google Shape;282;p9"/>
          <p:cNvSpPr/>
          <p:nvPr/>
        </p:nvSpPr>
        <p:spPr>
          <a:xfrm>
            <a:off x="6967728" y="1801368"/>
            <a:ext cx="41148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OPORTUNIDADES</a:t>
            </a:r>
            <a:endParaRPr sz="1400">
              <a:solidFill>
                <a:schemeClr val="dk1"/>
              </a:solidFill>
              <a:latin typeface="Calibri"/>
              <a:ea typeface="Calibri"/>
              <a:cs typeface="Calibri"/>
              <a:sym typeface="Calibri"/>
            </a:endParaRPr>
          </a:p>
        </p:txBody>
      </p:sp>
      <p:sp>
        <p:nvSpPr>
          <p:cNvPr id="283" name="Google Shape;283;p9"/>
          <p:cNvSpPr/>
          <p:nvPr/>
        </p:nvSpPr>
        <p:spPr>
          <a:xfrm>
            <a:off x="6327648" y="2240280"/>
            <a:ext cx="5394960" cy="182880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9"/>
          <p:cNvSpPr/>
          <p:nvPr/>
        </p:nvSpPr>
        <p:spPr>
          <a:xfrm>
            <a:off x="6601968" y="2377440"/>
            <a:ext cx="4937760" cy="16459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Adopción de tecnologías de software</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Escalabilidad (futura facturación electrónica SII)</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Crecimiento del comercio de barrio</a:t>
            </a:r>
            <a:endParaRPr sz="1250">
              <a:solidFill>
                <a:schemeClr val="dk1"/>
              </a:solidFill>
              <a:latin typeface="Calibri"/>
              <a:ea typeface="Calibri"/>
              <a:cs typeface="Calibri"/>
              <a:sym typeface="Calibri"/>
            </a:endParaRPr>
          </a:p>
        </p:txBody>
      </p:sp>
      <p:sp>
        <p:nvSpPr>
          <p:cNvPr id="285" name="Google Shape;285;p9"/>
          <p:cNvSpPr/>
          <p:nvPr/>
        </p:nvSpPr>
        <p:spPr>
          <a:xfrm>
            <a:off x="457200" y="4069080"/>
            <a:ext cx="5394960" cy="5029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6" name="Google Shape;286;p9" descr="preencoded.png"/>
          <p:cNvPicPr preferRelativeResize="0"/>
          <p:nvPr/>
        </p:nvPicPr>
        <p:blipFill rotWithShape="1">
          <a:blip r:embed="rId5">
            <a:alphaModFix/>
          </a:blip>
          <a:srcRect/>
          <a:stretch/>
        </p:blipFill>
        <p:spPr>
          <a:xfrm>
            <a:off x="640080" y="4160520"/>
            <a:ext cx="320040" cy="320040"/>
          </a:xfrm>
          <a:prstGeom prst="rect">
            <a:avLst/>
          </a:prstGeom>
          <a:noFill/>
          <a:ln>
            <a:noFill/>
          </a:ln>
        </p:spPr>
      </p:pic>
      <p:sp>
        <p:nvSpPr>
          <p:cNvPr id="287" name="Google Shape;287;p9"/>
          <p:cNvSpPr/>
          <p:nvPr/>
        </p:nvSpPr>
        <p:spPr>
          <a:xfrm>
            <a:off x="1097280" y="4133088"/>
            <a:ext cx="41148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DEBILIDADES</a:t>
            </a:r>
            <a:endParaRPr sz="1400">
              <a:solidFill>
                <a:schemeClr val="dk1"/>
              </a:solidFill>
              <a:latin typeface="Calibri"/>
              <a:ea typeface="Calibri"/>
              <a:cs typeface="Calibri"/>
              <a:sym typeface="Calibri"/>
            </a:endParaRPr>
          </a:p>
        </p:txBody>
      </p:sp>
      <p:sp>
        <p:nvSpPr>
          <p:cNvPr id="288" name="Google Shape;288;p9"/>
          <p:cNvSpPr/>
          <p:nvPr/>
        </p:nvSpPr>
        <p:spPr>
          <a:xfrm>
            <a:off x="457200" y="4572000"/>
            <a:ext cx="5394960" cy="182880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9" name="Google Shape;289;p9"/>
          <p:cNvSpPr/>
          <p:nvPr/>
        </p:nvSpPr>
        <p:spPr>
          <a:xfrm>
            <a:off x="731520" y="4709160"/>
            <a:ext cx="4937760" cy="16459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Procesos manuales ineficientes</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Errores de digitación en precios y cantidades</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Ausencia de estándar entre códigos y SKU</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Baja trazabilidad de movimientos</a:t>
            </a:r>
            <a:endParaRPr sz="1250">
              <a:solidFill>
                <a:schemeClr val="dk1"/>
              </a:solidFill>
              <a:latin typeface="Calibri"/>
              <a:ea typeface="Calibri"/>
              <a:cs typeface="Calibri"/>
              <a:sym typeface="Calibri"/>
            </a:endParaRPr>
          </a:p>
        </p:txBody>
      </p:sp>
      <p:sp>
        <p:nvSpPr>
          <p:cNvPr id="290" name="Google Shape;290;p9"/>
          <p:cNvSpPr/>
          <p:nvPr/>
        </p:nvSpPr>
        <p:spPr>
          <a:xfrm>
            <a:off x="6327648" y="4069080"/>
            <a:ext cx="5394960" cy="502920"/>
          </a:xfrm>
          <a:prstGeom prst="rect">
            <a:avLst/>
          </a:prstGeom>
          <a:solidFill>
            <a:srgbClr val="D640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91" name="Google Shape;291;p9" descr="preencoded.png"/>
          <p:cNvPicPr preferRelativeResize="0"/>
          <p:nvPr/>
        </p:nvPicPr>
        <p:blipFill rotWithShape="1">
          <a:blip r:embed="rId6">
            <a:alphaModFix/>
          </a:blip>
          <a:srcRect/>
          <a:stretch/>
        </p:blipFill>
        <p:spPr>
          <a:xfrm>
            <a:off x="6510528" y="4160520"/>
            <a:ext cx="320040" cy="320040"/>
          </a:xfrm>
          <a:prstGeom prst="rect">
            <a:avLst/>
          </a:prstGeom>
          <a:noFill/>
          <a:ln>
            <a:noFill/>
          </a:ln>
        </p:spPr>
      </p:pic>
      <p:sp>
        <p:nvSpPr>
          <p:cNvPr id="292" name="Google Shape;292;p9"/>
          <p:cNvSpPr/>
          <p:nvPr/>
        </p:nvSpPr>
        <p:spPr>
          <a:xfrm>
            <a:off x="6967728" y="4133088"/>
            <a:ext cx="41148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AMENAZAS</a:t>
            </a:r>
            <a:endParaRPr sz="1400">
              <a:solidFill>
                <a:schemeClr val="dk1"/>
              </a:solidFill>
              <a:latin typeface="Calibri"/>
              <a:ea typeface="Calibri"/>
              <a:cs typeface="Calibri"/>
              <a:sym typeface="Calibri"/>
            </a:endParaRPr>
          </a:p>
        </p:txBody>
      </p:sp>
      <p:sp>
        <p:nvSpPr>
          <p:cNvPr id="293" name="Google Shape;293;p9"/>
          <p:cNvSpPr/>
          <p:nvPr/>
        </p:nvSpPr>
        <p:spPr>
          <a:xfrm>
            <a:off x="6327648" y="4572000"/>
            <a:ext cx="5394960" cy="182880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9"/>
          <p:cNvSpPr/>
          <p:nvPr/>
        </p:nvSpPr>
        <p:spPr>
          <a:xfrm>
            <a:off x="6601968" y="4709160"/>
            <a:ext cx="4937760" cy="16459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Competencia de supermercados y tiendas automatizadas</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Inflación y fluctuación de precios de proveedores</a:t>
            </a:r>
            <a:endParaRPr sz="1250">
              <a:solidFill>
                <a:schemeClr val="dk1"/>
              </a:solidFill>
              <a:latin typeface="Calibri"/>
              <a:ea typeface="Calibri"/>
              <a:cs typeface="Calibri"/>
              <a:sym typeface="Calibri"/>
            </a:endParaRPr>
          </a:p>
          <a:p>
            <a:pPr marL="342900" marR="0" lvl="0" indent="-342900" algn="l" rtl="0">
              <a:spcBef>
                <a:spcPts val="500"/>
              </a:spcBef>
              <a:spcAft>
                <a:spcPts val="0"/>
              </a:spcAft>
              <a:buClr>
                <a:srgbClr val="1F2A26"/>
              </a:buClr>
              <a:buSzPts val="1250"/>
              <a:buFont typeface="Calibri"/>
              <a:buChar char="▪"/>
            </a:pPr>
            <a:r>
              <a:rPr lang="en-US" sz="1250">
                <a:solidFill>
                  <a:srgbClr val="1F2A26"/>
                </a:solidFill>
                <a:latin typeface="Calibri"/>
                <a:ea typeface="Calibri"/>
                <a:cs typeface="Calibri"/>
                <a:sym typeface="Calibri"/>
              </a:rPr>
              <a:t>Riesgo de quiebre de stock y pérdida de ventas</a:t>
            </a:r>
            <a:endParaRPr sz="1250">
              <a:solidFill>
                <a:schemeClr val="dk1"/>
              </a:solidFill>
              <a:latin typeface="Calibri"/>
              <a:ea typeface="Calibri"/>
              <a:cs typeface="Calibri"/>
              <a:sym typeface="Calibri"/>
            </a:endParaRPr>
          </a:p>
        </p:txBody>
      </p:sp>
      <p:cxnSp>
        <p:nvCxnSpPr>
          <p:cNvPr id="295" name="Google Shape;295;p9"/>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296" name="Google Shape;296;p9"/>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297" name="Google Shape;297;p9"/>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9 / 28</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2"/>
        <p:cNvGrpSpPr/>
        <p:nvPr/>
      </p:nvGrpSpPr>
      <p:grpSpPr>
        <a:xfrm>
          <a:off x="0" y="0"/>
          <a:ext cx="0" cy="0"/>
          <a:chOff x="0" y="0"/>
          <a:chExt cx="0" cy="0"/>
        </a:xfrm>
      </p:grpSpPr>
      <p:sp>
        <p:nvSpPr>
          <p:cNvPr id="303" name="Google Shape;303;p10"/>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4. Levantamiento de procesos inicial</a:t>
            </a:r>
            <a:endParaRPr sz="3400">
              <a:solidFill>
                <a:schemeClr val="dk1"/>
              </a:solidFill>
              <a:latin typeface="Calibri"/>
              <a:ea typeface="Calibri"/>
              <a:cs typeface="Calibri"/>
              <a:sym typeface="Calibri"/>
            </a:endParaRPr>
          </a:p>
        </p:txBody>
      </p:sp>
      <p:sp>
        <p:nvSpPr>
          <p:cNvPr id="304" name="Google Shape;304;p10"/>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Notación BPMN · Recepción de mercadería (herramienta Bizagi)</a:t>
            </a:r>
            <a:endParaRPr sz="1300">
              <a:solidFill>
                <a:schemeClr val="dk1"/>
              </a:solidFill>
              <a:latin typeface="Calibri"/>
              <a:ea typeface="Calibri"/>
              <a:cs typeface="Calibri"/>
              <a:sym typeface="Calibri"/>
            </a:endParaRPr>
          </a:p>
        </p:txBody>
      </p:sp>
      <p:pic>
        <p:nvPicPr>
          <p:cNvPr id="305" name="Google Shape;305;p10" descr="assets/bpmn.jpg"/>
          <p:cNvPicPr preferRelativeResize="0"/>
          <p:nvPr/>
        </p:nvPicPr>
        <p:blipFill rotWithShape="1">
          <a:blip r:embed="rId3">
            <a:alphaModFix/>
          </a:blip>
          <a:srcRect/>
          <a:stretch/>
        </p:blipFill>
        <p:spPr>
          <a:xfrm>
            <a:off x="1097280" y="1783080"/>
            <a:ext cx="9966960" cy="4434840"/>
          </a:xfrm>
          <a:prstGeom prst="rect">
            <a:avLst/>
          </a:prstGeom>
          <a:noFill/>
          <a:ln>
            <a:noFill/>
          </a:ln>
        </p:spPr>
      </p:pic>
      <p:sp>
        <p:nvSpPr>
          <p:cNvPr id="306" name="Google Shape;306;p10"/>
          <p:cNvSpPr/>
          <p:nvPr/>
        </p:nvSpPr>
        <p:spPr>
          <a:xfrm>
            <a:off x="457200" y="626364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Figura 4.1. Levantamiento de procesos inicial – BIZAGI.</a:t>
            </a:r>
            <a:endParaRPr sz="1000">
              <a:solidFill>
                <a:schemeClr val="dk1"/>
              </a:solidFill>
              <a:latin typeface="Calibri"/>
              <a:ea typeface="Calibri"/>
              <a:cs typeface="Calibri"/>
              <a:sym typeface="Calibri"/>
            </a:endParaRPr>
          </a:p>
        </p:txBody>
      </p:sp>
      <p:cxnSp>
        <p:nvCxnSpPr>
          <p:cNvPr id="307" name="Google Shape;307;p10"/>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308" name="Google Shape;308;p10"/>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309" name="Google Shape;309;p10"/>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10 / 28</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4"/>
        <p:cNvGrpSpPr/>
        <p:nvPr/>
      </p:nvGrpSpPr>
      <p:grpSpPr>
        <a:xfrm>
          <a:off x="0" y="0"/>
          <a:ext cx="0" cy="0"/>
          <a:chOff x="0" y="0"/>
          <a:chExt cx="0" cy="0"/>
        </a:xfrm>
      </p:grpSpPr>
      <p:sp>
        <p:nvSpPr>
          <p:cNvPr id="315" name="Google Shape;315;p11"/>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4.1 Análisis técnico del proceso</a:t>
            </a:r>
            <a:endParaRPr sz="3400">
              <a:solidFill>
                <a:schemeClr val="dk1"/>
              </a:solidFill>
              <a:latin typeface="Calibri"/>
              <a:ea typeface="Calibri"/>
              <a:cs typeface="Calibri"/>
              <a:sym typeface="Calibri"/>
            </a:endParaRPr>
          </a:p>
        </p:txBody>
      </p:sp>
      <p:sp>
        <p:nvSpPr>
          <p:cNvPr id="316" name="Google Shape;316;p11"/>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Gateways · cuellos de botella · oportunidades de automatización</a:t>
            </a:r>
            <a:endParaRPr sz="1300">
              <a:solidFill>
                <a:schemeClr val="dk1"/>
              </a:solidFill>
              <a:latin typeface="Calibri"/>
              <a:ea typeface="Calibri"/>
              <a:cs typeface="Calibri"/>
              <a:sym typeface="Calibri"/>
            </a:endParaRPr>
          </a:p>
        </p:txBody>
      </p:sp>
      <p:sp>
        <p:nvSpPr>
          <p:cNvPr id="317" name="Google Shape;317;p11"/>
          <p:cNvSpPr/>
          <p:nvPr/>
        </p:nvSpPr>
        <p:spPr>
          <a:xfrm>
            <a:off x="457200" y="1737360"/>
            <a:ext cx="3657600" cy="86868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11"/>
          <p:cNvSpPr/>
          <p:nvPr/>
        </p:nvSpPr>
        <p:spPr>
          <a:xfrm>
            <a:off x="640080" y="1901952"/>
            <a:ext cx="548640" cy="548640"/>
          </a:xfrm>
          <a:prstGeom prst="ellipse">
            <a:avLst/>
          </a:prstGeom>
          <a:solidFill>
            <a:srgbClr val="FFFFFF">
              <a:alpha val="2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19" name="Google Shape;319;p11" descr="preencoded.png"/>
          <p:cNvPicPr preferRelativeResize="0"/>
          <p:nvPr/>
        </p:nvPicPr>
        <p:blipFill rotWithShape="1">
          <a:blip r:embed="rId3">
            <a:alphaModFix/>
          </a:blip>
          <a:srcRect/>
          <a:stretch/>
        </p:blipFill>
        <p:spPr>
          <a:xfrm>
            <a:off x="749808" y="2011680"/>
            <a:ext cx="329184" cy="329184"/>
          </a:xfrm>
          <a:prstGeom prst="rect">
            <a:avLst/>
          </a:prstGeom>
          <a:noFill/>
          <a:ln>
            <a:noFill/>
          </a:ln>
        </p:spPr>
      </p:pic>
      <p:sp>
        <p:nvSpPr>
          <p:cNvPr id="320" name="Google Shape;320;p11"/>
          <p:cNvSpPr/>
          <p:nvPr/>
        </p:nvSpPr>
        <p:spPr>
          <a:xfrm>
            <a:off x="1325880" y="1847088"/>
            <a:ext cx="26974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50"/>
              <a:buFont typeface="Georgia"/>
              <a:buNone/>
            </a:pPr>
            <a:r>
              <a:rPr lang="en-US" sz="1450" b="1">
                <a:solidFill>
                  <a:srgbClr val="FFFFFF"/>
                </a:solidFill>
                <a:latin typeface="Georgia"/>
                <a:ea typeface="Georgia"/>
                <a:cs typeface="Georgia"/>
                <a:sym typeface="Georgia"/>
              </a:rPr>
              <a:t>Puntos de decisión</a:t>
            </a:r>
            <a:endParaRPr sz="1450">
              <a:solidFill>
                <a:schemeClr val="dk1"/>
              </a:solidFill>
              <a:latin typeface="Calibri"/>
              <a:ea typeface="Calibri"/>
              <a:cs typeface="Calibri"/>
              <a:sym typeface="Calibri"/>
            </a:endParaRPr>
          </a:p>
        </p:txBody>
      </p:sp>
      <p:sp>
        <p:nvSpPr>
          <p:cNvPr id="321" name="Google Shape;321;p11"/>
          <p:cNvSpPr/>
          <p:nvPr/>
        </p:nvSpPr>
        <p:spPr>
          <a:xfrm>
            <a:off x="1325880" y="219456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050"/>
              <a:buFont typeface="Georgia"/>
              <a:buNone/>
            </a:pPr>
            <a:r>
              <a:rPr lang="en-US" sz="1050" i="1">
                <a:solidFill>
                  <a:srgbClr val="E8963C"/>
                </a:solidFill>
                <a:latin typeface="Georgia"/>
                <a:ea typeface="Georgia"/>
                <a:cs typeface="Georgia"/>
                <a:sym typeface="Georgia"/>
              </a:rPr>
              <a:t>3 gateways exclusivos</a:t>
            </a:r>
            <a:endParaRPr sz="1050">
              <a:solidFill>
                <a:schemeClr val="dk1"/>
              </a:solidFill>
              <a:latin typeface="Calibri"/>
              <a:ea typeface="Calibri"/>
              <a:cs typeface="Calibri"/>
              <a:sym typeface="Calibri"/>
            </a:endParaRPr>
          </a:p>
        </p:txBody>
      </p:sp>
      <p:sp>
        <p:nvSpPr>
          <p:cNvPr id="322" name="Google Shape;322;p11"/>
          <p:cNvSpPr/>
          <p:nvPr/>
        </p:nvSpPr>
        <p:spPr>
          <a:xfrm>
            <a:off x="457200" y="2606040"/>
            <a:ext cx="3657600" cy="32461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11"/>
          <p:cNvSpPr/>
          <p:nvPr/>
        </p:nvSpPr>
        <p:spPr>
          <a:xfrm>
            <a:off x="685800" y="2743200"/>
            <a:ext cx="3246120" cy="30175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¿código = SKU?  →  registro directo o búsqueda de equivalencia</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¿existe equivalencia?  →  actualiza stock o registra observación</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¿recepción conforme?  →  cierre normal o retorno con errores</a:t>
            </a:r>
            <a:endParaRPr sz="1100">
              <a:solidFill>
                <a:schemeClr val="dk1"/>
              </a:solidFill>
              <a:latin typeface="Calibri"/>
              <a:ea typeface="Calibri"/>
              <a:cs typeface="Calibri"/>
              <a:sym typeface="Calibri"/>
            </a:endParaRPr>
          </a:p>
        </p:txBody>
      </p:sp>
      <p:sp>
        <p:nvSpPr>
          <p:cNvPr id="324" name="Google Shape;324;p11"/>
          <p:cNvSpPr/>
          <p:nvPr/>
        </p:nvSpPr>
        <p:spPr>
          <a:xfrm>
            <a:off x="4279392" y="1737360"/>
            <a:ext cx="3657600" cy="868680"/>
          </a:xfrm>
          <a:prstGeom prst="rect">
            <a:avLst/>
          </a:prstGeom>
          <a:solidFill>
            <a:srgbClr val="D640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11"/>
          <p:cNvSpPr/>
          <p:nvPr/>
        </p:nvSpPr>
        <p:spPr>
          <a:xfrm>
            <a:off x="4462272" y="1901952"/>
            <a:ext cx="548640" cy="548640"/>
          </a:xfrm>
          <a:prstGeom prst="ellipse">
            <a:avLst/>
          </a:prstGeom>
          <a:solidFill>
            <a:srgbClr val="FFFFFF">
              <a:alpha val="2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26" name="Google Shape;326;p11" descr="preencoded.png"/>
          <p:cNvPicPr preferRelativeResize="0"/>
          <p:nvPr/>
        </p:nvPicPr>
        <p:blipFill rotWithShape="1">
          <a:blip r:embed="rId4">
            <a:alphaModFix/>
          </a:blip>
          <a:srcRect/>
          <a:stretch/>
        </p:blipFill>
        <p:spPr>
          <a:xfrm>
            <a:off x="4572000" y="2011680"/>
            <a:ext cx="329184" cy="329184"/>
          </a:xfrm>
          <a:prstGeom prst="rect">
            <a:avLst/>
          </a:prstGeom>
          <a:noFill/>
          <a:ln>
            <a:noFill/>
          </a:ln>
        </p:spPr>
      </p:pic>
      <p:sp>
        <p:nvSpPr>
          <p:cNvPr id="327" name="Google Shape;327;p11"/>
          <p:cNvSpPr/>
          <p:nvPr/>
        </p:nvSpPr>
        <p:spPr>
          <a:xfrm>
            <a:off x="5148072" y="1847088"/>
            <a:ext cx="26974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50"/>
              <a:buFont typeface="Georgia"/>
              <a:buNone/>
            </a:pPr>
            <a:r>
              <a:rPr lang="en-US" sz="1450" b="1">
                <a:solidFill>
                  <a:srgbClr val="FFFFFF"/>
                </a:solidFill>
                <a:latin typeface="Georgia"/>
                <a:ea typeface="Georgia"/>
                <a:cs typeface="Georgia"/>
                <a:sym typeface="Georgia"/>
              </a:rPr>
              <a:t>Cuellos de botella</a:t>
            </a:r>
            <a:endParaRPr sz="1450">
              <a:solidFill>
                <a:schemeClr val="dk1"/>
              </a:solidFill>
              <a:latin typeface="Calibri"/>
              <a:ea typeface="Calibri"/>
              <a:cs typeface="Calibri"/>
              <a:sym typeface="Calibri"/>
            </a:endParaRPr>
          </a:p>
        </p:txBody>
      </p:sp>
      <p:sp>
        <p:nvSpPr>
          <p:cNvPr id="328" name="Google Shape;328;p11"/>
          <p:cNvSpPr/>
          <p:nvPr/>
        </p:nvSpPr>
        <p:spPr>
          <a:xfrm>
            <a:off x="5148072" y="219456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050"/>
              <a:buFont typeface="Georgia"/>
              <a:buNone/>
            </a:pPr>
            <a:r>
              <a:rPr lang="en-US" sz="1050" i="1">
                <a:solidFill>
                  <a:srgbClr val="E8963C"/>
                </a:solidFill>
                <a:latin typeface="Georgia"/>
                <a:ea typeface="Georgia"/>
                <a:cs typeface="Georgia"/>
                <a:sym typeface="Georgia"/>
              </a:rPr>
              <a:t>3 puntos críticos detectados</a:t>
            </a:r>
            <a:endParaRPr sz="1050">
              <a:solidFill>
                <a:schemeClr val="dk1"/>
              </a:solidFill>
              <a:latin typeface="Calibri"/>
              <a:ea typeface="Calibri"/>
              <a:cs typeface="Calibri"/>
              <a:sym typeface="Calibri"/>
            </a:endParaRPr>
          </a:p>
        </p:txBody>
      </p:sp>
      <p:sp>
        <p:nvSpPr>
          <p:cNvPr id="329" name="Google Shape;329;p11"/>
          <p:cNvSpPr/>
          <p:nvPr/>
        </p:nvSpPr>
        <p:spPr>
          <a:xfrm>
            <a:off x="4279392" y="2606040"/>
            <a:ext cx="3657600" cy="32461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11"/>
          <p:cNvSpPr/>
          <p:nvPr/>
        </p:nvSpPr>
        <p:spPr>
          <a:xfrm>
            <a:off x="4507992" y="2743200"/>
            <a:ext cx="3246120" cy="30175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Identificación manual de códigos en facturas en papel</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Búsqueda de equivalencias código↔SKU sin repositorio centralizado</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Actualización de stock fuera del sistema → rompe trazabilidad</a:t>
            </a:r>
            <a:endParaRPr sz="1100">
              <a:solidFill>
                <a:schemeClr val="dk1"/>
              </a:solidFill>
              <a:latin typeface="Calibri"/>
              <a:ea typeface="Calibri"/>
              <a:cs typeface="Calibri"/>
              <a:sym typeface="Calibri"/>
            </a:endParaRPr>
          </a:p>
        </p:txBody>
      </p:sp>
      <p:sp>
        <p:nvSpPr>
          <p:cNvPr id="331" name="Google Shape;331;p11"/>
          <p:cNvSpPr/>
          <p:nvPr/>
        </p:nvSpPr>
        <p:spPr>
          <a:xfrm>
            <a:off x="8101584" y="1737360"/>
            <a:ext cx="3657600" cy="86868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11"/>
          <p:cNvSpPr/>
          <p:nvPr/>
        </p:nvSpPr>
        <p:spPr>
          <a:xfrm>
            <a:off x="8284464" y="1901952"/>
            <a:ext cx="548640" cy="548640"/>
          </a:xfrm>
          <a:prstGeom prst="ellipse">
            <a:avLst/>
          </a:prstGeom>
          <a:solidFill>
            <a:srgbClr val="FFFFFF">
              <a:alpha val="2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33" name="Google Shape;333;p11" descr="preencoded.png"/>
          <p:cNvPicPr preferRelativeResize="0"/>
          <p:nvPr/>
        </p:nvPicPr>
        <p:blipFill rotWithShape="1">
          <a:blip r:embed="rId5">
            <a:alphaModFix/>
          </a:blip>
          <a:srcRect/>
          <a:stretch/>
        </p:blipFill>
        <p:spPr>
          <a:xfrm>
            <a:off x="8394192" y="2011680"/>
            <a:ext cx="329184" cy="329184"/>
          </a:xfrm>
          <a:prstGeom prst="rect">
            <a:avLst/>
          </a:prstGeom>
          <a:noFill/>
          <a:ln>
            <a:noFill/>
          </a:ln>
        </p:spPr>
      </p:pic>
      <p:sp>
        <p:nvSpPr>
          <p:cNvPr id="334" name="Google Shape;334;p11"/>
          <p:cNvSpPr/>
          <p:nvPr/>
        </p:nvSpPr>
        <p:spPr>
          <a:xfrm>
            <a:off x="8970264" y="1847088"/>
            <a:ext cx="26974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50"/>
              <a:buFont typeface="Georgia"/>
              <a:buNone/>
            </a:pPr>
            <a:r>
              <a:rPr lang="en-US" sz="1450" b="1">
                <a:solidFill>
                  <a:srgbClr val="FFFFFF"/>
                </a:solidFill>
                <a:latin typeface="Georgia"/>
                <a:ea typeface="Georgia"/>
                <a:cs typeface="Georgia"/>
                <a:sym typeface="Georgia"/>
              </a:rPr>
              <a:t>Oportunidades de automatización</a:t>
            </a:r>
            <a:endParaRPr sz="1450">
              <a:solidFill>
                <a:schemeClr val="dk1"/>
              </a:solidFill>
              <a:latin typeface="Calibri"/>
              <a:ea typeface="Calibri"/>
              <a:cs typeface="Calibri"/>
              <a:sym typeface="Calibri"/>
            </a:endParaRPr>
          </a:p>
        </p:txBody>
      </p:sp>
      <p:sp>
        <p:nvSpPr>
          <p:cNvPr id="335" name="Google Shape;335;p11"/>
          <p:cNvSpPr/>
          <p:nvPr/>
        </p:nvSpPr>
        <p:spPr>
          <a:xfrm>
            <a:off x="8970264" y="2194560"/>
            <a:ext cx="2697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050"/>
              <a:buFont typeface="Georgia"/>
              <a:buNone/>
            </a:pPr>
            <a:r>
              <a:rPr lang="en-US" sz="1050" i="1">
                <a:solidFill>
                  <a:srgbClr val="E8963C"/>
                </a:solidFill>
                <a:latin typeface="Georgia"/>
                <a:ea typeface="Georgia"/>
                <a:cs typeface="Georgia"/>
                <a:sym typeface="Georgia"/>
              </a:rPr>
              <a:t>Vinculación con RF concretos</a:t>
            </a:r>
            <a:endParaRPr sz="1050">
              <a:solidFill>
                <a:schemeClr val="dk1"/>
              </a:solidFill>
              <a:latin typeface="Calibri"/>
              <a:ea typeface="Calibri"/>
              <a:cs typeface="Calibri"/>
              <a:sym typeface="Calibri"/>
            </a:endParaRPr>
          </a:p>
        </p:txBody>
      </p:sp>
      <p:sp>
        <p:nvSpPr>
          <p:cNvPr id="336" name="Google Shape;336;p11"/>
          <p:cNvSpPr/>
          <p:nvPr/>
        </p:nvSpPr>
        <p:spPr>
          <a:xfrm>
            <a:off x="8101584" y="2606040"/>
            <a:ext cx="3657600" cy="32461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11"/>
          <p:cNvSpPr/>
          <p:nvPr/>
        </p:nvSpPr>
        <p:spPr>
          <a:xfrm>
            <a:off x="8330184" y="2743200"/>
            <a:ext cx="3246120" cy="301752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Extracción automática del archivo digital (RF-27)</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Tabla relacional proveedor↔código↔SKU consultable (RF-28, RF-29)</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Actualización transaccional con historial automático (RF-49, RF-54)</a:t>
            </a:r>
            <a:endParaRPr sz="1100">
              <a:solidFill>
                <a:schemeClr val="dk1"/>
              </a:solidFill>
              <a:latin typeface="Calibri"/>
              <a:ea typeface="Calibri"/>
              <a:cs typeface="Calibri"/>
              <a:sym typeface="Calibri"/>
            </a:endParaRPr>
          </a:p>
        </p:txBody>
      </p:sp>
      <p:sp>
        <p:nvSpPr>
          <p:cNvPr id="338" name="Google Shape;338;p11"/>
          <p:cNvSpPr/>
          <p:nvPr/>
        </p:nvSpPr>
        <p:spPr>
          <a:xfrm>
            <a:off x="457200" y="5212080"/>
            <a:ext cx="11274552" cy="9601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11"/>
          <p:cNvSpPr/>
          <p:nvPr/>
        </p:nvSpPr>
        <p:spPr>
          <a:xfrm>
            <a:off x="457200" y="5212080"/>
            <a:ext cx="91440" cy="9601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11"/>
          <p:cNvSpPr/>
          <p:nvPr/>
        </p:nvSpPr>
        <p:spPr>
          <a:xfrm>
            <a:off x="731520" y="5285232"/>
            <a:ext cx="3657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050"/>
              <a:buFont typeface="Calibri"/>
              <a:buNone/>
            </a:pPr>
            <a:r>
              <a:rPr lang="en-US" sz="1050" b="1">
                <a:solidFill>
                  <a:srgbClr val="E8963C"/>
                </a:solidFill>
                <a:latin typeface="Calibri"/>
                <a:ea typeface="Calibri"/>
                <a:cs typeface="Calibri"/>
                <a:sym typeface="Calibri"/>
              </a:rPr>
              <a:t>CONCLUSIÓN</a:t>
            </a:r>
            <a:endParaRPr sz="1050">
              <a:solidFill>
                <a:schemeClr val="dk1"/>
              </a:solidFill>
              <a:latin typeface="Calibri"/>
              <a:ea typeface="Calibri"/>
              <a:cs typeface="Calibri"/>
              <a:sym typeface="Calibri"/>
            </a:endParaRPr>
          </a:p>
        </p:txBody>
      </p:sp>
      <p:sp>
        <p:nvSpPr>
          <p:cNvPr id="341" name="Google Shape;341;p11"/>
          <p:cNvSpPr/>
          <p:nvPr/>
        </p:nvSpPr>
        <p:spPr>
          <a:xfrm>
            <a:off x="731520" y="5532120"/>
            <a:ext cx="108813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100"/>
              <a:buFont typeface="Calibri"/>
              <a:buNone/>
            </a:pPr>
            <a:r>
              <a:rPr lang="en-US" sz="1100">
                <a:solidFill>
                  <a:srgbClr val="1F2A26"/>
                </a:solidFill>
                <a:latin typeface="Calibri"/>
                <a:ea typeface="Calibri"/>
                <a:cs typeface="Calibri"/>
                <a:sym typeface="Calibri"/>
              </a:rPr>
              <a:t>La intervención del sistema sobre los 3 cuellos de botella elimina la dependencia de procesos manuales y restaura la trazabilidad completa entre cada factura y los movimientos de stock generados (vinculación detallada en sección 4.1 del informe).</a:t>
            </a:r>
            <a:endParaRPr sz="1100">
              <a:solidFill>
                <a:schemeClr val="dk1"/>
              </a:solidFill>
              <a:latin typeface="Calibri"/>
              <a:ea typeface="Calibri"/>
              <a:cs typeface="Calibri"/>
              <a:sym typeface="Calibri"/>
            </a:endParaRPr>
          </a:p>
        </p:txBody>
      </p:sp>
      <p:cxnSp>
        <p:nvCxnSpPr>
          <p:cNvPr id="342" name="Google Shape;342;p11"/>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343" name="Google Shape;343;p11"/>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344" name="Google Shape;344;p11"/>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11 / 28</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9"/>
        <p:cNvGrpSpPr/>
        <p:nvPr/>
      </p:nvGrpSpPr>
      <p:grpSpPr>
        <a:xfrm>
          <a:off x="0" y="0"/>
          <a:ext cx="0" cy="0"/>
          <a:chOff x="0" y="0"/>
          <a:chExt cx="0" cy="0"/>
        </a:xfrm>
      </p:grpSpPr>
      <p:sp>
        <p:nvSpPr>
          <p:cNvPr id="350" name="Google Shape;350;p12"/>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5.1 Histograma de inventario</a:t>
            </a:r>
            <a:endParaRPr sz="3400">
              <a:solidFill>
                <a:schemeClr val="dk1"/>
              </a:solidFill>
              <a:latin typeface="Calibri"/>
              <a:ea typeface="Calibri"/>
              <a:cs typeface="Calibri"/>
              <a:sym typeface="Calibri"/>
            </a:endParaRPr>
          </a:p>
        </p:txBody>
      </p:sp>
      <p:sp>
        <p:nvSpPr>
          <p:cNvPr id="351" name="Google Shape;351;p12"/>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Distribución de productos por categoría · herramienta cuantitativa</a:t>
            </a:r>
            <a:endParaRPr sz="1300">
              <a:solidFill>
                <a:schemeClr val="dk1"/>
              </a:solidFill>
              <a:latin typeface="Calibri"/>
              <a:ea typeface="Calibri"/>
              <a:cs typeface="Calibri"/>
              <a:sym typeface="Calibri"/>
            </a:endParaRPr>
          </a:p>
        </p:txBody>
      </p:sp>
      <p:pic>
        <p:nvPicPr>
          <p:cNvPr id="352" name="Google Shape;352;p12" descr="assets/histograma.png"/>
          <p:cNvPicPr preferRelativeResize="0"/>
          <p:nvPr/>
        </p:nvPicPr>
        <p:blipFill rotWithShape="1">
          <a:blip r:embed="rId3">
            <a:alphaModFix/>
          </a:blip>
          <a:srcRect/>
          <a:stretch/>
        </p:blipFill>
        <p:spPr>
          <a:xfrm>
            <a:off x="457200" y="1783080"/>
            <a:ext cx="7498080" cy="4251960"/>
          </a:xfrm>
          <a:prstGeom prst="rect">
            <a:avLst/>
          </a:prstGeom>
          <a:noFill/>
          <a:ln>
            <a:noFill/>
          </a:ln>
        </p:spPr>
      </p:pic>
      <p:sp>
        <p:nvSpPr>
          <p:cNvPr id="353" name="Google Shape;353;p12"/>
          <p:cNvSpPr/>
          <p:nvPr/>
        </p:nvSpPr>
        <p:spPr>
          <a:xfrm>
            <a:off x="8229600" y="1783080"/>
            <a:ext cx="3474720" cy="128016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4" name="Google Shape;354;p12"/>
          <p:cNvSpPr/>
          <p:nvPr/>
        </p:nvSpPr>
        <p:spPr>
          <a:xfrm>
            <a:off x="8229600" y="1783080"/>
            <a:ext cx="3474720"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800"/>
              <a:buFont typeface="Georgia"/>
              <a:buNone/>
            </a:pPr>
            <a:r>
              <a:rPr lang="en-US" sz="4800" b="1">
                <a:solidFill>
                  <a:srgbClr val="FFFFFF"/>
                </a:solidFill>
                <a:latin typeface="Georgia"/>
                <a:ea typeface="Georgia"/>
                <a:cs typeface="Georgia"/>
                <a:sym typeface="Georgia"/>
              </a:rPr>
              <a:t>365</a:t>
            </a:r>
            <a:endParaRPr sz="4800">
              <a:solidFill>
                <a:schemeClr val="dk1"/>
              </a:solidFill>
              <a:latin typeface="Calibri"/>
              <a:ea typeface="Calibri"/>
              <a:cs typeface="Calibri"/>
              <a:sym typeface="Calibri"/>
            </a:endParaRPr>
          </a:p>
        </p:txBody>
      </p:sp>
      <p:sp>
        <p:nvSpPr>
          <p:cNvPr id="355" name="Google Shape;355;p12"/>
          <p:cNvSpPr/>
          <p:nvPr/>
        </p:nvSpPr>
        <p:spPr>
          <a:xfrm>
            <a:off x="8229600" y="2606040"/>
            <a:ext cx="347472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963C"/>
              </a:buClr>
              <a:buSzPts val="1100"/>
              <a:buFont typeface="Calibri"/>
              <a:buNone/>
            </a:pPr>
            <a:r>
              <a:rPr lang="en-US" sz="1100" b="1">
                <a:solidFill>
                  <a:srgbClr val="E8963C"/>
                </a:solidFill>
                <a:latin typeface="Calibri"/>
                <a:ea typeface="Calibri"/>
                <a:cs typeface="Calibri"/>
                <a:sym typeface="Calibri"/>
              </a:rPr>
              <a:t>UNIDADES TOTALES</a:t>
            </a:r>
            <a:endParaRPr sz="1100">
              <a:solidFill>
                <a:schemeClr val="dk1"/>
              </a:solidFill>
              <a:latin typeface="Calibri"/>
              <a:ea typeface="Calibri"/>
              <a:cs typeface="Calibri"/>
              <a:sym typeface="Calibri"/>
            </a:endParaRPr>
          </a:p>
        </p:txBody>
      </p:sp>
      <p:sp>
        <p:nvSpPr>
          <p:cNvPr id="356" name="Google Shape;356;p12"/>
          <p:cNvSpPr/>
          <p:nvPr/>
        </p:nvSpPr>
        <p:spPr>
          <a:xfrm>
            <a:off x="8229600" y="3200400"/>
            <a:ext cx="3474720" cy="12801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7" name="Google Shape;357;p12"/>
          <p:cNvSpPr/>
          <p:nvPr/>
        </p:nvSpPr>
        <p:spPr>
          <a:xfrm>
            <a:off x="8229600" y="3200400"/>
            <a:ext cx="3474720"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800"/>
              <a:buFont typeface="Georgia"/>
              <a:buNone/>
            </a:pPr>
            <a:r>
              <a:rPr lang="en-US" sz="4800" b="1">
                <a:solidFill>
                  <a:srgbClr val="FFFFFF"/>
                </a:solidFill>
                <a:latin typeface="Georgia"/>
                <a:ea typeface="Georgia"/>
                <a:cs typeface="Georgia"/>
                <a:sym typeface="Georgia"/>
              </a:rPr>
              <a:t>6</a:t>
            </a:r>
            <a:endParaRPr sz="4800">
              <a:solidFill>
                <a:schemeClr val="dk1"/>
              </a:solidFill>
              <a:latin typeface="Calibri"/>
              <a:ea typeface="Calibri"/>
              <a:cs typeface="Calibri"/>
              <a:sym typeface="Calibri"/>
            </a:endParaRPr>
          </a:p>
        </p:txBody>
      </p:sp>
      <p:sp>
        <p:nvSpPr>
          <p:cNvPr id="358" name="Google Shape;358;p12"/>
          <p:cNvSpPr/>
          <p:nvPr/>
        </p:nvSpPr>
        <p:spPr>
          <a:xfrm>
            <a:off x="8229600" y="4023360"/>
            <a:ext cx="347472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CATEGORÍAS</a:t>
            </a:r>
            <a:endParaRPr sz="1100">
              <a:solidFill>
                <a:schemeClr val="dk1"/>
              </a:solidFill>
              <a:latin typeface="Calibri"/>
              <a:ea typeface="Calibri"/>
              <a:cs typeface="Calibri"/>
              <a:sym typeface="Calibri"/>
            </a:endParaRPr>
          </a:p>
        </p:txBody>
      </p:sp>
      <p:sp>
        <p:nvSpPr>
          <p:cNvPr id="359" name="Google Shape;359;p12"/>
          <p:cNvSpPr/>
          <p:nvPr/>
        </p:nvSpPr>
        <p:spPr>
          <a:xfrm>
            <a:off x="8229600" y="4617720"/>
            <a:ext cx="3474720" cy="14173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0" name="Google Shape;360;p12"/>
          <p:cNvSpPr/>
          <p:nvPr/>
        </p:nvSpPr>
        <p:spPr>
          <a:xfrm>
            <a:off x="8229600" y="4617720"/>
            <a:ext cx="91440" cy="14173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12"/>
          <p:cNvSpPr/>
          <p:nvPr/>
        </p:nvSpPr>
        <p:spPr>
          <a:xfrm>
            <a:off x="8412480" y="4709160"/>
            <a:ext cx="32004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000"/>
              <a:buFont typeface="Calibri"/>
              <a:buNone/>
            </a:pPr>
            <a:r>
              <a:rPr lang="en-US" sz="1000" b="1">
                <a:solidFill>
                  <a:srgbClr val="E8963C"/>
                </a:solidFill>
                <a:latin typeface="Calibri"/>
                <a:ea typeface="Calibri"/>
                <a:cs typeface="Calibri"/>
                <a:sym typeface="Calibri"/>
              </a:rPr>
              <a:t>INSIGHT</a:t>
            </a:r>
            <a:endParaRPr sz="1000">
              <a:solidFill>
                <a:schemeClr val="dk1"/>
              </a:solidFill>
              <a:latin typeface="Calibri"/>
              <a:ea typeface="Calibri"/>
              <a:cs typeface="Calibri"/>
              <a:sym typeface="Calibri"/>
            </a:endParaRPr>
          </a:p>
        </p:txBody>
      </p:sp>
      <p:sp>
        <p:nvSpPr>
          <p:cNvPr id="362" name="Google Shape;362;p12"/>
          <p:cNvSpPr/>
          <p:nvPr/>
        </p:nvSpPr>
        <p:spPr>
          <a:xfrm>
            <a:off x="8412480" y="4937760"/>
            <a:ext cx="32004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3B2E"/>
              </a:buClr>
              <a:buSzPts val="950"/>
              <a:buFont typeface="Calibri"/>
              <a:buNone/>
            </a:pPr>
            <a:r>
              <a:rPr lang="en-US" sz="950" b="1">
                <a:solidFill>
                  <a:srgbClr val="0F3B2E"/>
                </a:solidFill>
                <a:latin typeface="Calibri"/>
                <a:ea typeface="Calibri"/>
                <a:cs typeface="Calibri"/>
                <a:sym typeface="Calibri"/>
              </a:rPr>
              <a:t>Conexión con el problema:</a:t>
            </a:r>
            <a:r>
              <a:rPr lang="en-US" sz="950">
                <a:solidFill>
                  <a:srgbClr val="1F2A26"/>
                </a:solidFill>
                <a:latin typeface="Calibri"/>
                <a:ea typeface="Calibri"/>
                <a:cs typeface="Calibri"/>
                <a:sym typeface="Calibri"/>
              </a:rPr>
              <a:t> la concentración de stock en abarrotes/bebidas y la baja rotación en limpieza generan </a:t>
            </a:r>
            <a:r>
              <a:rPr lang="en-US" sz="950" b="1">
                <a:solidFill>
                  <a:srgbClr val="D64045"/>
                </a:solidFill>
                <a:latin typeface="Calibri"/>
                <a:ea typeface="Calibri"/>
                <a:cs typeface="Calibri"/>
                <a:sym typeface="Calibri"/>
              </a:rPr>
              <a:t>riesgo de quiebre</a:t>
            </a:r>
            <a:r>
              <a:rPr lang="en-US" sz="950">
                <a:solidFill>
                  <a:srgbClr val="1F2A26"/>
                </a:solidFill>
                <a:latin typeface="Calibri"/>
                <a:ea typeface="Calibri"/>
                <a:cs typeface="Calibri"/>
                <a:sym typeface="Calibri"/>
              </a:rPr>
              <a:t> en categorías de alta rotación y </a:t>
            </a:r>
            <a:r>
              <a:rPr lang="en-US" sz="950" b="1">
                <a:solidFill>
                  <a:srgbClr val="D64045"/>
                </a:solidFill>
                <a:latin typeface="Calibri"/>
                <a:ea typeface="Calibri"/>
                <a:cs typeface="Calibri"/>
                <a:sym typeface="Calibri"/>
              </a:rPr>
              <a:t>sobre-stock</a:t>
            </a:r>
            <a:r>
              <a:rPr lang="en-US" sz="950">
                <a:solidFill>
                  <a:srgbClr val="1F2A26"/>
                </a:solidFill>
                <a:latin typeface="Calibri"/>
                <a:ea typeface="Calibri"/>
                <a:cs typeface="Calibri"/>
                <a:sym typeface="Calibri"/>
              </a:rPr>
              <a:t> en las de baja rotación. Estos desbalances son invisibles bajo el control manual actual y justifican el sistema automatizado.</a:t>
            </a:r>
            <a:endParaRPr sz="950">
              <a:solidFill>
                <a:schemeClr val="dk1"/>
              </a:solidFill>
              <a:latin typeface="Calibri"/>
              <a:ea typeface="Calibri"/>
              <a:cs typeface="Calibri"/>
              <a:sym typeface="Calibri"/>
            </a:endParaRPr>
          </a:p>
        </p:txBody>
      </p:sp>
      <p:sp>
        <p:nvSpPr>
          <p:cNvPr id="363" name="Google Shape;363;p12"/>
          <p:cNvSpPr/>
          <p:nvPr/>
        </p:nvSpPr>
        <p:spPr>
          <a:xfrm>
            <a:off x="457200" y="612648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Figura 5.1. Histograma de productos disponibles para venta.</a:t>
            </a:r>
            <a:endParaRPr sz="1000">
              <a:solidFill>
                <a:schemeClr val="dk1"/>
              </a:solidFill>
              <a:latin typeface="Calibri"/>
              <a:ea typeface="Calibri"/>
              <a:cs typeface="Calibri"/>
              <a:sym typeface="Calibri"/>
            </a:endParaRPr>
          </a:p>
        </p:txBody>
      </p:sp>
      <p:cxnSp>
        <p:nvCxnSpPr>
          <p:cNvPr id="364" name="Google Shape;364;p12"/>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365" name="Google Shape;365;p12"/>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366" name="Google Shape;366;p12"/>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12 / 28</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1"/>
        <p:cNvGrpSpPr/>
        <p:nvPr/>
      </p:nvGrpSpPr>
      <p:grpSpPr>
        <a:xfrm>
          <a:off x="0" y="0"/>
          <a:ext cx="0" cy="0"/>
          <a:chOff x="0" y="0"/>
          <a:chExt cx="0" cy="0"/>
        </a:xfrm>
      </p:grpSpPr>
      <p:sp>
        <p:nvSpPr>
          <p:cNvPr id="372" name="Google Shape;372;p13"/>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5.2 Diagrama de Ishikawa</a:t>
            </a:r>
            <a:endParaRPr sz="3400">
              <a:solidFill>
                <a:schemeClr val="dk1"/>
              </a:solidFill>
              <a:latin typeface="Calibri"/>
              <a:ea typeface="Calibri"/>
              <a:cs typeface="Calibri"/>
              <a:sym typeface="Calibri"/>
            </a:endParaRPr>
          </a:p>
        </p:txBody>
      </p:sp>
      <p:sp>
        <p:nvSpPr>
          <p:cNvPr id="373" name="Google Shape;373;p13"/>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Herramienta cualitativa · causas raíz</a:t>
            </a:r>
            <a:endParaRPr sz="1300">
              <a:solidFill>
                <a:schemeClr val="dk1"/>
              </a:solidFill>
              <a:latin typeface="Calibri"/>
              <a:ea typeface="Calibri"/>
              <a:cs typeface="Calibri"/>
              <a:sym typeface="Calibri"/>
            </a:endParaRPr>
          </a:p>
        </p:txBody>
      </p:sp>
      <p:pic>
        <p:nvPicPr>
          <p:cNvPr id="374" name="Google Shape;374;p13" descr="assets/ishikawa.jpg"/>
          <p:cNvPicPr preferRelativeResize="0"/>
          <p:nvPr/>
        </p:nvPicPr>
        <p:blipFill rotWithShape="1">
          <a:blip r:embed="rId3">
            <a:alphaModFix/>
          </a:blip>
          <a:srcRect/>
          <a:stretch/>
        </p:blipFill>
        <p:spPr>
          <a:xfrm>
            <a:off x="457200" y="1783080"/>
            <a:ext cx="7132320" cy="4297680"/>
          </a:xfrm>
          <a:prstGeom prst="rect">
            <a:avLst/>
          </a:prstGeom>
          <a:noFill/>
          <a:ln>
            <a:noFill/>
          </a:ln>
        </p:spPr>
      </p:pic>
      <p:sp>
        <p:nvSpPr>
          <p:cNvPr id="375" name="Google Shape;375;p13"/>
          <p:cNvSpPr/>
          <p:nvPr/>
        </p:nvSpPr>
        <p:spPr>
          <a:xfrm>
            <a:off x="7772400" y="1783080"/>
            <a:ext cx="3959352" cy="365760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13"/>
          <p:cNvSpPr/>
          <p:nvPr/>
        </p:nvSpPr>
        <p:spPr>
          <a:xfrm>
            <a:off x="7772400" y="1783080"/>
            <a:ext cx="91440" cy="365760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13"/>
          <p:cNvSpPr/>
          <p:nvPr/>
        </p:nvSpPr>
        <p:spPr>
          <a:xfrm>
            <a:off x="8001000" y="1920240"/>
            <a:ext cx="347472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100"/>
              <a:buFont typeface="Calibri"/>
              <a:buNone/>
            </a:pPr>
            <a:r>
              <a:rPr lang="en-US" sz="1100" b="1">
                <a:solidFill>
                  <a:srgbClr val="2D6A4F"/>
                </a:solidFill>
                <a:latin typeface="Calibri"/>
                <a:ea typeface="Calibri"/>
                <a:cs typeface="Calibri"/>
                <a:sym typeface="Calibri"/>
              </a:rPr>
              <a:t>CAUSAS RAÍZ</a:t>
            </a:r>
            <a:endParaRPr sz="1100">
              <a:solidFill>
                <a:schemeClr val="dk1"/>
              </a:solidFill>
              <a:latin typeface="Calibri"/>
              <a:ea typeface="Calibri"/>
              <a:cs typeface="Calibri"/>
              <a:sym typeface="Calibri"/>
            </a:endParaRPr>
          </a:p>
        </p:txBody>
      </p:sp>
      <p:sp>
        <p:nvSpPr>
          <p:cNvPr id="378" name="Google Shape;378;p13"/>
          <p:cNvSpPr/>
          <p:nvPr/>
        </p:nvSpPr>
        <p:spPr>
          <a:xfrm>
            <a:off x="8001000" y="2240280"/>
            <a:ext cx="35661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100"/>
              <a:buFont typeface="Calibri"/>
              <a:buNone/>
            </a:pPr>
            <a:r>
              <a:rPr lang="en-US" sz="1100" b="1">
                <a:solidFill>
                  <a:srgbClr val="0F3B2E"/>
                </a:solidFill>
                <a:latin typeface="Calibri"/>
                <a:ea typeface="Calibri"/>
                <a:cs typeface="Calibri"/>
                <a:sym typeface="Calibri"/>
              </a:rPr>
              <a:t>Método</a:t>
            </a:r>
            <a:endParaRPr sz="1100">
              <a:solidFill>
                <a:schemeClr val="dk1"/>
              </a:solidFill>
              <a:latin typeface="Calibri"/>
              <a:ea typeface="Calibri"/>
              <a:cs typeface="Calibri"/>
              <a:sym typeface="Calibri"/>
            </a:endParaRPr>
          </a:p>
        </p:txBody>
      </p:sp>
      <p:sp>
        <p:nvSpPr>
          <p:cNvPr id="379" name="Google Shape;379;p13"/>
          <p:cNvSpPr/>
          <p:nvPr/>
        </p:nvSpPr>
        <p:spPr>
          <a:xfrm>
            <a:off x="8001000" y="2459736"/>
            <a:ext cx="356616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950"/>
              <a:buFont typeface="Calibri"/>
              <a:buNone/>
            </a:pPr>
            <a:r>
              <a:rPr lang="en-US" sz="950">
                <a:solidFill>
                  <a:srgbClr val="1F2A26"/>
                </a:solidFill>
                <a:latin typeface="Calibri"/>
                <a:ea typeface="Calibri"/>
                <a:cs typeface="Calibri"/>
                <a:sym typeface="Calibri"/>
              </a:rPr>
              <a:t>Sin procedimiento estandarizado; actualización tardía del stock.</a:t>
            </a:r>
            <a:endParaRPr sz="950">
              <a:solidFill>
                <a:schemeClr val="dk1"/>
              </a:solidFill>
              <a:latin typeface="Calibri"/>
              <a:ea typeface="Calibri"/>
              <a:cs typeface="Calibri"/>
              <a:sym typeface="Calibri"/>
            </a:endParaRPr>
          </a:p>
        </p:txBody>
      </p:sp>
      <p:sp>
        <p:nvSpPr>
          <p:cNvPr id="380" name="Google Shape;380;p13"/>
          <p:cNvSpPr/>
          <p:nvPr/>
        </p:nvSpPr>
        <p:spPr>
          <a:xfrm>
            <a:off x="8001000" y="2880360"/>
            <a:ext cx="35661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100"/>
              <a:buFont typeface="Calibri"/>
              <a:buNone/>
            </a:pPr>
            <a:r>
              <a:rPr lang="en-US" sz="1100" b="1">
                <a:solidFill>
                  <a:srgbClr val="0F3B2E"/>
                </a:solidFill>
                <a:latin typeface="Calibri"/>
                <a:ea typeface="Calibri"/>
                <a:cs typeface="Calibri"/>
                <a:sym typeface="Calibri"/>
              </a:rPr>
              <a:t>Mano de obra</a:t>
            </a:r>
            <a:endParaRPr sz="1100">
              <a:solidFill>
                <a:schemeClr val="dk1"/>
              </a:solidFill>
              <a:latin typeface="Calibri"/>
              <a:ea typeface="Calibri"/>
              <a:cs typeface="Calibri"/>
              <a:sym typeface="Calibri"/>
            </a:endParaRPr>
          </a:p>
        </p:txBody>
      </p:sp>
      <p:sp>
        <p:nvSpPr>
          <p:cNvPr id="381" name="Google Shape;381;p13"/>
          <p:cNvSpPr/>
          <p:nvPr/>
        </p:nvSpPr>
        <p:spPr>
          <a:xfrm>
            <a:off x="8001000" y="3099816"/>
            <a:ext cx="356616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950"/>
              <a:buFont typeface="Calibri"/>
              <a:buNone/>
            </a:pPr>
            <a:r>
              <a:rPr lang="en-US" sz="950">
                <a:solidFill>
                  <a:srgbClr val="1F2A26"/>
                </a:solidFill>
                <a:latin typeface="Calibri"/>
                <a:ea typeface="Calibri"/>
                <a:cs typeface="Calibri"/>
                <a:sym typeface="Calibri"/>
              </a:rPr>
              <a:t>Personal sin capacitación; errores frecuentes de digitación.</a:t>
            </a:r>
            <a:endParaRPr sz="950">
              <a:solidFill>
                <a:schemeClr val="dk1"/>
              </a:solidFill>
              <a:latin typeface="Calibri"/>
              <a:ea typeface="Calibri"/>
              <a:cs typeface="Calibri"/>
              <a:sym typeface="Calibri"/>
            </a:endParaRPr>
          </a:p>
        </p:txBody>
      </p:sp>
      <p:sp>
        <p:nvSpPr>
          <p:cNvPr id="382" name="Google Shape;382;p13"/>
          <p:cNvSpPr/>
          <p:nvPr/>
        </p:nvSpPr>
        <p:spPr>
          <a:xfrm>
            <a:off x="8001000" y="3520440"/>
            <a:ext cx="35661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100"/>
              <a:buFont typeface="Calibri"/>
              <a:buNone/>
            </a:pPr>
            <a:r>
              <a:rPr lang="en-US" sz="1100" b="1">
                <a:solidFill>
                  <a:srgbClr val="0F3B2E"/>
                </a:solidFill>
                <a:latin typeface="Calibri"/>
                <a:ea typeface="Calibri"/>
                <a:cs typeface="Calibri"/>
                <a:sym typeface="Calibri"/>
              </a:rPr>
              <a:t>Materiales</a:t>
            </a:r>
            <a:endParaRPr sz="1100">
              <a:solidFill>
                <a:schemeClr val="dk1"/>
              </a:solidFill>
              <a:latin typeface="Calibri"/>
              <a:ea typeface="Calibri"/>
              <a:cs typeface="Calibri"/>
              <a:sym typeface="Calibri"/>
            </a:endParaRPr>
          </a:p>
        </p:txBody>
      </p:sp>
      <p:sp>
        <p:nvSpPr>
          <p:cNvPr id="383" name="Google Shape;383;p13"/>
          <p:cNvSpPr/>
          <p:nvPr/>
        </p:nvSpPr>
        <p:spPr>
          <a:xfrm>
            <a:off x="8001000" y="3739896"/>
            <a:ext cx="356616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950"/>
              <a:buFont typeface="Calibri"/>
              <a:buNone/>
            </a:pPr>
            <a:r>
              <a:rPr lang="en-US" sz="950">
                <a:solidFill>
                  <a:srgbClr val="1F2A26"/>
                </a:solidFill>
                <a:latin typeface="Calibri"/>
                <a:ea typeface="Calibri"/>
                <a:cs typeface="Calibri"/>
                <a:sym typeface="Calibri"/>
              </a:rPr>
              <a:t>Facturas en papel y códigos heterogéneos sin estándar SKU interno.</a:t>
            </a:r>
            <a:endParaRPr sz="950">
              <a:solidFill>
                <a:schemeClr val="dk1"/>
              </a:solidFill>
              <a:latin typeface="Calibri"/>
              <a:ea typeface="Calibri"/>
              <a:cs typeface="Calibri"/>
              <a:sym typeface="Calibri"/>
            </a:endParaRPr>
          </a:p>
        </p:txBody>
      </p:sp>
      <p:sp>
        <p:nvSpPr>
          <p:cNvPr id="384" name="Google Shape;384;p13"/>
          <p:cNvSpPr/>
          <p:nvPr/>
        </p:nvSpPr>
        <p:spPr>
          <a:xfrm>
            <a:off x="8001000" y="4160520"/>
            <a:ext cx="35661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100"/>
              <a:buFont typeface="Calibri"/>
              <a:buNone/>
            </a:pPr>
            <a:r>
              <a:rPr lang="en-US" sz="1100" b="1">
                <a:solidFill>
                  <a:srgbClr val="0F3B2E"/>
                </a:solidFill>
                <a:latin typeface="Calibri"/>
                <a:ea typeface="Calibri"/>
                <a:cs typeface="Calibri"/>
                <a:sym typeface="Calibri"/>
              </a:rPr>
              <a:t>Máquina</a:t>
            </a:r>
            <a:endParaRPr sz="1100">
              <a:solidFill>
                <a:schemeClr val="dk1"/>
              </a:solidFill>
              <a:latin typeface="Calibri"/>
              <a:ea typeface="Calibri"/>
              <a:cs typeface="Calibri"/>
              <a:sym typeface="Calibri"/>
            </a:endParaRPr>
          </a:p>
        </p:txBody>
      </p:sp>
      <p:sp>
        <p:nvSpPr>
          <p:cNvPr id="385" name="Google Shape;385;p13"/>
          <p:cNvSpPr/>
          <p:nvPr/>
        </p:nvSpPr>
        <p:spPr>
          <a:xfrm>
            <a:off x="8001000" y="4379976"/>
            <a:ext cx="356616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950"/>
              <a:buFont typeface="Calibri"/>
              <a:buNone/>
            </a:pPr>
            <a:r>
              <a:rPr lang="en-US" sz="950">
                <a:solidFill>
                  <a:srgbClr val="1F2A26"/>
                </a:solidFill>
                <a:latin typeface="Calibri"/>
                <a:ea typeface="Calibri"/>
                <a:cs typeface="Calibri"/>
                <a:sym typeface="Calibri"/>
              </a:rPr>
              <a:t>Sin sistema TI; planillas Excel sin validación.</a:t>
            </a:r>
            <a:endParaRPr sz="950">
              <a:solidFill>
                <a:schemeClr val="dk1"/>
              </a:solidFill>
              <a:latin typeface="Calibri"/>
              <a:ea typeface="Calibri"/>
              <a:cs typeface="Calibri"/>
              <a:sym typeface="Calibri"/>
            </a:endParaRPr>
          </a:p>
        </p:txBody>
      </p:sp>
      <p:sp>
        <p:nvSpPr>
          <p:cNvPr id="386" name="Google Shape;386;p13"/>
          <p:cNvSpPr/>
          <p:nvPr/>
        </p:nvSpPr>
        <p:spPr>
          <a:xfrm>
            <a:off x="8001000" y="4800600"/>
            <a:ext cx="35661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100"/>
              <a:buFont typeface="Calibri"/>
              <a:buNone/>
            </a:pPr>
            <a:r>
              <a:rPr lang="en-US" sz="1100" b="1">
                <a:solidFill>
                  <a:srgbClr val="0F3B2E"/>
                </a:solidFill>
                <a:latin typeface="Calibri"/>
                <a:ea typeface="Calibri"/>
                <a:cs typeface="Calibri"/>
                <a:sym typeface="Calibri"/>
              </a:rPr>
              <a:t>Medio ambiente</a:t>
            </a:r>
            <a:endParaRPr sz="1100">
              <a:solidFill>
                <a:schemeClr val="dk1"/>
              </a:solidFill>
              <a:latin typeface="Calibri"/>
              <a:ea typeface="Calibri"/>
              <a:cs typeface="Calibri"/>
              <a:sym typeface="Calibri"/>
            </a:endParaRPr>
          </a:p>
        </p:txBody>
      </p:sp>
      <p:sp>
        <p:nvSpPr>
          <p:cNvPr id="387" name="Google Shape;387;p13"/>
          <p:cNvSpPr/>
          <p:nvPr/>
        </p:nvSpPr>
        <p:spPr>
          <a:xfrm>
            <a:off x="8001000" y="5020056"/>
            <a:ext cx="356616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950"/>
              <a:buFont typeface="Calibri"/>
              <a:buNone/>
            </a:pPr>
            <a:r>
              <a:rPr lang="en-US" sz="950">
                <a:solidFill>
                  <a:srgbClr val="1F2A26"/>
                </a:solidFill>
                <a:latin typeface="Calibri"/>
                <a:ea typeface="Calibri"/>
                <a:cs typeface="Calibri"/>
                <a:sym typeface="Calibri"/>
              </a:rPr>
              <a:t>Crecimiento del stock y más proveedores activos; baja trazabilidad.</a:t>
            </a:r>
            <a:endParaRPr sz="950">
              <a:solidFill>
                <a:schemeClr val="dk1"/>
              </a:solidFill>
              <a:latin typeface="Calibri"/>
              <a:ea typeface="Calibri"/>
              <a:cs typeface="Calibri"/>
              <a:sym typeface="Calibri"/>
            </a:endParaRPr>
          </a:p>
        </p:txBody>
      </p:sp>
      <p:sp>
        <p:nvSpPr>
          <p:cNvPr id="388" name="Google Shape;388;p13"/>
          <p:cNvSpPr/>
          <p:nvPr/>
        </p:nvSpPr>
        <p:spPr>
          <a:xfrm>
            <a:off x="457200" y="5532120"/>
            <a:ext cx="11274552" cy="59436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13"/>
          <p:cNvSpPr/>
          <p:nvPr/>
        </p:nvSpPr>
        <p:spPr>
          <a:xfrm>
            <a:off x="457200" y="5532120"/>
            <a:ext cx="91440" cy="594360"/>
          </a:xfrm>
          <a:prstGeom prst="rect">
            <a:avLst/>
          </a:prstGeom>
          <a:solidFill>
            <a:srgbClr val="D640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13"/>
          <p:cNvSpPr/>
          <p:nvPr/>
        </p:nvSpPr>
        <p:spPr>
          <a:xfrm>
            <a:off x="777240" y="5532120"/>
            <a:ext cx="1092708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64045"/>
              </a:buClr>
              <a:buSzPts val="1050"/>
              <a:buFont typeface="Calibri"/>
              <a:buNone/>
            </a:pPr>
            <a:r>
              <a:rPr lang="en-US" sz="1050" b="1">
                <a:solidFill>
                  <a:srgbClr val="D64045"/>
                </a:solidFill>
                <a:latin typeface="Calibri"/>
                <a:ea typeface="Calibri"/>
                <a:cs typeface="Calibri"/>
                <a:sym typeface="Calibri"/>
              </a:rPr>
              <a:t>CONEXIÓN CON EL PROBLEMA: </a:t>
            </a:r>
            <a:r>
              <a:rPr lang="en-US" sz="1050">
                <a:solidFill>
                  <a:srgbClr val="1F2A26"/>
                </a:solidFill>
                <a:latin typeface="Calibri"/>
                <a:ea typeface="Calibri"/>
                <a:cs typeface="Calibri"/>
                <a:sym typeface="Calibri"/>
              </a:rPr>
              <a:t>las 5 causas raíz convergen en la </a:t>
            </a:r>
            <a:r>
              <a:rPr lang="en-US" sz="1050" b="1">
                <a:solidFill>
                  <a:srgbClr val="0F3B2E"/>
                </a:solidFill>
                <a:latin typeface="Calibri"/>
                <a:ea typeface="Calibri"/>
                <a:cs typeface="Calibri"/>
                <a:sym typeface="Calibri"/>
              </a:rPr>
              <a:t>gestión manual e ineficiente del inventario y facturación</a:t>
            </a:r>
            <a:r>
              <a:rPr lang="en-US" sz="1050">
                <a:solidFill>
                  <a:srgbClr val="1F2A26"/>
                </a:solidFill>
                <a:latin typeface="Calibri"/>
                <a:ea typeface="Calibri"/>
                <a:cs typeface="Calibri"/>
                <a:sym typeface="Calibri"/>
              </a:rPr>
              <a:t>. El sistema automatizado interviene directamente en Método (procesos), Mano de obra (validaciones), Materiales (digitalización) y Máquina (TI), atacando 4 de las 5 causas.</a:t>
            </a:r>
            <a:endParaRPr sz="1050">
              <a:solidFill>
                <a:schemeClr val="dk1"/>
              </a:solidFill>
              <a:latin typeface="Calibri"/>
              <a:ea typeface="Calibri"/>
              <a:cs typeface="Calibri"/>
              <a:sym typeface="Calibri"/>
            </a:endParaRPr>
          </a:p>
        </p:txBody>
      </p:sp>
      <p:sp>
        <p:nvSpPr>
          <p:cNvPr id="391" name="Google Shape;391;p13"/>
          <p:cNvSpPr/>
          <p:nvPr/>
        </p:nvSpPr>
        <p:spPr>
          <a:xfrm>
            <a:off x="457200" y="6199632"/>
            <a:ext cx="11274552" cy="2011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950"/>
              <a:buFont typeface="Georgia"/>
              <a:buNone/>
            </a:pPr>
            <a:r>
              <a:rPr lang="en-US" sz="950" i="1">
                <a:solidFill>
                  <a:srgbClr val="6B7785"/>
                </a:solidFill>
                <a:latin typeface="Georgia"/>
                <a:ea typeface="Georgia"/>
                <a:cs typeface="Georgia"/>
                <a:sym typeface="Georgia"/>
              </a:rPr>
              <a:t>Figura 5.2. Ishikawa – Gestión ineficiente de inventario.</a:t>
            </a:r>
            <a:endParaRPr sz="950">
              <a:solidFill>
                <a:schemeClr val="dk1"/>
              </a:solidFill>
              <a:latin typeface="Calibri"/>
              <a:ea typeface="Calibri"/>
              <a:cs typeface="Calibri"/>
              <a:sym typeface="Calibri"/>
            </a:endParaRPr>
          </a:p>
        </p:txBody>
      </p:sp>
      <p:cxnSp>
        <p:nvCxnSpPr>
          <p:cNvPr id="392" name="Google Shape;392;p13"/>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393" name="Google Shape;393;p13"/>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394" name="Google Shape;394;p13"/>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13 / 28</a:t>
            </a:r>
            <a:endParaRPr sz="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9"/>
        <p:cNvGrpSpPr/>
        <p:nvPr/>
      </p:nvGrpSpPr>
      <p:grpSpPr>
        <a:xfrm>
          <a:off x="0" y="0"/>
          <a:ext cx="0" cy="0"/>
          <a:chOff x="0" y="0"/>
          <a:chExt cx="0" cy="0"/>
        </a:xfrm>
      </p:grpSpPr>
      <p:sp>
        <p:nvSpPr>
          <p:cNvPr id="400" name="Google Shape;400;p14"/>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6. Descripción de la problemática</a:t>
            </a:r>
            <a:endParaRPr sz="3400">
              <a:solidFill>
                <a:schemeClr val="dk1"/>
              </a:solidFill>
              <a:latin typeface="Calibri"/>
              <a:ea typeface="Calibri"/>
              <a:cs typeface="Calibri"/>
              <a:sym typeface="Calibri"/>
            </a:endParaRPr>
          </a:p>
        </p:txBody>
      </p:sp>
      <p:sp>
        <p:nvSpPr>
          <p:cNvPr id="401" name="Google Shape;401;p14"/>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Problema central y dolores detectados</a:t>
            </a:r>
            <a:endParaRPr sz="1300">
              <a:solidFill>
                <a:schemeClr val="dk1"/>
              </a:solidFill>
              <a:latin typeface="Calibri"/>
              <a:ea typeface="Calibri"/>
              <a:cs typeface="Calibri"/>
              <a:sym typeface="Calibri"/>
            </a:endParaRPr>
          </a:p>
        </p:txBody>
      </p:sp>
      <p:sp>
        <p:nvSpPr>
          <p:cNvPr id="402" name="Google Shape;402;p14"/>
          <p:cNvSpPr/>
          <p:nvPr/>
        </p:nvSpPr>
        <p:spPr>
          <a:xfrm>
            <a:off x="457200" y="1783080"/>
            <a:ext cx="11274552" cy="777240"/>
          </a:xfrm>
          <a:prstGeom prst="rect">
            <a:avLst/>
          </a:prstGeom>
          <a:solidFill>
            <a:srgbClr val="D640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03" name="Google Shape;403;p14" descr="preencoded.png"/>
          <p:cNvPicPr preferRelativeResize="0"/>
          <p:nvPr/>
        </p:nvPicPr>
        <p:blipFill rotWithShape="1">
          <a:blip r:embed="rId3">
            <a:alphaModFix/>
          </a:blip>
          <a:srcRect/>
          <a:stretch/>
        </p:blipFill>
        <p:spPr>
          <a:xfrm>
            <a:off x="731520" y="1920240"/>
            <a:ext cx="502920" cy="502920"/>
          </a:xfrm>
          <a:prstGeom prst="rect">
            <a:avLst/>
          </a:prstGeom>
          <a:noFill/>
          <a:ln>
            <a:noFill/>
          </a:ln>
        </p:spPr>
      </p:pic>
      <p:sp>
        <p:nvSpPr>
          <p:cNvPr id="404" name="Google Shape;404;p14"/>
          <p:cNvSpPr/>
          <p:nvPr/>
        </p:nvSpPr>
        <p:spPr>
          <a:xfrm>
            <a:off x="1417320" y="1783080"/>
            <a:ext cx="10241280"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PROBLEMA CENTRAL:   </a:t>
            </a:r>
            <a:r>
              <a:rPr lang="en-US" sz="1600">
                <a:solidFill>
                  <a:srgbClr val="FFFFFF"/>
                </a:solidFill>
                <a:latin typeface="Calibri"/>
                <a:ea typeface="Calibri"/>
                <a:cs typeface="Calibri"/>
                <a:sym typeface="Calibri"/>
              </a:rPr>
              <a:t>Gestión manual e ineficiente del inventario y facturación</a:t>
            </a:r>
            <a:endParaRPr sz="1600">
              <a:solidFill>
                <a:schemeClr val="dk1"/>
              </a:solidFill>
              <a:latin typeface="Calibri"/>
              <a:ea typeface="Calibri"/>
              <a:cs typeface="Calibri"/>
              <a:sym typeface="Calibri"/>
            </a:endParaRPr>
          </a:p>
        </p:txBody>
      </p:sp>
      <p:sp>
        <p:nvSpPr>
          <p:cNvPr id="405" name="Google Shape;405;p14"/>
          <p:cNvSpPr/>
          <p:nvPr/>
        </p:nvSpPr>
        <p:spPr>
          <a:xfrm>
            <a:off x="457200" y="2880360"/>
            <a:ext cx="2194560" cy="50292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06" name="Google Shape;406;p14" descr="preencoded.png"/>
          <p:cNvPicPr preferRelativeResize="0"/>
          <p:nvPr/>
        </p:nvPicPr>
        <p:blipFill rotWithShape="1">
          <a:blip r:embed="rId4">
            <a:alphaModFix/>
          </a:blip>
          <a:srcRect/>
          <a:stretch/>
        </p:blipFill>
        <p:spPr>
          <a:xfrm>
            <a:off x="594360" y="2999232"/>
            <a:ext cx="274320" cy="274320"/>
          </a:xfrm>
          <a:prstGeom prst="rect">
            <a:avLst/>
          </a:prstGeom>
          <a:noFill/>
          <a:ln>
            <a:noFill/>
          </a:ln>
        </p:spPr>
      </p:pic>
      <p:sp>
        <p:nvSpPr>
          <p:cNvPr id="407" name="Google Shape;407;p14"/>
          <p:cNvSpPr/>
          <p:nvPr/>
        </p:nvSpPr>
        <p:spPr>
          <a:xfrm>
            <a:off x="960120" y="2971800"/>
            <a:ext cx="16459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Método</a:t>
            </a:r>
            <a:endParaRPr sz="1200">
              <a:solidFill>
                <a:schemeClr val="dk1"/>
              </a:solidFill>
              <a:latin typeface="Calibri"/>
              <a:ea typeface="Calibri"/>
              <a:cs typeface="Calibri"/>
              <a:sym typeface="Calibri"/>
            </a:endParaRPr>
          </a:p>
        </p:txBody>
      </p:sp>
      <p:sp>
        <p:nvSpPr>
          <p:cNvPr id="408" name="Google Shape;408;p14"/>
          <p:cNvSpPr/>
          <p:nvPr/>
        </p:nvSpPr>
        <p:spPr>
          <a:xfrm>
            <a:off x="457200" y="3383280"/>
            <a:ext cx="2194560" cy="28346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p14"/>
          <p:cNvSpPr/>
          <p:nvPr/>
        </p:nvSpPr>
        <p:spPr>
          <a:xfrm>
            <a:off x="594360" y="3520440"/>
            <a:ext cx="19202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Sin procedimiento estandarizado</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Actualización tardía del stock</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Conteo manual sin respaldo</a:t>
            </a:r>
            <a:endParaRPr sz="1050">
              <a:solidFill>
                <a:schemeClr val="dk1"/>
              </a:solidFill>
              <a:latin typeface="Calibri"/>
              <a:ea typeface="Calibri"/>
              <a:cs typeface="Calibri"/>
              <a:sym typeface="Calibri"/>
            </a:endParaRPr>
          </a:p>
        </p:txBody>
      </p:sp>
      <p:sp>
        <p:nvSpPr>
          <p:cNvPr id="410" name="Google Shape;410;p14"/>
          <p:cNvSpPr/>
          <p:nvPr/>
        </p:nvSpPr>
        <p:spPr>
          <a:xfrm>
            <a:off x="2724912" y="2880360"/>
            <a:ext cx="2194560" cy="50292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11" name="Google Shape;411;p14" descr="preencoded.png"/>
          <p:cNvPicPr preferRelativeResize="0"/>
          <p:nvPr/>
        </p:nvPicPr>
        <p:blipFill rotWithShape="1">
          <a:blip r:embed="rId5">
            <a:alphaModFix/>
          </a:blip>
          <a:srcRect/>
          <a:stretch/>
        </p:blipFill>
        <p:spPr>
          <a:xfrm>
            <a:off x="2862072" y="2999232"/>
            <a:ext cx="274320" cy="274320"/>
          </a:xfrm>
          <a:prstGeom prst="rect">
            <a:avLst/>
          </a:prstGeom>
          <a:noFill/>
          <a:ln>
            <a:noFill/>
          </a:ln>
        </p:spPr>
      </p:pic>
      <p:sp>
        <p:nvSpPr>
          <p:cNvPr id="412" name="Google Shape;412;p14"/>
          <p:cNvSpPr/>
          <p:nvPr/>
        </p:nvSpPr>
        <p:spPr>
          <a:xfrm>
            <a:off x="3227832" y="2971800"/>
            <a:ext cx="16459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Mano de obra</a:t>
            </a:r>
            <a:endParaRPr sz="1200">
              <a:solidFill>
                <a:schemeClr val="dk1"/>
              </a:solidFill>
              <a:latin typeface="Calibri"/>
              <a:ea typeface="Calibri"/>
              <a:cs typeface="Calibri"/>
              <a:sym typeface="Calibri"/>
            </a:endParaRPr>
          </a:p>
        </p:txBody>
      </p:sp>
      <p:sp>
        <p:nvSpPr>
          <p:cNvPr id="413" name="Google Shape;413;p14"/>
          <p:cNvSpPr/>
          <p:nvPr/>
        </p:nvSpPr>
        <p:spPr>
          <a:xfrm>
            <a:off x="2724912" y="3383280"/>
            <a:ext cx="2194560" cy="28346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14"/>
          <p:cNvSpPr/>
          <p:nvPr/>
        </p:nvSpPr>
        <p:spPr>
          <a:xfrm>
            <a:off x="2862072" y="3520440"/>
            <a:ext cx="19202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Personal sin capacitación</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Errores de digitación frecuentes</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Dependencia del encargado de turno</a:t>
            </a:r>
            <a:endParaRPr sz="1050">
              <a:solidFill>
                <a:schemeClr val="dk1"/>
              </a:solidFill>
              <a:latin typeface="Calibri"/>
              <a:ea typeface="Calibri"/>
              <a:cs typeface="Calibri"/>
              <a:sym typeface="Calibri"/>
            </a:endParaRPr>
          </a:p>
        </p:txBody>
      </p:sp>
      <p:sp>
        <p:nvSpPr>
          <p:cNvPr id="415" name="Google Shape;415;p14"/>
          <p:cNvSpPr/>
          <p:nvPr/>
        </p:nvSpPr>
        <p:spPr>
          <a:xfrm>
            <a:off x="4992624" y="2880360"/>
            <a:ext cx="2194560" cy="5029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16" name="Google Shape;416;p14" descr="preencoded.png"/>
          <p:cNvPicPr preferRelativeResize="0"/>
          <p:nvPr/>
        </p:nvPicPr>
        <p:blipFill rotWithShape="1">
          <a:blip r:embed="rId6">
            <a:alphaModFix/>
          </a:blip>
          <a:srcRect/>
          <a:stretch/>
        </p:blipFill>
        <p:spPr>
          <a:xfrm>
            <a:off x="5129784" y="2999232"/>
            <a:ext cx="274320" cy="274320"/>
          </a:xfrm>
          <a:prstGeom prst="rect">
            <a:avLst/>
          </a:prstGeom>
          <a:noFill/>
          <a:ln>
            <a:noFill/>
          </a:ln>
        </p:spPr>
      </p:pic>
      <p:sp>
        <p:nvSpPr>
          <p:cNvPr id="417" name="Google Shape;417;p14"/>
          <p:cNvSpPr/>
          <p:nvPr/>
        </p:nvSpPr>
        <p:spPr>
          <a:xfrm>
            <a:off x="5495544" y="2971800"/>
            <a:ext cx="16459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Materiales</a:t>
            </a:r>
            <a:endParaRPr sz="1200">
              <a:solidFill>
                <a:schemeClr val="dk1"/>
              </a:solidFill>
              <a:latin typeface="Calibri"/>
              <a:ea typeface="Calibri"/>
              <a:cs typeface="Calibri"/>
              <a:sym typeface="Calibri"/>
            </a:endParaRPr>
          </a:p>
        </p:txBody>
      </p:sp>
      <p:sp>
        <p:nvSpPr>
          <p:cNvPr id="418" name="Google Shape;418;p14"/>
          <p:cNvSpPr/>
          <p:nvPr/>
        </p:nvSpPr>
        <p:spPr>
          <a:xfrm>
            <a:off x="4992624" y="3383280"/>
            <a:ext cx="2194560" cy="28346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9" name="Google Shape;419;p14"/>
          <p:cNvSpPr/>
          <p:nvPr/>
        </p:nvSpPr>
        <p:spPr>
          <a:xfrm>
            <a:off x="5129784" y="3520440"/>
            <a:ext cx="19202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Facturas en papel</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Códigos heterogéneos</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Sin estándar SKU interno</a:t>
            </a:r>
            <a:endParaRPr sz="1050">
              <a:solidFill>
                <a:schemeClr val="dk1"/>
              </a:solidFill>
              <a:latin typeface="Calibri"/>
              <a:ea typeface="Calibri"/>
              <a:cs typeface="Calibri"/>
              <a:sym typeface="Calibri"/>
            </a:endParaRPr>
          </a:p>
        </p:txBody>
      </p:sp>
      <p:sp>
        <p:nvSpPr>
          <p:cNvPr id="420" name="Google Shape;420;p14"/>
          <p:cNvSpPr/>
          <p:nvPr/>
        </p:nvSpPr>
        <p:spPr>
          <a:xfrm>
            <a:off x="7260336" y="2880360"/>
            <a:ext cx="2194560" cy="50292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21" name="Google Shape;421;p14" descr="preencoded.png"/>
          <p:cNvPicPr preferRelativeResize="0"/>
          <p:nvPr/>
        </p:nvPicPr>
        <p:blipFill rotWithShape="1">
          <a:blip r:embed="rId7">
            <a:alphaModFix/>
          </a:blip>
          <a:srcRect/>
          <a:stretch/>
        </p:blipFill>
        <p:spPr>
          <a:xfrm>
            <a:off x="7397496" y="2999232"/>
            <a:ext cx="274320" cy="274320"/>
          </a:xfrm>
          <a:prstGeom prst="rect">
            <a:avLst/>
          </a:prstGeom>
          <a:noFill/>
          <a:ln>
            <a:noFill/>
          </a:ln>
        </p:spPr>
      </p:pic>
      <p:sp>
        <p:nvSpPr>
          <p:cNvPr id="422" name="Google Shape;422;p14"/>
          <p:cNvSpPr/>
          <p:nvPr/>
        </p:nvSpPr>
        <p:spPr>
          <a:xfrm>
            <a:off x="7763256" y="2971800"/>
            <a:ext cx="16459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Máquina</a:t>
            </a:r>
            <a:endParaRPr sz="1200">
              <a:solidFill>
                <a:schemeClr val="dk1"/>
              </a:solidFill>
              <a:latin typeface="Calibri"/>
              <a:ea typeface="Calibri"/>
              <a:cs typeface="Calibri"/>
              <a:sym typeface="Calibri"/>
            </a:endParaRPr>
          </a:p>
        </p:txBody>
      </p:sp>
      <p:sp>
        <p:nvSpPr>
          <p:cNvPr id="423" name="Google Shape;423;p14"/>
          <p:cNvSpPr/>
          <p:nvPr/>
        </p:nvSpPr>
        <p:spPr>
          <a:xfrm>
            <a:off x="7260336" y="3383280"/>
            <a:ext cx="2194560" cy="28346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14"/>
          <p:cNvSpPr/>
          <p:nvPr/>
        </p:nvSpPr>
        <p:spPr>
          <a:xfrm>
            <a:off x="7397496" y="3520440"/>
            <a:ext cx="19202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Sin sistema TI de inventario</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Excel sin validación</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Sin integración con POS</a:t>
            </a:r>
            <a:endParaRPr sz="1050">
              <a:solidFill>
                <a:schemeClr val="dk1"/>
              </a:solidFill>
              <a:latin typeface="Calibri"/>
              <a:ea typeface="Calibri"/>
              <a:cs typeface="Calibri"/>
              <a:sym typeface="Calibri"/>
            </a:endParaRPr>
          </a:p>
        </p:txBody>
      </p:sp>
      <p:sp>
        <p:nvSpPr>
          <p:cNvPr id="425" name="Google Shape;425;p14"/>
          <p:cNvSpPr/>
          <p:nvPr/>
        </p:nvSpPr>
        <p:spPr>
          <a:xfrm>
            <a:off x="9528048" y="2880360"/>
            <a:ext cx="2194560" cy="50292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26" name="Google Shape;426;p14" descr="preencoded.png"/>
          <p:cNvPicPr preferRelativeResize="0"/>
          <p:nvPr/>
        </p:nvPicPr>
        <p:blipFill rotWithShape="1">
          <a:blip r:embed="rId8">
            <a:alphaModFix/>
          </a:blip>
          <a:srcRect/>
          <a:stretch/>
        </p:blipFill>
        <p:spPr>
          <a:xfrm>
            <a:off x="9665208" y="2999232"/>
            <a:ext cx="274320" cy="274320"/>
          </a:xfrm>
          <a:prstGeom prst="rect">
            <a:avLst/>
          </a:prstGeom>
          <a:noFill/>
          <a:ln>
            <a:noFill/>
          </a:ln>
        </p:spPr>
      </p:pic>
      <p:sp>
        <p:nvSpPr>
          <p:cNvPr id="427" name="Google Shape;427;p14"/>
          <p:cNvSpPr/>
          <p:nvPr/>
        </p:nvSpPr>
        <p:spPr>
          <a:xfrm>
            <a:off x="10030968" y="2971800"/>
            <a:ext cx="16459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Medio ambiente</a:t>
            </a:r>
            <a:endParaRPr sz="1200">
              <a:solidFill>
                <a:schemeClr val="dk1"/>
              </a:solidFill>
              <a:latin typeface="Calibri"/>
              <a:ea typeface="Calibri"/>
              <a:cs typeface="Calibri"/>
              <a:sym typeface="Calibri"/>
            </a:endParaRPr>
          </a:p>
        </p:txBody>
      </p:sp>
      <p:sp>
        <p:nvSpPr>
          <p:cNvPr id="428" name="Google Shape;428;p14"/>
          <p:cNvSpPr/>
          <p:nvPr/>
        </p:nvSpPr>
        <p:spPr>
          <a:xfrm>
            <a:off x="9528048" y="3383280"/>
            <a:ext cx="2194560" cy="28346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9" name="Google Shape;429;p14"/>
          <p:cNvSpPr/>
          <p:nvPr/>
        </p:nvSpPr>
        <p:spPr>
          <a:xfrm>
            <a:off x="9665208" y="3520440"/>
            <a:ext cx="19202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Crecimiento del stock</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Más proveedores activos</a:t>
            </a:r>
            <a:endParaRPr sz="1050">
              <a:solidFill>
                <a:schemeClr val="dk1"/>
              </a:solidFill>
              <a:latin typeface="Calibri"/>
              <a:ea typeface="Calibri"/>
              <a:cs typeface="Calibri"/>
              <a:sym typeface="Calibri"/>
            </a:endParaRPr>
          </a:p>
          <a:p>
            <a:pPr marL="342900" marR="0" lvl="0" indent="-342900" algn="l" rtl="0">
              <a:spcBef>
                <a:spcPts val="400"/>
              </a:spcBef>
              <a:spcAft>
                <a:spcPts val="0"/>
              </a:spcAft>
              <a:buClr>
                <a:srgbClr val="1F2A26"/>
              </a:buClr>
              <a:buSzPts val="1050"/>
              <a:buFont typeface="Calibri"/>
              <a:buChar char="•"/>
            </a:pPr>
            <a:r>
              <a:rPr lang="en-US" sz="1050">
                <a:solidFill>
                  <a:srgbClr val="1F2A26"/>
                </a:solidFill>
                <a:latin typeface="Calibri"/>
                <a:ea typeface="Calibri"/>
                <a:cs typeface="Calibri"/>
                <a:sym typeface="Calibri"/>
              </a:rPr>
              <a:t>Baja trazabilidad</a:t>
            </a:r>
            <a:endParaRPr sz="1050">
              <a:solidFill>
                <a:schemeClr val="dk1"/>
              </a:solidFill>
              <a:latin typeface="Calibri"/>
              <a:ea typeface="Calibri"/>
              <a:cs typeface="Calibri"/>
              <a:sym typeface="Calibri"/>
            </a:endParaRPr>
          </a:p>
        </p:txBody>
      </p:sp>
      <p:cxnSp>
        <p:nvCxnSpPr>
          <p:cNvPr id="430" name="Google Shape;430;p14"/>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431" name="Google Shape;431;p14"/>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432" name="Google Shape;432;p14"/>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14 / 28</a:t>
            </a:r>
            <a:endParaRPr sz="9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7"/>
        <p:cNvGrpSpPr/>
        <p:nvPr/>
      </p:nvGrpSpPr>
      <p:grpSpPr>
        <a:xfrm>
          <a:off x="0" y="0"/>
          <a:ext cx="0" cy="0"/>
          <a:chOff x="0" y="0"/>
          <a:chExt cx="0" cy="0"/>
        </a:xfrm>
      </p:grpSpPr>
      <p:sp>
        <p:nvSpPr>
          <p:cNvPr id="438" name="Google Shape;438;p15"/>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7. Estándar ESA · marco de especificación</a:t>
            </a:r>
            <a:endParaRPr sz="3400">
              <a:solidFill>
                <a:schemeClr val="dk1"/>
              </a:solidFill>
              <a:latin typeface="Calibri"/>
              <a:ea typeface="Calibri"/>
              <a:cs typeface="Calibri"/>
              <a:sym typeface="Calibri"/>
            </a:endParaRPr>
          </a:p>
        </p:txBody>
      </p:sp>
      <p:sp>
        <p:nvSpPr>
          <p:cNvPr id="439" name="Google Shape;439;p15"/>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European Space Agency – PSS-05 · base formal para los User Requirements</a:t>
            </a:r>
            <a:endParaRPr sz="1300">
              <a:solidFill>
                <a:schemeClr val="dk1"/>
              </a:solidFill>
              <a:latin typeface="Calibri"/>
              <a:ea typeface="Calibri"/>
              <a:cs typeface="Calibri"/>
              <a:sym typeface="Calibri"/>
            </a:endParaRPr>
          </a:p>
        </p:txBody>
      </p:sp>
      <p:sp>
        <p:nvSpPr>
          <p:cNvPr id="440" name="Google Shape;440;p15"/>
          <p:cNvSpPr/>
          <p:nvPr/>
        </p:nvSpPr>
        <p:spPr>
          <a:xfrm>
            <a:off x="457200" y="1783080"/>
            <a:ext cx="11274552" cy="91440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1" name="Google Shape;441;p15"/>
          <p:cNvSpPr/>
          <p:nvPr/>
        </p:nvSpPr>
        <p:spPr>
          <a:xfrm>
            <a:off x="731520" y="1874520"/>
            <a:ext cx="731520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¿QUÉ ES EL ESTÁNDAR ESA?</a:t>
            </a:r>
            <a:endParaRPr sz="1150">
              <a:solidFill>
                <a:schemeClr val="dk1"/>
              </a:solidFill>
              <a:latin typeface="Calibri"/>
              <a:ea typeface="Calibri"/>
              <a:cs typeface="Calibri"/>
              <a:sym typeface="Calibri"/>
            </a:endParaRPr>
          </a:p>
        </p:txBody>
      </p:sp>
      <p:sp>
        <p:nvSpPr>
          <p:cNvPr id="442" name="Google Shape;442;p15"/>
          <p:cNvSpPr/>
          <p:nvPr/>
        </p:nvSpPr>
        <p:spPr>
          <a:xfrm>
            <a:off x="731520" y="2194560"/>
            <a:ext cx="1078992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Metodología de la Agencia Espacial Europea para la especificación formal de requerimientos de software. Cada User Requirement (UR) describe el comportamiento esperado del sistema desde la perspectiva del usuario, sin entrar en detalles técnicos de implementación, y se evalúa con 6 criterios estandarizados.</a:t>
            </a:r>
            <a:endParaRPr sz="1200">
              <a:solidFill>
                <a:schemeClr val="dk1"/>
              </a:solidFill>
              <a:latin typeface="Calibri"/>
              <a:ea typeface="Calibri"/>
              <a:cs typeface="Calibri"/>
              <a:sym typeface="Calibri"/>
            </a:endParaRPr>
          </a:p>
        </p:txBody>
      </p:sp>
      <p:sp>
        <p:nvSpPr>
          <p:cNvPr id="443" name="Google Shape;443;p15"/>
          <p:cNvSpPr/>
          <p:nvPr/>
        </p:nvSpPr>
        <p:spPr>
          <a:xfrm>
            <a:off x="457200" y="2880360"/>
            <a:ext cx="3657600" cy="15087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15"/>
          <p:cNvSpPr/>
          <p:nvPr/>
        </p:nvSpPr>
        <p:spPr>
          <a:xfrm>
            <a:off x="457200" y="2880360"/>
            <a:ext cx="73152" cy="15087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15"/>
          <p:cNvSpPr/>
          <p:nvPr/>
        </p:nvSpPr>
        <p:spPr>
          <a:xfrm>
            <a:off x="685800" y="3108960"/>
            <a:ext cx="640080" cy="640080"/>
          </a:xfrm>
          <a:prstGeom prst="ellipse">
            <a:avLst/>
          </a:prstGeom>
          <a:solidFill>
            <a:srgbClr val="D640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46" name="Google Shape;446;p15" descr="preencoded.png"/>
          <p:cNvPicPr preferRelativeResize="0"/>
          <p:nvPr/>
        </p:nvPicPr>
        <p:blipFill rotWithShape="1">
          <a:blip r:embed="rId3">
            <a:alphaModFix/>
          </a:blip>
          <a:srcRect/>
          <a:stretch/>
        </p:blipFill>
        <p:spPr>
          <a:xfrm>
            <a:off x="822960" y="3246120"/>
            <a:ext cx="365760" cy="365760"/>
          </a:xfrm>
          <a:prstGeom prst="rect">
            <a:avLst/>
          </a:prstGeom>
          <a:noFill/>
          <a:ln>
            <a:noFill/>
          </a:ln>
        </p:spPr>
      </p:pic>
      <p:sp>
        <p:nvSpPr>
          <p:cNvPr id="447" name="Google Shape;447;p15"/>
          <p:cNvSpPr/>
          <p:nvPr/>
        </p:nvSpPr>
        <p:spPr>
          <a:xfrm>
            <a:off x="1463040" y="3172968"/>
            <a:ext cx="2560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600"/>
              <a:buFont typeface="Georgia"/>
              <a:buNone/>
            </a:pPr>
            <a:r>
              <a:rPr lang="en-US" sz="1600" b="1">
                <a:solidFill>
                  <a:srgbClr val="0F3B2E"/>
                </a:solidFill>
                <a:latin typeface="Georgia"/>
                <a:ea typeface="Georgia"/>
                <a:cs typeface="Georgia"/>
                <a:sym typeface="Georgia"/>
              </a:rPr>
              <a:t>Necesidad</a:t>
            </a:r>
            <a:endParaRPr sz="1600">
              <a:solidFill>
                <a:schemeClr val="dk1"/>
              </a:solidFill>
              <a:latin typeface="Calibri"/>
              <a:ea typeface="Calibri"/>
              <a:cs typeface="Calibri"/>
              <a:sym typeface="Calibri"/>
            </a:endParaRPr>
          </a:p>
        </p:txBody>
      </p:sp>
      <p:sp>
        <p:nvSpPr>
          <p:cNvPr id="448" name="Google Shape;448;p15"/>
          <p:cNvSpPr/>
          <p:nvPr/>
        </p:nvSpPr>
        <p:spPr>
          <a:xfrm>
            <a:off x="685800" y="379476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Distingue requerimientos esenciales (no negociables) de los negociables.</a:t>
            </a:r>
            <a:endParaRPr sz="1050">
              <a:solidFill>
                <a:schemeClr val="dk1"/>
              </a:solidFill>
              <a:latin typeface="Calibri"/>
              <a:ea typeface="Calibri"/>
              <a:cs typeface="Calibri"/>
              <a:sym typeface="Calibri"/>
            </a:endParaRPr>
          </a:p>
        </p:txBody>
      </p:sp>
      <p:sp>
        <p:nvSpPr>
          <p:cNvPr id="449" name="Google Shape;449;p15"/>
          <p:cNvSpPr/>
          <p:nvPr/>
        </p:nvSpPr>
        <p:spPr>
          <a:xfrm>
            <a:off x="4233672" y="2880360"/>
            <a:ext cx="3657600" cy="15087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15"/>
          <p:cNvSpPr/>
          <p:nvPr/>
        </p:nvSpPr>
        <p:spPr>
          <a:xfrm>
            <a:off x="4233672" y="2880360"/>
            <a:ext cx="73152" cy="15087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15"/>
          <p:cNvSpPr/>
          <p:nvPr/>
        </p:nvSpPr>
        <p:spPr>
          <a:xfrm>
            <a:off x="4462272" y="3108960"/>
            <a:ext cx="640080" cy="640080"/>
          </a:xfrm>
          <a:prstGeom prst="ellipse">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2" name="Google Shape;452;p15" descr="preencoded.png"/>
          <p:cNvPicPr preferRelativeResize="0"/>
          <p:nvPr/>
        </p:nvPicPr>
        <p:blipFill rotWithShape="1">
          <a:blip r:embed="rId4">
            <a:alphaModFix/>
          </a:blip>
          <a:srcRect/>
          <a:stretch/>
        </p:blipFill>
        <p:spPr>
          <a:xfrm>
            <a:off x="4599432" y="3246120"/>
            <a:ext cx="365760" cy="365760"/>
          </a:xfrm>
          <a:prstGeom prst="rect">
            <a:avLst/>
          </a:prstGeom>
          <a:noFill/>
          <a:ln>
            <a:noFill/>
          </a:ln>
        </p:spPr>
      </p:pic>
      <p:sp>
        <p:nvSpPr>
          <p:cNvPr id="453" name="Google Shape;453;p15"/>
          <p:cNvSpPr/>
          <p:nvPr/>
        </p:nvSpPr>
        <p:spPr>
          <a:xfrm>
            <a:off x="5239512" y="3172968"/>
            <a:ext cx="2560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600"/>
              <a:buFont typeface="Georgia"/>
              <a:buNone/>
            </a:pPr>
            <a:r>
              <a:rPr lang="en-US" sz="1600" b="1">
                <a:solidFill>
                  <a:srgbClr val="0F3B2E"/>
                </a:solidFill>
                <a:latin typeface="Georgia"/>
                <a:ea typeface="Georgia"/>
                <a:cs typeface="Georgia"/>
                <a:sym typeface="Georgia"/>
              </a:rPr>
              <a:t>Prioridad</a:t>
            </a:r>
            <a:endParaRPr sz="1600">
              <a:solidFill>
                <a:schemeClr val="dk1"/>
              </a:solidFill>
              <a:latin typeface="Calibri"/>
              <a:ea typeface="Calibri"/>
              <a:cs typeface="Calibri"/>
              <a:sym typeface="Calibri"/>
            </a:endParaRPr>
          </a:p>
        </p:txBody>
      </p:sp>
      <p:sp>
        <p:nvSpPr>
          <p:cNvPr id="454" name="Google Shape;454;p15"/>
          <p:cNvSpPr/>
          <p:nvPr/>
        </p:nvSpPr>
        <p:spPr>
          <a:xfrm>
            <a:off x="4462272" y="379476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Determina el orden de implementación: alta, media o baja. Orienta los incrementos.</a:t>
            </a:r>
            <a:endParaRPr sz="1050">
              <a:solidFill>
                <a:schemeClr val="dk1"/>
              </a:solidFill>
              <a:latin typeface="Calibri"/>
              <a:ea typeface="Calibri"/>
              <a:cs typeface="Calibri"/>
              <a:sym typeface="Calibri"/>
            </a:endParaRPr>
          </a:p>
        </p:txBody>
      </p:sp>
      <p:sp>
        <p:nvSpPr>
          <p:cNvPr id="455" name="Google Shape;455;p15"/>
          <p:cNvSpPr/>
          <p:nvPr/>
        </p:nvSpPr>
        <p:spPr>
          <a:xfrm>
            <a:off x="8010144" y="2880360"/>
            <a:ext cx="3657600" cy="15087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15"/>
          <p:cNvSpPr/>
          <p:nvPr/>
        </p:nvSpPr>
        <p:spPr>
          <a:xfrm>
            <a:off x="8010144" y="2880360"/>
            <a:ext cx="73152" cy="15087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7" name="Google Shape;457;p15"/>
          <p:cNvSpPr/>
          <p:nvPr/>
        </p:nvSpPr>
        <p:spPr>
          <a:xfrm>
            <a:off x="8238744" y="3108960"/>
            <a:ext cx="640080" cy="64008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58" name="Google Shape;458;p15" descr="preencoded.png"/>
          <p:cNvPicPr preferRelativeResize="0"/>
          <p:nvPr/>
        </p:nvPicPr>
        <p:blipFill rotWithShape="1">
          <a:blip r:embed="rId5">
            <a:alphaModFix/>
          </a:blip>
          <a:srcRect/>
          <a:stretch/>
        </p:blipFill>
        <p:spPr>
          <a:xfrm>
            <a:off x="8375904" y="3246120"/>
            <a:ext cx="365760" cy="365760"/>
          </a:xfrm>
          <a:prstGeom prst="rect">
            <a:avLst/>
          </a:prstGeom>
          <a:noFill/>
          <a:ln>
            <a:noFill/>
          </a:ln>
        </p:spPr>
      </p:pic>
      <p:sp>
        <p:nvSpPr>
          <p:cNvPr id="459" name="Google Shape;459;p15"/>
          <p:cNvSpPr/>
          <p:nvPr/>
        </p:nvSpPr>
        <p:spPr>
          <a:xfrm>
            <a:off x="9015984" y="3172968"/>
            <a:ext cx="2560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600"/>
              <a:buFont typeface="Georgia"/>
              <a:buNone/>
            </a:pPr>
            <a:r>
              <a:rPr lang="en-US" sz="1600" b="1">
                <a:solidFill>
                  <a:srgbClr val="0F3B2E"/>
                </a:solidFill>
                <a:latin typeface="Georgia"/>
                <a:ea typeface="Georgia"/>
                <a:cs typeface="Georgia"/>
                <a:sym typeface="Georgia"/>
              </a:rPr>
              <a:t>Estabilidad</a:t>
            </a:r>
            <a:endParaRPr sz="1600">
              <a:solidFill>
                <a:schemeClr val="dk1"/>
              </a:solidFill>
              <a:latin typeface="Calibri"/>
              <a:ea typeface="Calibri"/>
              <a:cs typeface="Calibri"/>
              <a:sym typeface="Calibri"/>
            </a:endParaRPr>
          </a:p>
        </p:txBody>
      </p:sp>
      <p:sp>
        <p:nvSpPr>
          <p:cNvPr id="460" name="Google Shape;460;p15"/>
          <p:cNvSpPr/>
          <p:nvPr/>
        </p:nvSpPr>
        <p:spPr>
          <a:xfrm>
            <a:off x="8238744" y="379476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Indica la probabilidad de que el requerimiento cambie durante el ciclo de vida.</a:t>
            </a:r>
            <a:endParaRPr sz="1050">
              <a:solidFill>
                <a:schemeClr val="dk1"/>
              </a:solidFill>
              <a:latin typeface="Calibri"/>
              <a:ea typeface="Calibri"/>
              <a:cs typeface="Calibri"/>
              <a:sym typeface="Calibri"/>
            </a:endParaRPr>
          </a:p>
        </p:txBody>
      </p:sp>
      <p:sp>
        <p:nvSpPr>
          <p:cNvPr id="461" name="Google Shape;461;p15"/>
          <p:cNvSpPr/>
          <p:nvPr/>
        </p:nvSpPr>
        <p:spPr>
          <a:xfrm>
            <a:off x="457200" y="4526280"/>
            <a:ext cx="3657600" cy="15087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15"/>
          <p:cNvSpPr/>
          <p:nvPr/>
        </p:nvSpPr>
        <p:spPr>
          <a:xfrm>
            <a:off x="457200" y="4526280"/>
            <a:ext cx="73152" cy="15087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3" name="Google Shape;463;p15"/>
          <p:cNvSpPr/>
          <p:nvPr/>
        </p:nvSpPr>
        <p:spPr>
          <a:xfrm>
            <a:off x="685800" y="4754880"/>
            <a:ext cx="640080" cy="6400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64" name="Google Shape;464;p15" descr="preencoded.png"/>
          <p:cNvPicPr preferRelativeResize="0"/>
          <p:nvPr/>
        </p:nvPicPr>
        <p:blipFill rotWithShape="1">
          <a:blip r:embed="rId6">
            <a:alphaModFix/>
          </a:blip>
          <a:srcRect/>
          <a:stretch/>
        </p:blipFill>
        <p:spPr>
          <a:xfrm>
            <a:off x="822960" y="4892040"/>
            <a:ext cx="365760" cy="365760"/>
          </a:xfrm>
          <a:prstGeom prst="rect">
            <a:avLst/>
          </a:prstGeom>
          <a:noFill/>
          <a:ln>
            <a:noFill/>
          </a:ln>
        </p:spPr>
      </p:pic>
      <p:sp>
        <p:nvSpPr>
          <p:cNvPr id="465" name="Google Shape;465;p15"/>
          <p:cNvSpPr/>
          <p:nvPr/>
        </p:nvSpPr>
        <p:spPr>
          <a:xfrm>
            <a:off x="1463040" y="4818888"/>
            <a:ext cx="2560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600"/>
              <a:buFont typeface="Georgia"/>
              <a:buNone/>
            </a:pPr>
            <a:r>
              <a:rPr lang="en-US" sz="1600" b="1">
                <a:solidFill>
                  <a:srgbClr val="0F3B2E"/>
                </a:solidFill>
                <a:latin typeface="Georgia"/>
                <a:ea typeface="Georgia"/>
                <a:cs typeface="Georgia"/>
                <a:sym typeface="Georgia"/>
              </a:rPr>
              <a:t>Claridad</a:t>
            </a:r>
            <a:endParaRPr sz="1600">
              <a:solidFill>
                <a:schemeClr val="dk1"/>
              </a:solidFill>
              <a:latin typeface="Calibri"/>
              <a:ea typeface="Calibri"/>
              <a:cs typeface="Calibri"/>
              <a:sym typeface="Calibri"/>
            </a:endParaRPr>
          </a:p>
        </p:txBody>
      </p:sp>
      <p:sp>
        <p:nvSpPr>
          <p:cNvPr id="466" name="Google Shape;466;p15"/>
          <p:cNvSpPr/>
          <p:nvPr/>
        </p:nvSpPr>
        <p:spPr>
          <a:xfrm>
            <a:off x="685800" y="544068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Mide la ausencia de ambigüedad en la redacción del enunciado.</a:t>
            </a:r>
            <a:endParaRPr sz="1050">
              <a:solidFill>
                <a:schemeClr val="dk1"/>
              </a:solidFill>
              <a:latin typeface="Calibri"/>
              <a:ea typeface="Calibri"/>
              <a:cs typeface="Calibri"/>
              <a:sym typeface="Calibri"/>
            </a:endParaRPr>
          </a:p>
        </p:txBody>
      </p:sp>
      <p:sp>
        <p:nvSpPr>
          <p:cNvPr id="467" name="Google Shape;467;p15"/>
          <p:cNvSpPr/>
          <p:nvPr/>
        </p:nvSpPr>
        <p:spPr>
          <a:xfrm>
            <a:off x="4233672" y="4526280"/>
            <a:ext cx="3657600" cy="15087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8" name="Google Shape;468;p15"/>
          <p:cNvSpPr/>
          <p:nvPr/>
        </p:nvSpPr>
        <p:spPr>
          <a:xfrm>
            <a:off x="4233672" y="4526280"/>
            <a:ext cx="73152" cy="15087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15"/>
          <p:cNvSpPr/>
          <p:nvPr/>
        </p:nvSpPr>
        <p:spPr>
          <a:xfrm>
            <a:off x="4462272" y="4754880"/>
            <a:ext cx="640080" cy="64008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70" name="Google Shape;470;p15" descr="preencoded.png"/>
          <p:cNvPicPr preferRelativeResize="0"/>
          <p:nvPr/>
        </p:nvPicPr>
        <p:blipFill rotWithShape="1">
          <a:blip r:embed="rId7">
            <a:alphaModFix/>
          </a:blip>
          <a:srcRect/>
          <a:stretch/>
        </p:blipFill>
        <p:spPr>
          <a:xfrm>
            <a:off x="4599432" y="4892040"/>
            <a:ext cx="365760" cy="365760"/>
          </a:xfrm>
          <a:prstGeom prst="rect">
            <a:avLst/>
          </a:prstGeom>
          <a:noFill/>
          <a:ln>
            <a:noFill/>
          </a:ln>
        </p:spPr>
      </p:pic>
      <p:sp>
        <p:nvSpPr>
          <p:cNvPr id="471" name="Google Shape;471;p15"/>
          <p:cNvSpPr/>
          <p:nvPr/>
        </p:nvSpPr>
        <p:spPr>
          <a:xfrm>
            <a:off x="5239512" y="4818888"/>
            <a:ext cx="2560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600"/>
              <a:buFont typeface="Georgia"/>
              <a:buNone/>
            </a:pPr>
            <a:r>
              <a:rPr lang="en-US" sz="1600" b="1">
                <a:solidFill>
                  <a:srgbClr val="0F3B2E"/>
                </a:solidFill>
                <a:latin typeface="Georgia"/>
                <a:ea typeface="Georgia"/>
                <a:cs typeface="Georgia"/>
                <a:sym typeface="Georgia"/>
              </a:rPr>
              <a:t>Verificabilidad</a:t>
            </a:r>
            <a:endParaRPr sz="1600">
              <a:solidFill>
                <a:schemeClr val="dk1"/>
              </a:solidFill>
              <a:latin typeface="Calibri"/>
              <a:ea typeface="Calibri"/>
              <a:cs typeface="Calibri"/>
              <a:sym typeface="Calibri"/>
            </a:endParaRPr>
          </a:p>
        </p:txBody>
      </p:sp>
      <p:sp>
        <p:nvSpPr>
          <p:cNvPr id="472" name="Google Shape;472;p15"/>
          <p:cNvSpPr/>
          <p:nvPr/>
        </p:nvSpPr>
        <p:spPr>
          <a:xfrm>
            <a:off x="4462272" y="544068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Establece si el requerimiento puede ser comprobado mediante pruebas concretas.</a:t>
            </a:r>
            <a:endParaRPr sz="1050">
              <a:solidFill>
                <a:schemeClr val="dk1"/>
              </a:solidFill>
              <a:latin typeface="Calibri"/>
              <a:ea typeface="Calibri"/>
              <a:cs typeface="Calibri"/>
              <a:sym typeface="Calibri"/>
            </a:endParaRPr>
          </a:p>
        </p:txBody>
      </p:sp>
      <p:sp>
        <p:nvSpPr>
          <p:cNvPr id="473" name="Google Shape;473;p15"/>
          <p:cNvSpPr/>
          <p:nvPr/>
        </p:nvSpPr>
        <p:spPr>
          <a:xfrm>
            <a:off x="8010144" y="4526280"/>
            <a:ext cx="3657600" cy="15087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4" name="Google Shape;474;p15"/>
          <p:cNvSpPr/>
          <p:nvPr/>
        </p:nvSpPr>
        <p:spPr>
          <a:xfrm>
            <a:off x="8010144" y="4526280"/>
            <a:ext cx="73152" cy="15087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5" name="Google Shape;475;p15"/>
          <p:cNvSpPr/>
          <p:nvPr/>
        </p:nvSpPr>
        <p:spPr>
          <a:xfrm>
            <a:off x="8238744" y="4754880"/>
            <a:ext cx="640080" cy="64008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76" name="Google Shape;476;p15" descr="preencoded.png"/>
          <p:cNvPicPr preferRelativeResize="0"/>
          <p:nvPr/>
        </p:nvPicPr>
        <p:blipFill rotWithShape="1">
          <a:blip r:embed="rId8">
            <a:alphaModFix/>
          </a:blip>
          <a:srcRect/>
          <a:stretch/>
        </p:blipFill>
        <p:spPr>
          <a:xfrm>
            <a:off x="8375904" y="4892040"/>
            <a:ext cx="365760" cy="365760"/>
          </a:xfrm>
          <a:prstGeom prst="rect">
            <a:avLst/>
          </a:prstGeom>
          <a:noFill/>
          <a:ln>
            <a:noFill/>
          </a:ln>
        </p:spPr>
      </p:pic>
      <p:sp>
        <p:nvSpPr>
          <p:cNvPr id="477" name="Google Shape;477;p15"/>
          <p:cNvSpPr/>
          <p:nvPr/>
        </p:nvSpPr>
        <p:spPr>
          <a:xfrm>
            <a:off x="9015984" y="4818888"/>
            <a:ext cx="2560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600"/>
              <a:buFont typeface="Georgia"/>
              <a:buNone/>
            </a:pPr>
            <a:r>
              <a:rPr lang="en-US" sz="1600" b="1">
                <a:solidFill>
                  <a:srgbClr val="0F3B2E"/>
                </a:solidFill>
                <a:latin typeface="Georgia"/>
                <a:ea typeface="Georgia"/>
                <a:cs typeface="Georgia"/>
                <a:sym typeface="Georgia"/>
              </a:rPr>
              <a:t>Fuente</a:t>
            </a:r>
            <a:endParaRPr sz="1600">
              <a:solidFill>
                <a:schemeClr val="dk1"/>
              </a:solidFill>
              <a:latin typeface="Calibri"/>
              <a:ea typeface="Calibri"/>
              <a:cs typeface="Calibri"/>
              <a:sym typeface="Calibri"/>
            </a:endParaRPr>
          </a:p>
        </p:txBody>
      </p:sp>
      <p:sp>
        <p:nvSpPr>
          <p:cNvPr id="478" name="Google Shape;478;p15"/>
          <p:cNvSpPr/>
          <p:nvPr/>
        </p:nvSpPr>
        <p:spPr>
          <a:xfrm>
            <a:off x="8238744" y="544068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Identifica el origen del requerimiento (usuario, equipo, normativa).</a:t>
            </a:r>
            <a:endParaRPr sz="1050">
              <a:solidFill>
                <a:schemeClr val="dk1"/>
              </a:solidFill>
              <a:latin typeface="Calibri"/>
              <a:ea typeface="Calibri"/>
              <a:cs typeface="Calibri"/>
              <a:sym typeface="Calibri"/>
            </a:endParaRPr>
          </a:p>
        </p:txBody>
      </p:sp>
      <p:sp>
        <p:nvSpPr>
          <p:cNvPr id="479" name="Google Shape;479;p15"/>
          <p:cNvSpPr/>
          <p:nvPr/>
        </p:nvSpPr>
        <p:spPr>
          <a:xfrm>
            <a:off x="457200" y="6126480"/>
            <a:ext cx="11274552" cy="228600"/>
          </a:xfrm>
          <a:prstGeom prst="rect">
            <a:avLst/>
          </a:prstGeom>
          <a:noFill/>
          <a:ln>
            <a:noFill/>
          </a:ln>
        </p:spPr>
        <p:txBody>
          <a:bodyPr spcFirstLastPara="1" wrap="square" lIns="91425" tIns="45700" rIns="91425" bIns="45700" anchor="ctr" anchorCtr="0">
            <a:noAutofit/>
          </a:bodyPr>
          <a:lstStyle/>
          <a:p>
            <a:pPr algn="ctr">
              <a:buClr>
                <a:srgbClr val="6B7785"/>
              </a:buClr>
              <a:buSzPts val="1000"/>
            </a:pPr>
            <a:r>
              <a:rPr lang="en-US" sz="1000" i="1" err="1">
                <a:solidFill>
                  <a:srgbClr val="6B7785"/>
                </a:solidFill>
                <a:latin typeface="Georgia"/>
                <a:ea typeface="Georgia"/>
                <a:cs typeface="Georgia"/>
                <a:sym typeface="Georgia"/>
              </a:rPr>
              <a:t>Detalle</a:t>
            </a:r>
            <a:r>
              <a:rPr lang="en-US" sz="1000" i="1">
                <a:solidFill>
                  <a:srgbClr val="6B7785"/>
                </a:solidFill>
                <a:latin typeface="Georgia"/>
                <a:ea typeface="Georgia"/>
                <a:cs typeface="Georgia"/>
                <a:sym typeface="Georgia"/>
              </a:rPr>
              <a:t> </a:t>
            </a:r>
            <a:r>
              <a:rPr lang="en-US" sz="1000" i="1" err="1">
                <a:solidFill>
                  <a:srgbClr val="6B7785"/>
                </a:solidFill>
                <a:latin typeface="Georgia"/>
                <a:ea typeface="Georgia"/>
                <a:cs typeface="Georgia"/>
                <a:sym typeface="Georgia"/>
              </a:rPr>
              <a:t>completo</a:t>
            </a:r>
            <a:r>
              <a:rPr lang="en-US" sz="1000" i="1">
                <a:solidFill>
                  <a:srgbClr val="6B7785"/>
                </a:solidFill>
                <a:latin typeface="Georgia"/>
                <a:ea typeface="Georgia"/>
                <a:cs typeface="Georgia"/>
                <a:sym typeface="Georgia"/>
              </a:rPr>
              <a:t> </a:t>
            </a:r>
            <a:r>
              <a:rPr lang="en-US" sz="1000" i="1" err="1">
                <a:solidFill>
                  <a:srgbClr val="6B7785"/>
                </a:solidFill>
                <a:latin typeface="Georgia"/>
                <a:ea typeface="Georgia"/>
                <a:cs typeface="Georgia"/>
                <a:sym typeface="Georgia"/>
              </a:rPr>
              <a:t>en</a:t>
            </a:r>
            <a:r>
              <a:rPr lang="en-US" sz="1000" i="1">
                <a:solidFill>
                  <a:srgbClr val="6B7785"/>
                </a:solidFill>
                <a:latin typeface="Georgia"/>
                <a:ea typeface="Georgia"/>
                <a:cs typeface="Georgia"/>
                <a:sym typeface="Georgia"/>
              </a:rPr>
              <a:t> </a:t>
            </a:r>
            <a:r>
              <a:rPr lang="en-US" sz="1000" i="1" err="1">
                <a:solidFill>
                  <a:srgbClr val="6B7785"/>
                </a:solidFill>
                <a:latin typeface="Georgia"/>
                <a:ea typeface="Georgia"/>
                <a:cs typeface="Georgia"/>
                <a:sym typeface="Georgia"/>
              </a:rPr>
              <a:t>sección</a:t>
            </a:r>
            <a:r>
              <a:rPr lang="en-US" sz="1000" i="1">
                <a:solidFill>
                  <a:srgbClr val="6B7785"/>
                </a:solidFill>
                <a:latin typeface="Georgia"/>
                <a:ea typeface="Georgia"/>
                <a:cs typeface="Georgia"/>
                <a:sym typeface="Georgia"/>
              </a:rPr>
              <a:t> 9.1 del </a:t>
            </a:r>
            <a:r>
              <a:rPr lang="en-US" sz="1000" i="1" err="1">
                <a:solidFill>
                  <a:srgbClr val="6B7785"/>
                </a:solidFill>
                <a:latin typeface="Georgia"/>
                <a:ea typeface="Georgia"/>
                <a:cs typeface="Georgia"/>
                <a:sym typeface="Georgia"/>
              </a:rPr>
              <a:t>informe</a:t>
            </a:r>
            <a:r>
              <a:rPr lang="en-US" sz="1000" i="1">
                <a:solidFill>
                  <a:srgbClr val="6B7785"/>
                </a:solidFill>
                <a:latin typeface="Georgia"/>
                <a:ea typeface="Georgia"/>
                <a:cs typeface="Georgia"/>
                <a:sym typeface="Georgia"/>
              </a:rPr>
              <a:t> · </a:t>
            </a:r>
            <a:r>
              <a:rPr lang="en-US" sz="1000" i="1" err="1">
                <a:solidFill>
                  <a:srgbClr val="6B7785"/>
                </a:solidFill>
                <a:latin typeface="Georgia"/>
                <a:ea typeface="Georgia"/>
                <a:cs typeface="Georgia"/>
                <a:sym typeface="Georgia"/>
              </a:rPr>
              <a:t>Tabla</a:t>
            </a:r>
            <a:r>
              <a:rPr lang="en-US" sz="1000" i="1">
                <a:solidFill>
                  <a:srgbClr val="6B7785"/>
                </a:solidFill>
                <a:latin typeface="Georgia"/>
                <a:ea typeface="Georgia"/>
                <a:cs typeface="Georgia"/>
                <a:sym typeface="Georgia"/>
              </a:rPr>
              <a:t> 9.1 (Leyenda de </a:t>
            </a:r>
            <a:r>
              <a:rPr lang="en-US" sz="1000" i="1" err="1">
                <a:solidFill>
                  <a:srgbClr val="6B7785"/>
                </a:solidFill>
                <a:latin typeface="Georgia"/>
                <a:ea typeface="Georgia"/>
                <a:cs typeface="Georgia"/>
                <a:sym typeface="Georgia"/>
              </a:rPr>
              <a:t>criterios</a:t>
            </a:r>
            <a:r>
              <a:rPr lang="en-US" sz="1000" i="1">
                <a:solidFill>
                  <a:srgbClr val="6B7785"/>
                </a:solidFill>
                <a:latin typeface="Georgia"/>
                <a:ea typeface="Georgia"/>
                <a:cs typeface="Georgia"/>
                <a:sym typeface="Georgia"/>
              </a:rPr>
              <a:t> ESA) y </a:t>
            </a:r>
            <a:r>
              <a:rPr lang="en-US" sz="1000" i="1" err="1">
                <a:solidFill>
                  <a:srgbClr val="6B7785"/>
                </a:solidFill>
                <a:latin typeface="Georgia"/>
                <a:ea typeface="Georgia"/>
                <a:cs typeface="Georgia"/>
                <a:sym typeface="Georgia"/>
              </a:rPr>
              <a:t>Tabla</a:t>
            </a:r>
            <a:r>
              <a:rPr lang="en-US" sz="1000" i="1">
                <a:solidFill>
                  <a:srgbClr val="6B7785"/>
                </a:solidFill>
                <a:latin typeface="Georgia"/>
                <a:ea typeface="Georgia"/>
                <a:cs typeface="Georgia"/>
                <a:sym typeface="Georgia"/>
              </a:rPr>
              <a:t> 9.2 (UR-01 a UR-63 </a:t>
            </a:r>
            <a:r>
              <a:rPr lang="en-US" sz="1000" i="1" err="1">
                <a:solidFill>
                  <a:srgbClr val="6B7785"/>
                </a:solidFill>
                <a:latin typeface="Georgia"/>
                <a:ea typeface="Georgia"/>
                <a:cs typeface="Georgia"/>
                <a:sym typeface="Georgia"/>
              </a:rPr>
              <a:t>en</a:t>
            </a:r>
            <a:r>
              <a:rPr lang="en-US" sz="1000" i="1">
                <a:solidFill>
                  <a:srgbClr val="6B7785"/>
                </a:solidFill>
                <a:latin typeface="Georgia"/>
                <a:ea typeface="Georgia"/>
                <a:cs typeface="Georgia"/>
                <a:sym typeface="Georgia"/>
              </a:rPr>
              <a:t> </a:t>
            </a:r>
            <a:r>
              <a:rPr lang="en-US" sz="1000" i="1" err="1">
                <a:solidFill>
                  <a:srgbClr val="6B7785"/>
                </a:solidFill>
                <a:latin typeface="Georgia"/>
                <a:ea typeface="Georgia"/>
                <a:cs typeface="Georgia"/>
                <a:sym typeface="Georgia"/>
              </a:rPr>
              <a:t>formato</a:t>
            </a:r>
            <a:r>
              <a:rPr lang="en-US" sz="1000" i="1">
                <a:solidFill>
                  <a:srgbClr val="6B7785"/>
                </a:solidFill>
                <a:latin typeface="Georgia"/>
                <a:ea typeface="Georgia"/>
                <a:cs typeface="Georgia"/>
                <a:sym typeface="Georgia"/>
              </a:rPr>
              <a:t> ESA).</a:t>
            </a:r>
            <a:endParaRPr sz="1000">
              <a:solidFill>
                <a:schemeClr val="dk1"/>
              </a:solidFill>
              <a:latin typeface="Calibri"/>
              <a:ea typeface="Calibri"/>
              <a:cs typeface="Calibri"/>
              <a:sym typeface="Calibri"/>
            </a:endParaRPr>
          </a:p>
        </p:txBody>
      </p:sp>
      <p:cxnSp>
        <p:nvCxnSpPr>
          <p:cNvPr id="480" name="Google Shape;480;p15"/>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481" name="Google Shape;481;p15"/>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482" name="Google Shape;482;p15"/>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15 / 28</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7"/>
        <p:cNvGrpSpPr/>
        <p:nvPr/>
      </p:nvGrpSpPr>
      <p:grpSpPr>
        <a:xfrm>
          <a:off x="0" y="0"/>
          <a:ext cx="0" cy="0"/>
          <a:chOff x="0" y="0"/>
          <a:chExt cx="0" cy="0"/>
        </a:xfrm>
      </p:grpSpPr>
      <p:sp>
        <p:nvSpPr>
          <p:cNvPr id="488" name="Google Shape;488;p16"/>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7.1 Requerimientos funcionales</a:t>
            </a:r>
            <a:endParaRPr sz="3400">
              <a:solidFill>
                <a:schemeClr val="dk1"/>
              </a:solidFill>
              <a:latin typeface="Calibri"/>
              <a:ea typeface="Calibri"/>
              <a:cs typeface="Calibri"/>
              <a:sym typeface="Calibri"/>
            </a:endParaRPr>
          </a:p>
        </p:txBody>
      </p:sp>
      <p:sp>
        <p:nvSpPr>
          <p:cNvPr id="489" name="Google Shape;489;p16"/>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Tres pilares del sistema · estándar ESA (UR)</a:t>
            </a:r>
            <a:endParaRPr sz="1300">
              <a:solidFill>
                <a:schemeClr val="dk1"/>
              </a:solidFill>
              <a:latin typeface="Calibri"/>
              <a:ea typeface="Calibri"/>
              <a:cs typeface="Calibri"/>
              <a:sym typeface="Calibri"/>
            </a:endParaRPr>
          </a:p>
        </p:txBody>
      </p:sp>
      <p:sp>
        <p:nvSpPr>
          <p:cNvPr id="490" name="Google Shape;490;p16"/>
          <p:cNvSpPr/>
          <p:nvPr/>
        </p:nvSpPr>
        <p:spPr>
          <a:xfrm>
            <a:off x="457200" y="1783080"/>
            <a:ext cx="11274552" cy="59436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1" name="Google Shape;491;p16"/>
          <p:cNvSpPr/>
          <p:nvPr/>
        </p:nvSpPr>
        <p:spPr>
          <a:xfrm>
            <a:off x="731520" y="1783080"/>
            <a:ext cx="10789920" cy="594360"/>
          </a:xfrm>
          <a:prstGeom prst="rect">
            <a:avLst/>
          </a:prstGeom>
          <a:noFill/>
          <a:ln>
            <a:noFill/>
          </a:ln>
        </p:spPr>
        <p:txBody>
          <a:bodyPr spcFirstLastPara="1" wrap="square" lIns="0" tIns="0" rIns="0" bIns="0" anchor="ctr" anchorCtr="0">
            <a:noAutofit/>
          </a:bodyPr>
          <a:lstStyle/>
          <a:p>
            <a:pPr>
              <a:buClr>
                <a:srgbClr val="E8963C"/>
              </a:buClr>
              <a:buSzPts val="1400"/>
            </a:pPr>
            <a:r>
              <a:rPr lang="en-US" b="1">
                <a:solidFill>
                  <a:srgbClr val="E8963C"/>
                </a:solidFill>
                <a:latin typeface="Calibri"/>
                <a:ea typeface="Calibri"/>
                <a:cs typeface="Calibri"/>
                <a:sym typeface="Calibri"/>
              </a:rPr>
              <a:t>63UR</a:t>
            </a:r>
            <a:r>
              <a:rPr lang="en-US" sz="1400" b="1">
                <a:solidFill>
                  <a:srgbClr val="E8963C"/>
                </a:solidFill>
                <a:latin typeface="Calibri"/>
                <a:ea typeface="Calibri"/>
                <a:cs typeface="Calibri"/>
                <a:sym typeface="Calibri"/>
              </a:rPr>
              <a:t> </a:t>
            </a:r>
            <a:r>
              <a:rPr lang="en-US" sz="1400" b="1" err="1">
                <a:solidFill>
                  <a:srgbClr val="E8963C"/>
                </a:solidFill>
                <a:latin typeface="Calibri"/>
                <a:ea typeface="Calibri"/>
                <a:cs typeface="Calibri"/>
                <a:sym typeface="Calibri"/>
              </a:rPr>
              <a:t>totales</a:t>
            </a:r>
            <a:r>
              <a:rPr lang="en-US" sz="1400" b="1">
                <a:solidFill>
                  <a:srgbClr val="E8963C"/>
                </a:solidFill>
                <a:latin typeface="Calibri"/>
                <a:ea typeface="Calibri"/>
                <a:cs typeface="Calibri"/>
                <a:sym typeface="Calibri"/>
              </a:rPr>
              <a:t>   </a:t>
            </a:r>
            <a:r>
              <a:rPr lang="en-US" sz="1400">
                <a:solidFill>
                  <a:srgbClr val="FFFFFF"/>
                </a:solidFill>
                <a:latin typeface="Calibri"/>
                <a:ea typeface="Calibri"/>
                <a:cs typeface="Calibri"/>
                <a:sym typeface="Calibri"/>
              </a:rPr>
              <a:t>(50 base + </a:t>
            </a:r>
            <a:r>
              <a:rPr lang="en-US">
                <a:solidFill>
                  <a:srgbClr val="FFFFFF"/>
                </a:solidFill>
                <a:latin typeface="Calibri"/>
                <a:ea typeface="Calibri"/>
                <a:cs typeface="Calibri"/>
                <a:sym typeface="Calibri"/>
              </a:rPr>
              <a:t>10 </a:t>
            </a:r>
            <a:r>
              <a:rPr lang="en-US" sz="1400" err="1">
                <a:solidFill>
                  <a:srgbClr val="FFFFFF"/>
                </a:solidFill>
                <a:latin typeface="Calibri"/>
                <a:ea typeface="Calibri"/>
                <a:cs typeface="Calibri"/>
                <a:sym typeface="Calibri"/>
              </a:rPr>
              <a:t>adicionales</a:t>
            </a:r>
            <a:r>
              <a:rPr lang="en-US" sz="1400">
                <a:solidFill>
                  <a:srgbClr val="FFFFFF"/>
                </a:solidFill>
                <a:latin typeface="Calibri"/>
                <a:ea typeface="Calibri"/>
                <a:cs typeface="Calibri"/>
                <a:sym typeface="Calibri"/>
              </a:rPr>
              <a:t> para </a:t>
            </a:r>
            <a:r>
              <a:rPr lang="en-US" sz="1400" err="1">
                <a:solidFill>
                  <a:srgbClr val="FFFFFF"/>
                </a:solidFill>
                <a:latin typeface="Calibri"/>
                <a:ea typeface="Calibri"/>
                <a:cs typeface="Calibri"/>
                <a:sym typeface="Calibri"/>
              </a:rPr>
              <a:t>equipo</a:t>
            </a:r>
            <a:r>
              <a:rPr lang="en-US" sz="1400">
                <a:solidFill>
                  <a:srgbClr val="FFFFFF"/>
                </a:solidFill>
                <a:latin typeface="Calibri"/>
                <a:ea typeface="Calibri"/>
                <a:cs typeface="Calibri"/>
                <a:sym typeface="Calibri"/>
              </a:rPr>
              <a:t> de 7 </a:t>
            </a:r>
            <a:r>
              <a:rPr lang="en-US" sz="1400" err="1">
                <a:solidFill>
                  <a:srgbClr val="FFFFFF"/>
                </a:solidFill>
                <a:latin typeface="Calibri"/>
                <a:ea typeface="Calibri"/>
                <a:cs typeface="Calibri"/>
                <a:sym typeface="Calibri"/>
              </a:rPr>
              <a:t>integrantes</a:t>
            </a:r>
            <a:r>
              <a:rPr lang="en-US" sz="1400">
                <a:solidFill>
                  <a:srgbClr val="FFFFFF"/>
                </a:solidFill>
                <a:latin typeface="Calibri"/>
                <a:ea typeface="Calibri"/>
                <a:cs typeface="Calibri"/>
                <a:sym typeface="Calibri"/>
              </a:rPr>
              <a:t>)   •   </a:t>
            </a:r>
            <a:r>
              <a:rPr lang="en-US" sz="1400" err="1">
                <a:solidFill>
                  <a:srgbClr val="FFFFFF"/>
                </a:solidFill>
                <a:latin typeface="Calibri"/>
                <a:ea typeface="Calibri"/>
                <a:cs typeface="Calibri"/>
                <a:sym typeface="Calibri"/>
              </a:rPr>
              <a:t>formato</a:t>
            </a:r>
            <a:r>
              <a:rPr lang="en-US" sz="1400">
                <a:solidFill>
                  <a:srgbClr val="FFFFFF"/>
                </a:solidFill>
                <a:latin typeface="Calibri"/>
                <a:ea typeface="Calibri"/>
                <a:cs typeface="Calibri"/>
                <a:sym typeface="Calibri"/>
              </a:rPr>
              <a:t> ESA </a:t>
            </a:r>
            <a:r>
              <a:rPr lang="en-US" sz="1400" err="1">
                <a:solidFill>
                  <a:srgbClr val="FFFFFF"/>
                </a:solidFill>
                <a:latin typeface="Calibri"/>
                <a:ea typeface="Calibri"/>
                <a:cs typeface="Calibri"/>
                <a:sym typeface="Calibri"/>
              </a:rPr>
              <a:t>en</a:t>
            </a:r>
            <a:r>
              <a:rPr lang="en-US" sz="1400">
                <a:solidFill>
                  <a:srgbClr val="FFFFFF"/>
                </a:solidFill>
                <a:latin typeface="Calibri"/>
                <a:ea typeface="Calibri"/>
                <a:cs typeface="Calibri"/>
                <a:sym typeface="Calibri"/>
              </a:rPr>
              <a:t> </a:t>
            </a:r>
            <a:r>
              <a:rPr lang="en-US" sz="1400" err="1">
                <a:solidFill>
                  <a:srgbClr val="FFFFFF"/>
                </a:solidFill>
                <a:latin typeface="Calibri"/>
                <a:ea typeface="Calibri"/>
                <a:cs typeface="Calibri"/>
                <a:sym typeface="Calibri"/>
              </a:rPr>
              <a:t>sección</a:t>
            </a:r>
            <a:r>
              <a:rPr lang="en-US" sz="1400">
                <a:solidFill>
                  <a:srgbClr val="FFFFFF"/>
                </a:solidFill>
                <a:latin typeface="Calibri"/>
                <a:ea typeface="Calibri"/>
                <a:cs typeface="Calibri"/>
                <a:sym typeface="Calibri"/>
              </a:rPr>
              <a:t> 9.2 del </a:t>
            </a:r>
            <a:r>
              <a:rPr lang="en-US" sz="1400" err="1">
                <a:solidFill>
                  <a:srgbClr val="FFFFFF"/>
                </a:solidFill>
                <a:latin typeface="Calibri"/>
                <a:ea typeface="Calibri"/>
                <a:cs typeface="Calibri"/>
                <a:sym typeface="Calibri"/>
              </a:rPr>
              <a:t>informe</a:t>
            </a:r>
            <a:endParaRPr lang="en-US" sz="1400" err="1">
              <a:solidFill>
                <a:schemeClr val="dk1"/>
              </a:solidFill>
              <a:latin typeface="Calibri"/>
              <a:ea typeface="Calibri"/>
              <a:cs typeface="Calibri"/>
            </a:endParaRPr>
          </a:p>
        </p:txBody>
      </p:sp>
      <p:sp>
        <p:nvSpPr>
          <p:cNvPr id="492" name="Google Shape;492;p16"/>
          <p:cNvSpPr/>
          <p:nvPr/>
        </p:nvSpPr>
        <p:spPr>
          <a:xfrm>
            <a:off x="457200" y="2606040"/>
            <a:ext cx="3657600" cy="7772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3" name="Google Shape;493;p16"/>
          <p:cNvSpPr/>
          <p:nvPr/>
        </p:nvSpPr>
        <p:spPr>
          <a:xfrm>
            <a:off x="640080" y="2697480"/>
            <a:ext cx="82296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a:solidFill>
                  <a:srgbClr val="FFFFFF"/>
                </a:solidFill>
                <a:latin typeface="Georgia"/>
                <a:ea typeface="Georgia"/>
                <a:cs typeface="Georgia"/>
                <a:sym typeface="Georgia"/>
              </a:rPr>
              <a:t>01</a:t>
            </a:r>
            <a:endParaRPr sz="2600">
              <a:solidFill>
                <a:schemeClr val="dk1"/>
              </a:solidFill>
              <a:latin typeface="Calibri"/>
              <a:ea typeface="Calibri"/>
              <a:cs typeface="Calibri"/>
              <a:sym typeface="Calibri"/>
            </a:endParaRPr>
          </a:p>
        </p:txBody>
      </p:sp>
      <p:sp>
        <p:nvSpPr>
          <p:cNvPr id="494" name="Google Shape;494;p16"/>
          <p:cNvSpPr/>
          <p:nvPr/>
        </p:nvSpPr>
        <p:spPr>
          <a:xfrm>
            <a:off x="1554480" y="2834640"/>
            <a:ext cx="2468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000"/>
              <a:buFont typeface="Calibri"/>
              <a:buNone/>
            </a:pPr>
            <a:r>
              <a:rPr lang="en-US" sz="1000" b="1">
                <a:solidFill>
                  <a:srgbClr val="E8963C"/>
                </a:solidFill>
                <a:latin typeface="Calibri"/>
                <a:ea typeface="Calibri"/>
                <a:cs typeface="Calibri"/>
                <a:sym typeface="Calibri"/>
              </a:rPr>
              <a:t>UR-01 / UR-05</a:t>
            </a:r>
            <a:endParaRPr sz="1000">
              <a:solidFill>
                <a:schemeClr val="dk1"/>
              </a:solidFill>
              <a:latin typeface="Calibri"/>
              <a:ea typeface="Calibri"/>
              <a:cs typeface="Calibri"/>
              <a:sym typeface="Calibri"/>
            </a:endParaRPr>
          </a:p>
        </p:txBody>
      </p:sp>
      <p:sp>
        <p:nvSpPr>
          <p:cNvPr id="495" name="Google Shape;495;p16"/>
          <p:cNvSpPr/>
          <p:nvPr/>
        </p:nvSpPr>
        <p:spPr>
          <a:xfrm>
            <a:off x="457200" y="3383280"/>
            <a:ext cx="3657600" cy="297180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16"/>
          <p:cNvSpPr/>
          <p:nvPr/>
        </p:nvSpPr>
        <p:spPr>
          <a:xfrm>
            <a:off x="457200" y="3383280"/>
            <a:ext cx="73152" cy="297180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7" name="Google Shape;497;p16"/>
          <p:cNvSpPr/>
          <p:nvPr/>
        </p:nvSpPr>
        <p:spPr>
          <a:xfrm>
            <a:off x="685800" y="3566160"/>
            <a:ext cx="594360" cy="59436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98" name="Google Shape;498;p16" descr="preencoded.png"/>
          <p:cNvPicPr preferRelativeResize="0"/>
          <p:nvPr/>
        </p:nvPicPr>
        <p:blipFill rotWithShape="1">
          <a:blip r:embed="rId3">
            <a:alphaModFix/>
          </a:blip>
          <a:srcRect/>
          <a:stretch/>
        </p:blipFill>
        <p:spPr>
          <a:xfrm>
            <a:off x="841248" y="3721608"/>
            <a:ext cx="292608" cy="292608"/>
          </a:xfrm>
          <a:prstGeom prst="rect">
            <a:avLst/>
          </a:prstGeom>
          <a:noFill/>
          <a:ln>
            <a:noFill/>
          </a:ln>
        </p:spPr>
      </p:pic>
      <p:sp>
        <p:nvSpPr>
          <p:cNvPr id="499" name="Google Shape;499;p16"/>
          <p:cNvSpPr/>
          <p:nvPr/>
        </p:nvSpPr>
        <p:spPr>
          <a:xfrm>
            <a:off x="1417320" y="3611880"/>
            <a:ext cx="2606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700"/>
              <a:buFont typeface="Georgia"/>
              <a:buNone/>
            </a:pPr>
            <a:r>
              <a:rPr lang="en-US" sz="1700" b="1">
                <a:solidFill>
                  <a:srgbClr val="0F3B2E"/>
                </a:solidFill>
                <a:latin typeface="Georgia"/>
                <a:ea typeface="Georgia"/>
                <a:cs typeface="Georgia"/>
                <a:sym typeface="Georgia"/>
              </a:rPr>
              <a:t>Gestión de productos</a:t>
            </a:r>
            <a:endParaRPr sz="1700">
              <a:solidFill>
                <a:schemeClr val="dk1"/>
              </a:solidFill>
              <a:latin typeface="Calibri"/>
              <a:ea typeface="Calibri"/>
              <a:cs typeface="Calibri"/>
              <a:sym typeface="Calibri"/>
            </a:endParaRPr>
          </a:p>
        </p:txBody>
      </p:sp>
      <p:sp>
        <p:nvSpPr>
          <p:cNvPr id="500" name="Google Shape;500;p16"/>
          <p:cNvSpPr/>
          <p:nvPr/>
        </p:nvSpPr>
        <p:spPr>
          <a:xfrm>
            <a:off x="685800" y="4343400"/>
            <a:ext cx="3291840" cy="182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El sistema debe registrar, modificar, buscar y desactivar productos con SKU único, nombre, categoría y stock actual, retornando resultados de búsqueda en menos de 2 segundos.</a:t>
            </a:r>
            <a:endParaRPr sz="1150">
              <a:solidFill>
                <a:schemeClr val="dk1"/>
              </a:solidFill>
              <a:latin typeface="Calibri"/>
              <a:ea typeface="Calibri"/>
              <a:cs typeface="Calibri"/>
              <a:sym typeface="Calibri"/>
            </a:endParaRPr>
          </a:p>
        </p:txBody>
      </p:sp>
      <p:sp>
        <p:nvSpPr>
          <p:cNvPr id="501" name="Google Shape;501;p16"/>
          <p:cNvSpPr/>
          <p:nvPr/>
        </p:nvSpPr>
        <p:spPr>
          <a:xfrm>
            <a:off x="4279392" y="2606040"/>
            <a:ext cx="3657600" cy="7772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2" name="Google Shape;502;p16"/>
          <p:cNvSpPr/>
          <p:nvPr/>
        </p:nvSpPr>
        <p:spPr>
          <a:xfrm>
            <a:off x="4462272" y="2697480"/>
            <a:ext cx="82296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a:solidFill>
                  <a:srgbClr val="FFFFFF"/>
                </a:solidFill>
                <a:latin typeface="Georgia"/>
                <a:ea typeface="Georgia"/>
                <a:cs typeface="Georgia"/>
                <a:sym typeface="Georgia"/>
              </a:rPr>
              <a:t>02</a:t>
            </a:r>
            <a:endParaRPr sz="2600">
              <a:solidFill>
                <a:schemeClr val="dk1"/>
              </a:solidFill>
              <a:latin typeface="Calibri"/>
              <a:ea typeface="Calibri"/>
              <a:cs typeface="Calibri"/>
              <a:sym typeface="Calibri"/>
            </a:endParaRPr>
          </a:p>
        </p:txBody>
      </p:sp>
      <p:sp>
        <p:nvSpPr>
          <p:cNvPr id="503" name="Google Shape;503;p16"/>
          <p:cNvSpPr/>
          <p:nvPr/>
        </p:nvSpPr>
        <p:spPr>
          <a:xfrm>
            <a:off x="5376672" y="2834640"/>
            <a:ext cx="2468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000"/>
              <a:buFont typeface="Calibri"/>
              <a:buNone/>
            </a:pPr>
            <a:r>
              <a:rPr lang="en-US" sz="1000" b="1">
                <a:solidFill>
                  <a:srgbClr val="E8963C"/>
                </a:solidFill>
                <a:latin typeface="Calibri"/>
                <a:ea typeface="Calibri"/>
                <a:cs typeface="Calibri"/>
                <a:sym typeface="Calibri"/>
              </a:rPr>
              <a:t>UR-26 / UR-27 / UR-29</a:t>
            </a:r>
            <a:endParaRPr sz="1000">
              <a:solidFill>
                <a:schemeClr val="dk1"/>
              </a:solidFill>
              <a:latin typeface="Calibri"/>
              <a:ea typeface="Calibri"/>
              <a:cs typeface="Calibri"/>
              <a:sym typeface="Calibri"/>
            </a:endParaRPr>
          </a:p>
        </p:txBody>
      </p:sp>
      <p:sp>
        <p:nvSpPr>
          <p:cNvPr id="504" name="Google Shape;504;p16"/>
          <p:cNvSpPr/>
          <p:nvPr/>
        </p:nvSpPr>
        <p:spPr>
          <a:xfrm>
            <a:off x="4279392" y="3383280"/>
            <a:ext cx="3657600" cy="297180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5" name="Google Shape;505;p16"/>
          <p:cNvSpPr/>
          <p:nvPr/>
        </p:nvSpPr>
        <p:spPr>
          <a:xfrm>
            <a:off x="4279392" y="3383280"/>
            <a:ext cx="73152" cy="297180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16"/>
          <p:cNvSpPr/>
          <p:nvPr/>
        </p:nvSpPr>
        <p:spPr>
          <a:xfrm>
            <a:off x="4507992" y="3566160"/>
            <a:ext cx="594360" cy="59436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07" name="Google Shape;507;p16" descr="preencoded.png"/>
          <p:cNvPicPr preferRelativeResize="0"/>
          <p:nvPr/>
        </p:nvPicPr>
        <p:blipFill rotWithShape="1">
          <a:blip r:embed="rId4">
            <a:alphaModFix/>
          </a:blip>
          <a:srcRect/>
          <a:stretch/>
        </p:blipFill>
        <p:spPr>
          <a:xfrm>
            <a:off x="4663440" y="3721608"/>
            <a:ext cx="292608" cy="292608"/>
          </a:xfrm>
          <a:prstGeom prst="rect">
            <a:avLst/>
          </a:prstGeom>
          <a:noFill/>
          <a:ln>
            <a:noFill/>
          </a:ln>
        </p:spPr>
      </p:pic>
      <p:sp>
        <p:nvSpPr>
          <p:cNvPr id="508" name="Google Shape;508;p16"/>
          <p:cNvSpPr/>
          <p:nvPr/>
        </p:nvSpPr>
        <p:spPr>
          <a:xfrm>
            <a:off x="5239512" y="3611880"/>
            <a:ext cx="2606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700"/>
              <a:buFont typeface="Georgia"/>
              <a:buNone/>
            </a:pPr>
            <a:r>
              <a:rPr lang="en-US" sz="1700" b="1">
                <a:solidFill>
                  <a:srgbClr val="0F3B2E"/>
                </a:solidFill>
                <a:latin typeface="Georgia"/>
                <a:ea typeface="Georgia"/>
                <a:cs typeface="Georgia"/>
                <a:sym typeface="Georgia"/>
              </a:rPr>
              <a:t>Procesamiento de facturas</a:t>
            </a:r>
            <a:endParaRPr sz="1700">
              <a:solidFill>
                <a:schemeClr val="dk1"/>
              </a:solidFill>
              <a:latin typeface="Calibri"/>
              <a:ea typeface="Calibri"/>
              <a:cs typeface="Calibri"/>
              <a:sym typeface="Calibri"/>
            </a:endParaRPr>
          </a:p>
        </p:txBody>
      </p:sp>
      <p:sp>
        <p:nvSpPr>
          <p:cNvPr id="509" name="Google Shape;509;p16"/>
          <p:cNvSpPr/>
          <p:nvPr/>
        </p:nvSpPr>
        <p:spPr>
          <a:xfrm>
            <a:off x="4507992" y="4343400"/>
            <a:ext cx="3291840" cy="182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El sistema debe permitir cargar facturas de proveedores en formato digital (PDF, JPG, PNG), extraer los ítems y reemplazar el código del proveedor por el SKU interno equivalente.</a:t>
            </a:r>
            <a:endParaRPr sz="1150">
              <a:solidFill>
                <a:schemeClr val="dk1"/>
              </a:solidFill>
              <a:latin typeface="Calibri"/>
              <a:ea typeface="Calibri"/>
              <a:cs typeface="Calibri"/>
              <a:sym typeface="Calibri"/>
            </a:endParaRPr>
          </a:p>
        </p:txBody>
      </p:sp>
      <p:sp>
        <p:nvSpPr>
          <p:cNvPr id="510" name="Google Shape;510;p16"/>
          <p:cNvSpPr/>
          <p:nvPr/>
        </p:nvSpPr>
        <p:spPr>
          <a:xfrm>
            <a:off x="8101584" y="2606040"/>
            <a:ext cx="3657600" cy="7772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1" name="Google Shape;511;p16"/>
          <p:cNvSpPr/>
          <p:nvPr/>
        </p:nvSpPr>
        <p:spPr>
          <a:xfrm>
            <a:off x="8284464" y="2697480"/>
            <a:ext cx="82296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Georgia"/>
              <a:buNone/>
            </a:pPr>
            <a:r>
              <a:rPr lang="en-US" sz="2600" b="1">
                <a:solidFill>
                  <a:srgbClr val="FFFFFF"/>
                </a:solidFill>
                <a:latin typeface="Georgia"/>
                <a:ea typeface="Georgia"/>
                <a:cs typeface="Georgia"/>
                <a:sym typeface="Georgia"/>
              </a:rPr>
              <a:t>03</a:t>
            </a:r>
            <a:endParaRPr sz="2600">
              <a:solidFill>
                <a:schemeClr val="dk1"/>
              </a:solidFill>
              <a:latin typeface="Calibri"/>
              <a:ea typeface="Calibri"/>
              <a:cs typeface="Calibri"/>
              <a:sym typeface="Calibri"/>
            </a:endParaRPr>
          </a:p>
        </p:txBody>
      </p:sp>
      <p:sp>
        <p:nvSpPr>
          <p:cNvPr id="512" name="Google Shape;512;p16"/>
          <p:cNvSpPr/>
          <p:nvPr/>
        </p:nvSpPr>
        <p:spPr>
          <a:xfrm>
            <a:off x="9198864" y="2834640"/>
            <a:ext cx="24688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000"/>
              <a:buFont typeface="Calibri"/>
              <a:buNone/>
            </a:pPr>
            <a:r>
              <a:rPr lang="en-US" sz="1000" b="1">
                <a:solidFill>
                  <a:srgbClr val="E8963C"/>
                </a:solidFill>
                <a:latin typeface="Calibri"/>
                <a:ea typeface="Calibri"/>
                <a:cs typeface="Calibri"/>
                <a:sym typeface="Calibri"/>
              </a:rPr>
              <a:t>UR-45 / UR-49 / UR-50</a:t>
            </a:r>
            <a:endParaRPr sz="1000">
              <a:solidFill>
                <a:schemeClr val="dk1"/>
              </a:solidFill>
              <a:latin typeface="Calibri"/>
              <a:ea typeface="Calibri"/>
              <a:cs typeface="Calibri"/>
              <a:sym typeface="Calibri"/>
            </a:endParaRPr>
          </a:p>
        </p:txBody>
      </p:sp>
      <p:sp>
        <p:nvSpPr>
          <p:cNvPr id="513" name="Google Shape;513;p16"/>
          <p:cNvSpPr/>
          <p:nvPr/>
        </p:nvSpPr>
        <p:spPr>
          <a:xfrm>
            <a:off x="8101584" y="3383280"/>
            <a:ext cx="3657600" cy="297180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4" name="Google Shape;514;p16"/>
          <p:cNvSpPr/>
          <p:nvPr/>
        </p:nvSpPr>
        <p:spPr>
          <a:xfrm>
            <a:off x="8101584" y="3383280"/>
            <a:ext cx="73152" cy="297180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5" name="Google Shape;515;p16"/>
          <p:cNvSpPr/>
          <p:nvPr/>
        </p:nvSpPr>
        <p:spPr>
          <a:xfrm>
            <a:off x="8330184" y="3566160"/>
            <a:ext cx="594360" cy="59436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16" name="Google Shape;516;p16" descr="preencoded.png"/>
          <p:cNvPicPr preferRelativeResize="0"/>
          <p:nvPr/>
        </p:nvPicPr>
        <p:blipFill rotWithShape="1">
          <a:blip r:embed="rId5">
            <a:alphaModFix/>
          </a:blip>
          <a:srcRect/>
          <a:stretch/>
        </p:blipFill>
        <p:spPr>
          <a:xfrm>
            <a:off x="8485632" y="3721608"/>
            <a:ext cx="292608" cy="292608"/>
          </a:xfrm>
          <a:prstGeom prst="rect">
            <a:avLst/>
          </a:prstGeom>
          <a:noFill/>
          <a:ln>
            <a:noFill/>
          </a:ln>
        </p:spPr>
      </p:pic>
      <p:sp>
        <p:nvSpPr>
          <p:cNvPr id="517" name="Google Shape;517;p16"/>
          <p:cNvSpPr/>
          <p:nvPr/>
        </p:nvSpPr>
        <p:spPr>
          <a:xfrm>
            <a:off x="9061704" y="3611880"/>
            <a:ext cx="260604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700"/>
              <a:buFont typeface="Georgia"/>
              <a:buNone/>
            </a:pPr>
            <a:r>
              <a:rPr lang="en-US" sz="1700" b="1">
                <a:solidFill>
                  <a:srgbClr val="0F3B2E"/>
                </a:solidFill>
                <a:latin typeface="Georgia"/>
                <a:ea typeface="Georgia"/>
                <a:cs typeface="Georgia"/>
                <a:sym typeface="Georgia"/>
              </a:rPr>
              <a:t>Ajuste de inventario</a:t>
            </a:r>
            <a:endParaRPr sz="1700">
              <a:solidFill>
                <a:schemeClr val="dk1"/>
              </a:solidFill>
              <a:latin typeface="Calibri"/>
              <a:ea typeface="Calibri"/>
              <a:cs typeface="Calibri"/>
              <a:sym typeface="Calibri"/>
            </a:endParaRPr>
          </a:p>
        </p:txBody>
      </p:sp>
      <p:sp>
        <p:nvSpPr>
          <p:cNvPr id="518" name="Google Shape;518;p16"/>
          <p:cNvSpPr/>
          <p:nvPr/>
        </p:nvSpPr>
        <p:spPr>
          <a:xfrm>
            <a:off x="8330184" y="4343400"/>
            <a:ext cx="3291840" cy="182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El sistema debe aplicar los ajustes de inventario previa confirmación del usuario, actualizando el stock de forma inmediata y registrando cada movimiento con usuario, fecha y trazabilidad completa.</a:t>
            </a:r>
            <a:endParaRPr sz="1150">
              <a:solidFill>
                <a:schemeClr val="dk1"/>
              </a:solidFill>
              <a:latin typeface="Calibri"/>
              <a:ea typeface="Calibri"/>
              <a:cs typeface="Calibri"/>
              <a:sym typeface="Calibri"/>
            </a:endParaRPr>
          </a:p>
        </p:txBody>
      </p:sp>
      <p:sp>
        <p:nvSpPr>
          <p:cNvPr id="519" name="Google Shape;519;p16"/>
          <p:cNvSpPr/>
          <p:nvPr/>
        </p:nvSpPr>
        <p:spPr>
          <a:xfrm>
            <a:off x="457200" y="617220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Lista completa (UR-01 a UR-63) </a:t>
            </a:r>
            <a:r>
              <a:rPr lang="en-US" sz="1000" i="1" err="1">
                <a:solidFill>
                  <a:srgbClr val="6B7785"/>
                </a:solidFill>
                <a:latin typeface="Georgia"/>
                <a:ea typeface="Georgia"/>
                <a:cs typeface="Georgia"/>
                <a:sym typeface="Georgia"/>
              </a:rPr>
              <a:t>en</a:t>
            </a:r>
            <a:r>
              <a:rPr lang="en-US" sz="1000" i="1">
                <a:solidFill>
                  <a:srgbClr val="6B7785"/>
                </a:solidFill>
                <a:latin typeface="Georgia"/>
                <a:ea typeface="Georgia"/>
                <a:cs typeface="Georgia"/>
                <a:sym typeface="Georgia"/>
              </a:rPr>
              <a:t> la </a:t>
            </a:r>
            <a:r>
              <a:rPr lang="en-US" sz="1000" i="1" err="1">
                <a:solidFill>
                  <a:srgbClr val="6B7785"/>
                </a:solidFill>
                <a:latin typeface="Georgia"/>
                <a:ea typeface="Georgia"/>
                <a:cs typeface="Georgia"/>
                <a:sym typeface="Georgia"/>
              </a:rPr>
              <a:t>Tabla</a:t>
            </a:r>
            <a:r>
              <a:rPr lang="en-US" sz="1000" i="1">
                <a:solidFill>
                  <a:srgbClr val="6B7785"/>
                </a:solidFill>
                <a:latin typeface="Georgia"/>
                <a:ea typeface="Georgia"/>
                <a:cs typeface="Georgia"/>
                <a:sym typeface="Georgia"/>
              </a:rPr>
              <a:t> 9.2 del </a:t>
            </a:r>
            <a:r>
              <a:rPr lang="en-US" sz="1000" i="1" err="1">
                <a:solidFill>
                  <a:srgbClr val="6B7785"/>
                </a:solidFill>
                <a:latin typeface="Georgia"/>
                <a:ea typeface="Georgia"/>
                <a:cs typeface="Georgia"/>
                <a:sym typeface="Georgia"/>
              </a:rPr>
              <a:t>informe</a:t>
            </a:r>
            <a:r>
              <a:rPr lang="en-US" sz="1000" i="1">
                <a:solidFill>
                  <a:srgbClr val="6B7785"/>
                </a:solidFill>
                <a:latin typeface="Georgia"/>
                <a:ea typeface="Georgia"/>
                <a:cs typeface="Georgia"/>
                <a:sym typeface="Georgia"/>
              </a:rPr>
              <a:t>.</a:t>
            </a:r>
            <a:endParaRPr sz="1000">
              <a:solidFill>
                <a:schemeClr val="dk1"/>
              </a:solidFill>
              <a:latin typeface="Calibri"/>
              <a:ea typeface="Calibri"/>
              <a:cs typeface="Calibri"/>
              <a:sym typeface="Calibri"/>
            </a:endParaRPr>
          </a:p>
        </p:txBody>
      </p:sp>
      <p:cxnSp>
        <p:nvCxnSpPr>
          <p:cNvPr id="520" name="Google Shape;520;p16"/>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521" name="Google Shape;521;p16"/>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522" name="Google Shape;522;p16"/>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16 / 28</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7"/>
        <p:cNvGrpSpPr/>
        <p:nvPr/>
      </p:nvGrpSpPr>
      <p:grpSpPr>
        <a:xfrm>
          <a:off x="0" y="0"/>
          <a:ext cx="0" cy="0"/>
          <a:chOff x="0" y="0"/>
          <a:chExt cx="0" cy="0"/>
        </a:xfrm>
      </p:grpSpPr>
      <p:sp>
        <p:nvSpPr>
          <p:cNvPr id="528" name="Google Shape;528;p17"/>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7.2 Requerimientos no funcionales</a:t>
            </a:r>
            <a:endParaRPr sz="3400">
              <a:solidFill>
                <a:schemeClr val="dk1"/>
              </a:solidFill>
              <a:latin typeface="Calibri"/>
              <a:ea typeface="Calibri"/>
              <a:cs typeface="Calibri"/>
              <a:sym typeface="Calibri"/>
            </a:endParaRPr>
          </a:p>
        </p:txBody>
      </p:sp>
      <p:sp>
        <p:nvSpPr>
          <p:cNvPr id="529" name="Google Shape;529;p17"/>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Atributos de calidad del sistema</a:t>
            </a:r>
            <a:endParaRPr sz="1300">
              <a:solidFill>
                <a:schemeClr val="dk1"/>
              </a:solidFill>
              <a:latin typeface="Calibri"/>
              <a:ea typeface="Calibri"/>
              <a:cs typeface="Calibri"/>
              <a:sym typeface="Calibri"/>
            </a:endParaRPr>
          </a:p>
        </p:txBody>
      </p:sp>
      <p:sp>
        <p:nvSpPr>
          <p:cNvPr id="530" name="Google Shape;530;p17"/>
          <p:cNvSpPr/>
          <p:nvPr/>
        </p:nvSpPr>
        <p:spPr>
          <a:xfrm>
            <a:off x="457200" y="1783080"/>
            <a:ext cx="3657600" cy="2148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1" name="Google Shape;531;p17"/>
          <p:cNvSpPr/>
          <p:nvPr/>
        </p:nvSpPr>
        <p:spPr>
          <a:xfrm>
            <a:off x="457200" y="1783080"/>
            <a:ext cx="73152" cy="21488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2" name="Google Shape;532;p17"/>
          <p:cNvSpPr/>
          <p:nvPr/>
        </p:nvSpPr>
        <p:spPr>
          <a:xfrm>
            <a:off x="685800" y="2057400"/>
            <a:ext cx="777240" cy="77724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33" name="Google Shape;533;p17" descr="preencoded.png"/>
          <p:cNvPicPr preferRelativeResize="0"/>
          <p:nvPr/>
        </p:nvPicPr>
        <p:blipFill rotWithShape="1">
          <a:blip r:embed="rId3">
            <a:alphaModFix/>
          </a:blip>
          <a:srcRect/>
          <a:stretch/>
        </p:blipFill>
        <p:spPr>
          <a:xfrm>
            <a:off x="868680" y="2240280"/>
            <a:ext cx="411480" cy="411480"/>
          </a:xfrm>
          <a:prstGeom prst="rect">
            <a:avLst/>
          </a:prstGeom>
          <a:noFill/>
          <a:ln>
            <a:noFill/>
          </a:ln>
        </p:spPr>
      </p:pic>
      <p:sp>
        <p:nvSpPr>
          <p:cNvPr id="534" name="Google Shape;534;p17"/>
          <p:cNvSpPr/>
          <p:nvPr/>
        </p:nvSpPr>
        <p:spPr>
          <a:xfrm>
            <a:off x="1645920" y="2148840"/>
            <a:ext cx="2377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800"/>
              <a:buFont typeface="Georgia"/>
              <a:buNone/>
            </a:pPr>
            <a:r>
              <a:rPr lang="en-US" sz="1800" b="1">
                <a:solidFill>
                  <a:srgbClr val="0F3B2E"/>
                </a:solidFill>
                <a:latin typeface="Georgia"/>
                <a:ea typeface="Georgia"/>
                <a:cs typeface="Georgia"/>
                <a:sym typeface="Georgia"/>
              </a:rPr>
              <a:t>Desempeño</a:t>
            </a:r>
            <a:endParaRPr sz="1800">
              <a:solidFill>
                <a:schemeClr val="dk1"/>
              </a:solidFill>
              <a:latin typeface="Calibri"/>
              <a:ea typeface="Calibri"/>
              <a:cs typeface="Calibri"/>
              <a:sym typeface="Calibri"/>
            </a:endParaRPr>
          </a:p>
        </p:txBody>
      </p:sp>
      <p:sp>
        <p:nvSpPr>
          <p:cNvPr id="535" name="Google Shape;535;p17"/>
          <p:cNvSpPr/>
          <p:nvPr/>
        </p:nvSpPr>
        <p:spPr>
          <a:xfrm>
            <a:off x="685800" y="3017520"/>
            <a:ext cx="3291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Tiempos de respuesta &lt; 2 seg y soporte de operaciones concurrentes sin degradación.</a:t>
            </a:r>
            <a:endParaRPr sz="1150">
              <a:solidFill>
                <a:schemeClr val="dk1"/>
              </a:solidFill>
              <a:latin typeface="Calibri"/>
              <a:ea typeface="Calibri"/>
              <a:cs typeface="Calibri"/>
              <a:sym typeface="Calibri"/>
            </a:endParaRPr>
          </a:p>
        </p:txBody>
      </p:sp>
      <p:sp>
        <p:nvSpPr>
          <p:cNvPr id="536" name="Google Shape;536;p17"/>
          <p:cNvSpPr/>
          <p:nvPr/>
        </p:nvSpPr>
        <p:spPr>
          <a:xfrm>
            <a:off x="4233672" y="1783080"/>
            <a:ext cx="3657600" cy="2148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7" name="Google Shape;537;p17"/>
          <p:cNvSpPr/>
          <p:nvPr/>
        </p:nvSpPr>
        <p:spPr>
          <a:xfrm>
            <a:off x="4233672" y="1783080"/>
            <a:ext cx="73152" cy="21488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8" name="Google Shape;538;p17"/>
          <p:cNvSpPr/>
          <p:nvPr/>
        </p:nvSpPr>
        <p:spPr>
          <a:xfrm>
            <a:off x="4462272" y="2057400"/>
            <a:ext cx="777240" cy="777240"/>
          </a:xfrm>
          <a:prstGeom prst="ellipse">
            <a:avLst/>
          </a:prstGeom>
          <a:solidFill>
            <a:srgbClr val="D6404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39" name="Google Shape;539;p17" descr="preencoded.png"/>
          <p:cNvPicPr preferRelativeResize="0"/>
          <p:nvPr/>
        </p:nvPicPr>
        <p:blipFill rotWithShape="1">
          <a:blip r:embed="rId4">
            <a:alphaModFix/>
          </a:blip>
          <a:srcRect/>
          <a:stretch/>
        </p:blipFill>
        <p:spPr>
          <a:xfrm>
            <a:off x="4645152" y="2240280"/>
            <a:ext cx="411480" cy="411480"/>
          </a:xfrm>
          <a:prstGeom prst="rect">
            <a:avLst/>
          </a:prstGeom>
          <a:noFill/>
          <a:ln>
            <a:noFill/>
          </a:ln>
        </p:spPr>
      </p:pic>
      <p:sp>
        <p:nvSpPr>
          <p:cNvPr id="540" name="Google Shape;540;p17"/>
          <p:cNvSpPr/>
          <p:nvPr/>
        </p:nvSpPr>
        <p:spPr>
          <a:xfrm>
            <a:off x="5422392" y="2148840"/>
            <a:ext cx="2377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800"/>
              <a:buFont typeface="Georgia"/>
              <a:buNone/>
            </a:pPr>
            <a:r>
              <a:rPr lang="en-US" sz="1800" b="1">
                <a:solidFill>
                  <a:srgbClr val="0F3B2E"/>
                </a:solidFill>
                <a:latin typeface="Georgia"/>
                <a:ea typeface="Georgia"/>
                <a:cs typeface="Georgia"/>
                <a:sym typeface="Georgia"/>
              </a:rPr>
              <a:t>Seguridad</a:t>
            </a:r>
            <a:endParaRPr sz="1800">
              <a:solidFill>
                <a:schemeClr val="dk1"/>
              </a:solidFill>
              <a:latin typeface="Calibri"/>
              <a:ea typeface="Calibri"/>
              <a:cs typeface="Calibri"/>
              <a:sym typeface="Calibri"/>
            </a:endParaRPr>
          </a:p>
        </p:txBody>
      </p:sp>
      <p:sp>
        <p:nvSpPr>
          <p:cNvPr id="541" name="Google Shape;541;p17"/>
          <p:cNvSpPr/>
          <p:nvPr/>
        </p:nvSpPr>
        <p:spPr>
          <a:xfrm>
            <a:off x="4462272" y="3017520"/>
            <a:ext cx="3291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Autenticación, sesiones con expiración (30 min), respaldo diario y auditoría de eventos.</a:t>
            </a:r>
            <a:endParaRPr sz="1150">
              <a:solidFill>
                <a:schemeClr val="dk1"/>
              </a:solidFill>
              <a:latin typeface="Calibri"/>
              <a:ea typeface="Calibri"/>
              <a:cs typeface="Calibri"/>
              <a:sym typeface="Calibri"/>
            </a:endParaRPr>
          </a:p>
        </p:txBody>
      </p:sp>
      <p:sp>
        <p:nvSpPr>
          <p:cNvPr id="542" name="Google Shape;542;p17"/>
          <p:cNvSpPr/>
          <p:nvPr/>
        </p:nvSpPr>
        <p:spPr>
          <a:xfrm>
            <a:off x="8010144" y="1783080"/>
            <a:ext cx="3657600" cy="2148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3" name="Google Shape;543;p17"/>
          <p:cNvSpPr/>
          <p:nvPr/>
        </p:nvSpPr>
        <p:spPr>
          <a:xfrm>
            <a:off x="8010144" y="1783080"/>
            <a:ext cx="73152" cy="21488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4" name="Google Shape;544;p17"/>
          <p:cNvSpPr/>
          <p:nvPr/>
        </p:nvSpPr>
        <p:spPr>
          <a:xfrm>
            <a:off x="8238744" y="2057400"/>
            <a:ext cx="777240" cy="77724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45" name="Google Shape;545;p17" descr="preencoded.png"/>
          <p:cNvPicPr preferRelativeResize="0"/>
          <p:nvPr/>
        </p:nvPicPr>
        <p:blipFill rotWithShape="1">
          <a:blip r:embed="rId5">
            <a:alphaModFix/>
          </a:blip>
          <a:srcRect/>
          <a:stretch/>
        </p:blipFill>
        <p:spPr>
          <a:xfrm>
            <a:off x="8421624" y="2240280"/>
            <a:ext cx="411480" cy="411480"/>
          </a:xfrm>
          <a:prstGeom prst="rect">
            <a:avLst/>
          </a:prstGeom>
          <a:noFill/>
          <a:ln>
            <a:noFill/>
          </a:ln>
        </p:spPr>
      </p:pic>
      <p:sp>
        <p:nvSpPr>
          <p:cNvPr id="546" name="Google Shape;546;p17"/>
          <p:cNvSpPr/>
          <p:nvPr/>
        </p:nvSpPr>
        <p:spPr>
          <a:xfrm>
            <a:off x="9198864" y="2148840"/>
            <a:ext cx="2377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800"/>
              <a:buFont typeface="Georgia"/>
              <a:buNone/>
            </a:pPr>
            <a:r>
              <a:rPr lang="en-US" sz="1800" b="1">
                <a:solidFill>
                  <a:srgbClr val="0F3B2E"/>
                </a:solidFill>
                <a:latin typeface="Georgia"/>
                <a:ea typeface="Georgia"/>
                <a:cs typeface="Georgia"/>
                <a:sym typeface="Georgia"/>
              </a:rPr>
              <a:t>Usabilidad</a:t>
            </a:r>
            <a:endParaRPr sz="1800">
              <a:solidFill>
                <a:schemeClr val="dk1"/>
              </a:solidFill>
              <a:latin typeface="Calibri"/>
              <a:ea typeface="Calibri"/>
              <a:cs typeface="Calibri"/>
              <a:sym typeface="Calibri"/>
            </a:endParaRPr>
          </a:p>
        </p:txBody>
      </p:sp>
      <p:sp>
        <p:nvSpPr>
          <p:cNvPr id="547" name="Google Shape;547;p17"/>
          <p:cNvSpPr/>
          <p:nvPr/>
        </p:nvSpPr>
        <p:spPr>
          <a:xfrm>
            <a:off x="8238744" y="3017520"/>
            <a:ext cx="3291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Interfaz intuitiva para personal no técnico, con validación de datos en formularios.</a:t>
            </a:r>
            <a:endParaRPr sz="1150">
              <a:solidFill>
                <a:schemeClr val="dk1"/>
              </a:solidFill>
              <a:latin typeface="Calibri"/>
              <a:ea typeface="Calibri"/>
              <a:cs typeface="Calibri"/>
              <a:sym typeface="Calibri"/>
            </a:endParaRPr>
          </a:p>
        </p:txBody>
      </p:sp>
      <p:sp>
        <p:nvSpPr>
          <p:cNvPr id="548" name="Google Shape;548;p17"/>
          <p:cNvSpPr/>
          <p:nvPr/>
        </p:nvSpPr>
        <p:spPr>
          <a:xfrm>
            <a:off x="457200" y="4114800"/>
            <a:ext cx="3657600" cy="2148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9" name="Google Shape;549;p17"/>
          <p:cNvSpPr/>
          <p:nvPr/>
        </p:nvSpPr>
        <p:spPr>
          <a:xfrm>
            <a:off x="457200" y="4114800"/>
            <a:ext cx="73152" cy="21488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0" name="Google Shape;550;p17"/>
          <p:cNvSpPr/>
          <p:nvPr/>
        </p:nvSpPr>
        <p:spPr>
          <a:xfrm>
            <a:off x="685800" y="4389120"/>
            <a:ext cx="777240" cy="777240"/>
          </a:xfrm>
          <a:prstGeom prst="ellipse">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51" name="Google Shape;551;p17" descr="preencoded.png"/>
          <p:cNvPicPr preferRelativeResize="0"/>
          <p:nvPr/>
        </p:nvPicPr>
        <p:blipFill rotWithShape="1">
          <a:blip r:embed="rId6">
            <a:alphaModFix/>
          </a:blip>
          <a:srcRect/>
          <a:stretch/>
        </p:blipFill>
        <p:spPr>
          <a:xfrm>
            <a:off x="868680" y="4572000"/>
            <a:ext cx="411480" cy="411480"/>
          </a:xfrm>
          <a:prstGeom prst="rect">
            <a:avLst/>
          </a:prstGeom>
          <a:noFill/>
          <a:ln>
            <a:noFill/>
          </a:ln>
        </p:spPr>
      </p:pic>
      <p:sp>
        <p:nvSpPr>
          <p:cNvPr id="552" name="Google Shape;552;p17"/>
          <p:cNvSpPr/>
          <p:nvPr/>
        </p:nvSpPr>
        <p:spPr>
          <a:xfrm>
            <a:off x="1645920" y="4480560"/>
            <a:ext cx="2377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800"/>
              <a:buFont typeface="Georgia"/>
              <a:buNone/>
            </a:pPr>
            <a:r>
              <a:rPr lang="en-US" sz="1800" b="1">
                <a:solidFill>
                  <a:srgbClr val="0F3B2E"/>
                </a:solidFill>
                <a:latin typeface="Georgia"/>
                <a:ea typeface="Georgia"/>
                <a:cs typeface="Georgia"/>
                <a:sym typeface="Georgia"/>
              </a:rPr>
              <a:t>Disponibilidad</a:t>
            </a:r>
            <a:endParaRPr sz="1800">
              <a:solidFill>
                <a:schemeClr val="dk1"/>
              </a:solidFill>
              <a:latin typeface="Calibri"/>
              <a:ea typeface="Calibri"/>
              <a:cs typeface="Calibri"/>
              <a:sym typeface="Calibri"/>
            </a:endParaRPr>
          </a:p>
        </p:txBody>
      </p:sp>
      <p:sp>
        <p:nvSpPr>
          <p:cNvPr id="553" name="Google Shape;553;p17"/>
          <p:cNvSpPr/>
          <p:nvPr/>
        </p:nvSpPr>
        <p:spPr>
          <a:xfrm>
            <a:off x="685800" y="5349240"/>
            <a:ext cx="3291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Operación continua durante horario comercial con recuperación ante fallos.</a:t>
            </a:r>
            <a:endParaRPr sz="1150">
              <a:solidFill>
                <a:schemeClr val="dk1"/>
              </a:solidFill>
              <a:latin typeface="Calibri"/>
              <a:ea typeface="Calibri"/>
              <a:cs typeface="Calibri"/>
              <a:sym typeface="Calibri"/>
            </a:endParaRPr>
          </a:p>
        </p:txBody>
      </p:sp>
      <p:sp>
        <p:nvSpPr>
          <p:cNvPr id="554" name="Google Shape;554;p17"/>
          <p:cNvSpPr/>
          <p:nvPr/>
        </p:nvSpPr>
        <p:spPr>
          <a:xfrm>
            <a:off x="4233672" y="4114800"/>
            <a:ext cx="3657600" cy="2148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5" name="Google Shape;555;p17"/>
          <p:cNvSpPr/>
          <p:nvPr/>
        </p:nvSpPr>
        <p:spPr>
          <a:xfrm>
            <a:off x="4233672" y="4114800"/>
            <a:ext cx="73152" cy="21488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6" name="Google Shape;556;p17"/>
          <p:cNvSpPr/>
          <p:nvPr/>
        </p:nvSpPr>
        <p:spPr>
          <a:xfrm>
            <a:off x="4462272" y="4389120"/>
            <a:ext cx="777240" cy="77724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57" name="Google Shape;557;p17" descr="preencoded.png"/>
          <p:cNvPicPr preferRelativeResize="0"/>
          <p:nvPr/>
        </p:nvPicPr>
        <p:blipFill rotWithShape="1">
          <a:blip r:embed="rId7">
            <a:alphaModFix/>
          </a:blip>
          <a:srcRect/>
          <a:stretch/>
        </p:blipFill>
        <p:spPr>
          <a:xfrm>
            <a:off x="4645152" y="4572000"/>
            <a:ext cx="411480" cy="411480"/>
          </a:xfrm>
          <a:prstGeom prst="rect">
            <a:avLst/>
          </a:prstGeom>
          <a:noFill/>
          <a:ln>
            <a:noFill/>
          </a:ln>
        </p:spPr>
      </p:pic>
      <p:sp>
        <p:nvSpPr>
          <p:cNvPr id="558" name="Google Shape;558;p17"/>
          <p:cNvSpPr/>
          <p:nvPr/>
        </p:nvSpPr>
        <p:spPr>
          <a:xfrm>
            <a:off x="5422392" y="4480560"/>
            <a:ext cx="2377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800"/>
              <a:buFont typeface="Georgia"/>
              <a:buNone/>
            </a:pPr>
            <a:r>
              <a:rPr lang="en-US" sz="1800" b="1">
                <a:solidFill>
                  <a:srgbClr val="0F3B2E"/>
                </a:solidFill>
                <a:latin typeface="Georgia"/>
                <a:ea typeface="Georgia"/>
                <a:cs typeface="Georgia"/>
                <a:sym typeface="Georgia"/>
              </a:rPr>
              <a:t>Mantenibilidad</a:t>
            </a:r>
            <a:endParaRPr sz="1800">
              <a:solidFill>
                <a:schemeClr val="dk1"/>
              </a:solidFill>
              <a:latin typeface="Calibri"/>
              <a:ea typeface="Calibri"/>
              <a:cs typeface="Calibri"/>
              <a:sym typeface="Calibri"/>
            </a:endParaRPr>
          </a:p>
        </p:txBody>
      </p:sp>
      <p:sp>
        <p:nvSpPr>
          <p:cNvPr id="559" name="Google Shape;559;p17"/>
          <p:cNvSpPr/>
          <p:nvPr/>
        </p:nvSpPr>
        <p:spPr>
          <a:xfrm>
            <a:off x="4462272" y="5349240"/>
            <a:ext cx="3291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Arquitectura en 3 capas que facilita soporte, versionado y escalabilidad.</a:t>
            </a:r>
            <a:endParaRPr sz="1150">
              <a:solidFill>
                <a:schemeClr val="dk1"/>
              </a:solidFill>
              <a:latin typeface="Calibri"/>
              <a:ea typeface="Calibri"/>
              <a:cs typeface="Calibri"/>
              <a:sym typeface="Calibri"/>
            </a:endParaRPr>
          </a:p>
        </p:txBody>
      </p:sp>
      <p:sp>
        <p:nvSpPr>
          <p:cNvPr id="560" name="Google Shape;560;p17"/>
          <p:cNvSpPr/>
          <p:nvPr/>
        </p:nvSpPr>
        <p:spPr>
          <a:xfrm>
            <a:off x="8010144" y="4114800"/>
            <a:ext cx="3657600" cy="2148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1" name="Google Shape;561;p17"/>
          <p:cNvSpPr/>
          <p:nvPr/>
        </p:nvSpPr>
        <p:spPr>
          <a:xfrm>
            <a:off x="8010144" y="4114800"/>
            <a:ext cx="73152" cy="21488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2" name="Google Shape;562;p17"/>
          <p:cNvSpPr/>
          <p:nvPr/>
        </p:nvSpPr>
        <p:spPr>
          <a:xfrm>
            <a:off x="8238744" y="4389120"/>
            <a:ext cx="777240" cy="77724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63" name="Google Shape;563;p17" descr="preencoded.png"/>
          <p:cNvPicPr preferRelativeResize="0"/>
          <p:nvPr/>
        </p:nvPicPr>
        <p:blipFill rotWithShape="1">
          <a:blip r:embed="rId8">
            <a:alphaModFix/>
          </a:blip>
          <a:srcRect/>
          <a:stretch/>
        </p:blipFill>
        <p:spPr>
          <a:xfrm>
            <a:off x="8421624" y="4572000"/>
            <a:ext cx="411480" cy="411480"/>
          </a:xfrm>
          <a:prstGeom prst="rect">
            <a:avLst/>
          </a:prstGeom>
          <a:noFill/>
          <a:ln>
            <a:noFill/>
          </a:ln>
        </p:spPr>
      </p:pic>
      <p:sp>
        <p:nvSpPr>
          <p:cNvPr id="564" name="Google Shape;564;p17"/>
          <p:cNvSpPr/>
          <p:nvPr/>
        </p:nvSpPr>
        <p:spPr>
          <a:xfrm>
            <a:off x="9198864" y="4480560"/>
            <a:ext cx="23774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1800"/>
              <a:buFont typeface="Georgia"/>
              <a:buNone/>
            </a:pPr>
            <a:r>
              <a:rPr lang="en-US" sz="1800" b="1">
                <a:solidFill>
                  <a:srgbClr val="0F3B2E"/>
                </a:solidFill>
                <a:latin typeface="Georgia"/>
                <a:ea typeface="Georgia"/>
                <a:cs typeface="Georgia"/>
                <a:sym typeface="Georgia"/>
              </a:rPr>
              <a:t>Integridad</a:t>
            </a:r>
            <a:endParaRPr sz="1800">
              <a:solidFill>
                <a:schemeClr val="dk1"/>
              </a:solidFill>
              <a:latin typeface="Calibri"/>
              <a:ea typeface="Calibri"/>
              <a:cs typeface="Calibri"/>
              <a:sym typeface="Calibri"/>
            </a:endParaRPr>
          </a:p>
        </p:txBody>
      </p:sp>
      <p:sp>
        <p:nvSpPr>
          <p:cNvPr id="565" name="Google Shape;565;p17"/>
          <p:cNvSpPr/>
          <p:nvPr/>
        </p:nvSpPr>
        <p:spPr>
          <a:xfrm>
            <a:off x="8238744" y="5349240"/>
            <a:ext cx="32918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Persistencia confiable en MySQL con relaciones consistentes y respaldos.</a:t>
            </a:r>
            <a:endParaRPr sz="1150">
              <a:solidFill>
                <a:schemeClr val="dk1"/>
              </a:solidFill>
              <a:latin typeface="Calibri"/>
              <a:ea typeface="Calibri"/>
              <a:cs typeface="Calibri"/>
              <a:sym typeface="Calibri"/>
            </a:endParaRPr>
          </a:p>
        </p:txBody>
      </p:sp>
      <p:cxnSp>
        <p:nvCxnSpPr>
          <p:cNvPr id="566" name="Google Shape;566;p17"/>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567" name="Google Shape;567;p17"/>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568" name="Google Shape;568;p17"/>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17 / 28</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3"/>
        <p:cNvGrpSpPr/>
        <p:nvPr/>
      </p:nvGrpSpPr>
      <p:grpSpPr>
        <a:xfrm>
          <a:off x="0" y="0"/>
          <a:ext cx="0" cy="0"/>
          <a:chOff x="0" y="0"/>
          <a:chExt cx="0" cy="0"/>
        </a:xfrm>
      </p:grpSpPr>
      <p:sp>
        <p:nvSpPr>
          <p:cNvPr id="574" name="Google Shape;574;p18"/>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8. Casos de uso · convención de gerundio</a:t>
            </a:r>
            <a:endParaRPr sz="3400">
              <a:solidFill>
                <a:schemeClr val="dk1"/>
              </a:solidFill>
              <a:latin typeface="Calibri"/>
              <a:ea typeface="Calibri"/>
              <a:cs typeface="Calibri"/>
              <a:sym typeface="Calibri"/>
            </a:endParaRPr>
          </a:p>
        </p:txBody>
      </p:sp>
      <p:sp>
        <p:nvSpPr>
          <p:cNvPr id="575" name="Google Shape;575;p18"/>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Validación explícita del nombrado UML según convención del estándar</a:t>
            </a:r>
            <a:endParaRPr sz="1300">
              <a:solidFill>
                <a:schemeClr val="dk1"/>
              </a:solidFill>
              <a:latin typeface="Calibri"/>
              <a:ea typeface="Calibri"/>
              <a:cs typeface="Calibri"/>
              <a:sym typeface="Calibri"/>
            </a:endParaRPr>
          </a:p>
        </p:txBody>
      </p:sp>
      <p:sp>
        <p:nvSpPr>
          <p:cNvPr id="576" name="Google Shape;576;p18"/>
          <p:cNvSpPr/>
          <p:nvPr/>
        </p:nvSpPr>
        <p:spPr>
          <a:xfrm>
            <a:off x="457200" y="1783080"/>
            <a:ext cx="5486400" cy="425196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7" name="Google Shape;577;p18"/>
          <p:cNvSpPr/>
          <p:nvPr/>
        </p:nvSpPr>
        <p:spPr>
          <a:xfrm>
            <a:off x="457200" y="1783080"/>
            <a:ext cx="91440" cy="42519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78" name="Google Shape;578;p18"/>
          <p:cNvSpPr/>
          <p:nvPr/>
        </p:nvSpPr>
        <p:spPr>
          <a:xfrm>
            <a:off x="731520" y="1920240"/>
            <a:ext cx="502920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100"/>
              <a:buFont typeface="Calibri"/>
              <a:buNone/>
            </a:pPr>
            <a:r>
              <a:rPr lang="en-US" sz="1100" b="1">
                <a:solidFill>
                  <a:srgbClr val="2D6A4F"/>
                </a:solidFill>
                <a:latin typeface="Calibri"/>
                <a:ea typeface="Calibri"/>
                <a:cs typeface="Calibri"/>
                <a:sym typeface="Calibri"/>
              </a:rPr>
              <a:t>CONVENCIÓN UML APLICADA</a:t>
            </a:r>
            <a:endParaRPr sz="1100">
              <a:solidFill>
                <a:schemeClr val="dk1"/>
              </a:solidFill>
              <a:latin typeface="Calibri"/>
              <a:ea typeface="Calibri"/>
              <a:cs typeface="Calibri"/>
              <a:sym typeface="Calibri"/>
            </a:endParaRPr>
          </a:p>
        </p:txBody>
      </p:sp>
      <p:sp>
        <p:nvSpPr>
          <p:cNvPr id="579" name="Google Shape;579;p18"/>
          <p:cNvSpPr/>
          <p:nvPr/>
        </p:nvSpPr>
        <p:spPr>
          <a:xfrm>
            <a:off x="731520" y="2240280"/>
            <a:ext cx="5029200" cy="7772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300"/>
              <a:buFont typeface="Calibri"/>
              <a:buNone/>
            </a:pPr>
            <a:r>
              <a:rPr lang="en-US" sz="1300">
                <a:solidFill>
                  <a:srgbClr val="1F2A26"/>
                </a:solidFill>
                <a:latin typeface="Calibri"/>
                <a:ea typeface="Calibri"/>
                <a:cs typeface="Calibri"/>
                <a:sym typeface="Calibri"/>
              </a:rPr>
              <a:t>Todos los casos de uso del sistema se nombran en gerundio (terminaciones “-ando” y “-iendo”), siguiendo la convención del estándar UML.</a:t>
            </a:r>
            <a:endParaRPr sz="1300">
              <a:solidFill>
                <a:schemeClr val="dk1"/>
              </a:solidFill>
              <a:latin typeface="Calibri"/>
              <a:ea typeface="Calibri"/>
              <a:cs typeface="Calibri"/>
              <a:sym typeface="Calibri"/>
            </a:endParaRPr>
          </a:p>
        </p:txBody>
      </p:sp>
      <p:sp>
        <p:nvSpPr>
          <p:cNvPr id="580" name="Google Shape;580;p18"/>
          <p:cNvSpPr/>
          <p:nvPr/>
        </p:nvSpPr>
        <p:spPr>
          <a:xfrm>
            <a:off x="731520" y="3108960"/>
            <a:ext cx="50292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100"/>
              <a:buFont typeface="Calibri"/>
              <a:buNone/>
            </a:pPr>
            <a:r>
              <a:rPr lang="en-US" sz="1100" b="1">
                <a:solidFill>
                  <a:srgbClr val="E8963C"/>
                </a:solidFill>
                <a:latin typeface="Calibri"/>
                <a:ea typeface="Calibri"/>
                <a:cs typeface="Calibri"/>
                <a:sym typeface="Calibri"/>
              </a:rPr>
              <a:t>¿POR QUÉ EN GERUNDIO?</a:t>
            </a:r>
            <a:endParaRPr sz="1100">
              <a:solidFill>
                <a:schemeClr val="dk1"/>
              </a:solidFill>
              <a:latin typeface="Calibri"/>
              <a:ea typeface="Calibri"/>
              <a:cs typeface="Calibri"/>
              <a:sym typeface="Calibri"/>
            </a:endParaRPr>
          </a:p>
        </p:txBody>
      </p:sp>
      <p:sp>
        <p:nvSpPr>
          <p:cNvPr id="581" name="Google Shape;581;p18"/>
          <p:cNvSpPr/>
          <p:nvPr/>
        </p:nvSpPr>
        <p:spPr>
          <a:xfrm>
            <a:off x="914400" y="3429000"/>
            <a:ext cx="4846320" cy="24688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Expresa la acción del sistema como proceso en ejecución, no como tarea aislada.</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Refuerza la perspectiva del usuario interactuando con el sistema en tiempo real.</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Mantiene la consistencia léxica entre todos los casos de uso del modelo.</a:t>
            </a:r>
            <a:endParaRPr sz="1100">
              <a:solidFill>
                <a:schemeClr val="dk1"/>
              </a:solidFill>
              <a:latin typeface="Calibri"/>
              <a:ea typeface="Calibri"/>
              <a:cs typeface="Calibri"/>
              <a:sym typeface="Calibri"/>
            </a:endParaRPr>
          </a:p>
          <a:p>
            <a:pPr marL="342900" marR="0" lvl="0" indent="-342900" algn="l" rtl="0">
              <a:spcBef>
                <a:spcPts val="600"/>
              </a:spcBef>
              <a:spcAft>
                <a:spcPts val="0"/>
              </a:spcAft>
              <a:buClr>
                <a:srgbClr val="1F2A26"/>
              </a:buClr>
              <a:buSzPts val="1100"/>
              <a:buFont typeface="Calibri"/>
              <a:buChar char="▪"/>
            </a:pPr>
            <a:r>
              <a:rPr lang="en-US" sz="1100">
                <a:solidFill>
                  <a:srgbClr val="1F2A26"/>
                </a:solidFill>
                <a:latin typeface="Calibri"/>
                <a:ea typeface="Calibri"/>
                <a:cs typeface="Calibri"/>
                <a:sym typeface="Calibri"/>
              </a:rPr>
              <a:t>Facilita la trazabilidad funcional desde los requerimientos hacia los CU.</a:t>
            </a:r>
            <a:endParaRPr sz="1100">
              <a:solidFill>
                <a:schemeClr val="dk1"/>
              </a:solidFill>
              <a:latin typeface="Calibri"/>
              <a:ea typeface="Calibri"/>
              <a:cs typeface="Calibri"/>
              <a:sym typeface="Calibri"/>
            </a:endParaRPr>
          </a:p>
        </p:txBody>
      </p:sp>
      <p:sp>
        <p:nvSpPr>
          <p:cNvPr id="582" name="Google Shape;582;p18"/>
          <p:cNvSpPr/>
          <p:nvPr/>
        </p:nvSpPr>
        <p:spPr>
          <a:xfrm>
            <a:off x="6263640" y="1783080"/>
            <a:ext cx="1691640" cy="64008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3" name="Google Shape;583;p18"/>
          <p:cNvSpPr/>
          <p:nvPr/>
        </p:nvSpPr>
        <p:spPr>
          <a:xfrm>
            <a:off x="6263640" y="1783080"/>
            <a:ext cx="169164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Georgia"/>
              <a:buNone/>
            </a:pPr>
            <a:r>
              <a:rPr lang="en-US" sz="1100" b="1">
                <a:solidFill>
                  <a:srgbClr val="FFFFFF"/>
                </a:solidFill>
                <a:latin typeface="Georgia"/>
                <a:ea typeface="Georgia"/>
                <a:cs typeface="Georgia"/>
                <a:sym typeface="Georgia"/>
              </a:rPr>
              <a:t>Administrador</a:t>
            </a:r>
            <a:endParaRPr sz="1100">
              <a:solidFill>
                <a:schemeClr val="dk1"/>
              </a:solidFill>
              <a:latin typeface="Calibri"/>
              <a:ea typeface="Calibri"/>
              <a:cs typeface="Calibri"/>
              <a:sym typeface="Calibri"/>
            </a:endParaRPr>
          </a:p>
        </p:txBody>
      </p:sp>
      <p:sp>
        <p:nvSpPr>
          <p:cNvPr id="584" name="Google Shape;584;p18"/>
          <p:cNvSpPr/>
          <p:nvPr/>
        </p:nvSpPr>
        <p:spPr>
          <a:xfrm>
            <a:off x="6263640" y="2423160"/>
            <a:ext cx="1691640" cy="361188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5" name="Google Shape;585;p18"/>
          <p:cNvSpPr/>
          <p:nvPr/>
        </p:nvSpPr>
        <p:spPr>
          <a:xfrm>
            <a:off x="6355080" y="260604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3B2E"/>
              </a:buClr>
              <a:buSzPts val="1100"/>
              <a:buFont typeface="Georgia"/>
              <a:buNone/>
            </a:pPr>
            <a:r>
              <a:rPr lang="en-US" sz="1100" i="1">
                <a:solidFill>
                  <a:srgbClr val="0F3B2E"/>
                </a:solidFill>
                <a:latin typeface="Georgia"/>
                <a:ea typeface="Georgia"/>
                <a:cs typeface="Georgia"/>
                <a:sym typeface="Georgia"/>
              </a:rPr>
              <a:t>Registrando producto</a:t>
            </a:r>
            <a:endParaRPr sz="1100">
              <a:solidFill>
                <a:schemeClr val="dk1"/>
              </a:solidFill>
              <a:latin typeface="Calibri"/>
              <a:ea typeface="Calibri"/>
              <a:cs typeface="Calibri"/>
              <a:sym typeface="Calibri"/>
            </a:endParaRPr>
          </a:p>
        </p:txBody>
      </p:sp>
      <p:sp>
        <p:nvSpPr>
          <p:cNvPr id="586" name="Google Shape;586;p18"/>
          <p:cNvSpPr/>
          <p:nvPr/>
        </p:nvSpPr>
        <p:spPr>
          <a:xfrm>
            <a:off x="6355080" y="338328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3B2E"/>
              </a:buClr>
              <a:buSzPts val="1100"/>
              <a:buFont typeface="Georgia"/>
              <a:buNone/>
            </a:pPr>
            <a:r>
              <a:rPr lang="en-US" sz="1100" i="1">
                <a:solidFill>
                  <a:srgbClr val="0F3B2E"/>
                </a:solidFill>
                <a:latin typeface="Georgia"/>
                <a:ea typeface="Georgia"/>
                <a:cs typeface="Georgia"/>
                <a:sym typeface="Georgia"/>
              </a:rPr>
              <a:t>Generando reporte</a:t>
            </a:r>
            <a:endParaRPr sz="1100">
              <a:solidFill>
                <a:schemeClr val="dk1"/>
              </a:solidFill>
              <a:latin typeface="Calibri"/>
              <a:ea typeface="Calibri"/>
              <a:cs typeface="Calibri"/>
              <a:sym typeface="Calibri"/>
            </a:endParaRPr>
          </a:p>
        </p:txBody>
      </p:sp>
      <p:sp>
        <p:nvSpPr>
          <p:cNvPr id="587" name="Google Shape;587;p18"/>
          <p:cNvSpPr/>
          <p:nvPr/>
        </p:nvSpPr>
        <p:spPr>
          <a:xfrm>
            <a:off x="6355080" y="416052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3B2E"/>
              </a:buClr>
              <a:buSzPts val="1100"/>
              <a:buFont typeface="Georgia"/>
              <a:buNone/>
            </a:pPr>
            <a:r>
              <a:rPr lang="en-US" sz="1100" i="1">
                <a:solidFill>
                  <a:srgbClr val="0F3B2E"/>
                </a:solidFill>
                <a:latin typeface="Georgia"/>
                <a:ea typeface="Georgia"/>
                <a:cs typeface="Georgia"/>
                <a:sym typeface="Georgia"/>
              </a:rPr>
              <a:t>Gestionando usuarios</a:t>
            </a:r>
            <a:endParaRPr sz="1100">
              <a:solidFill>
                <a:schemeClr val="dk1"/>
              </a:solidFill>
              <a:latin typeface="Calibri"/>
              <a:ea typeface="Calibri"/>
              <a:cs typeface="Calibri"/>
              <a:sym typeface="Calibri"/>
            </a:endParaRPr>
          </a:p>
        </p:txBody>
      </p:sp>
      <p:sp>
        <p:nvSpPr>
          <p:cNvPr id="588" name="Google Shape;588;p18"/>
          <p:cNvSpPr/>
          <p:nvPr/>
        </p:nvSpPr>
        <p:spPr>
          <a:xfrm>
            <a:off x="6355080" y="493776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3B2E"/>
              </a:buClr>
              <a:buSzPts val="1100"/>
              <a:buFont typeface="Georgia"/>
              <a:buNone/>
            </a:pPr>
            <a:r>
              <a:rPr lang="en-US" sz="1100" i="1">
                <a:solidFill>
                  <a:srgbClr val="0F3B2E"/>
                </a:solidFill>
                <a:latin typeface="Georgia"/>
                <a:ea typeface="Georgia"/>
                <a:cs typeface="Georgia"/>
                <a:sym typeface="Georgia"/>
              </a:rPr>
              <a:t>Ajustando inventario</a:t>
            </a:r>
            <a:endParaRPr sz="1100">
              <a:solidFill>
                <a:schemeClr val="dk1"/>
              </a:solidFill>
              <a:latin typeface="Calibri"/>
              <a:ea typeface="Calibri"/>
              <a:cs typeface="Calibri"/>
              <a:sym typeface="Calibri"/>
            </a:endParaRPr>
          </a:p>
        </p:txBody>
      </p:sp>
      <p:sp>
        <p:nvSpPr>
          <p:cNvPr id="589" name="Google Shape;589;p18"/>
          <p:cNvSpPr/>
          <p:nvPr/>
        </p:nvSpPr>
        <p:spPr>
          <a:xfrm>
            <a:off x="8092440" y="1783080"/>
            <a:ext cx="1691640" cy="64008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0" name="Google Shape;590;p18"/>
          <p:cNvSpPr/>
          <p:nvPr/>
        </p:nvSpPr>
        <p:spPr>
          <a:xfrm>
            <a:off x="8092440" y="1783080"/>
            <a:ext cx="169164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Georgia"/>
              <a:buNone/>
            </a:pPr>
            <a:r>
              <a:rPr lang="en-US" sz="1100" b="1">
                <a:solidFill>
                  <a:srgbClr val="FFFFFF"/>
                </a:solidFill>
                <a:latin typeface="Georgia"/>
                <a:ea typeface="Georgia"/>
                <a:cs typeface="Georgia"/>
                <a:sym typeface="Georgia"/>
              </a:rPr>
              <a:t>Encargado de Recepción</a:t>
            </a:r>
            <a:endParaRPr sz="1100">
              <a:solidFill>
                <a:schemeClr val="dk1"/>
              </a:solidFill>
              <a:latin typeface="Calibri"/>
              <a:ea typeface="Calibri"/>
              <a:cs typeface="Calibri"/>
              <a:sym typeface="Calibri"/>
            </a:endParaRPr>
          </a:p>
        </p:txBody>
      </p:sp>
      <p:sp>
        <p:nvSpPr>
          <p:cNvPr id="591" name="Google Shape;591;p18"/>
          <p:cNvSpPr/>
          <p:nvPr/>
        </p:nvSpPr>
        <p:spPr>
          <a:xfrm>
            <a:off x="8092440" y="2423160"/>
            <a:ext cx="1691640" cy="361188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2" name="Google Shape;592;p18"/>
          <p:cNvSpPr/>
          <p:nvPr/>
        </p:nvSpPr>
        <p:spPr>
          <a:xfrm>
            <a:off x="8183880" y="260604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D6A4F"/>
              </a:buClr>
              <a:buSzPts val="1100"/>
              <a:buFont typeface="Georgia"/>
              <a:buNone/>
            </a:pPr>
            <a:r>
              <a:rPr lang="en-US" sz="1100" i="1">
                <a:solidFill>
                  <a:srgbClr val="2D6A4F"/>
                </a:solidFill>
                <a:latin typeface="Georgia"/>
                <a:ea typeface="Georgia"/>
                <a:cs typeface="Georgia"/>
                <a:sym typeface="Georgia"/>
              </a:rPr>
              <a:t>Actualizando stock</a:t>
            </a:r>
            <a:endParaRPr sz="1100">
              <a:solidFill>
                <a:schemeClr val="dk1"/>
              </a:solidFill>
              <a:latin typeface="Calibri"/>
              <a:ea typeface="Calibri"/>
              <a:cs typeface="Calibri"/>
              <a:sym typeface="Calibri"/>
            </a:endParaRPr>
          </a:p>
        </p:txBody>
      </p:sp>
      <p:sp>
        <p:nvSpPr>
          <p:cNvPr id="593" name="Google Shape;593;p18"/>
          <p:cNvSpPr/>
          <p:nvPr/>
        </p:nvSpPr>
        <p:spPr>
          <a:xfrm>
            <a:off x="8183880" y="338328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D6A4F"/>
              </a:buClr>
              <a:buSzPts val="1100"/>
              <a:buFont typeface="Georgia"/>
              <a:buNone/>
            </a:pPr>
            <a:r>
              <a:rPr lang="en-US" sz="1100" i="1">
                <a:solidFill>
                  <a:srgbClr val="2D6A4F"/>
                </a:solidFill>
                <a:latin typeface="Georgia"/>
                <a:ea typeface="Georgia"/>
                <a:cs typeface="Georgia"/>
                <a:sym typeface="Georgia"/>
              </a:rPr>
              <a:t>Cargando factura</a:t>
            </a:r>
            <a:endParaRPr sz="1100">
              <a:solidFill>
                <a:schemeClr val="dk1"/>
              </a:solidFill>
              <a:latin typeface="Calibri"/>
              <a:ea typeface="Calibri"/>
              <a:cs typeface="Calibri"/>
              <a:sym typeface="Calibri"/>
            </a:endParaRPr>
          </a:p>
        </p:txBody>
      </p:sp>
      <p:sp>
        <p:nvSpPr>
          <p:cNvPr id="594" name="Google Shape;594;p18"/>
          <p:cNvSpPr/>
          <p:nvPr/>
        </p:nvSpPr>
        <p:spPr>
          <a:xfrm>
            <a:off x="8183880" y="416052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D6A4F"/>
              </a:buClr>
              <a:buSzPts val="1100"/>
              <a:buFont typeface="Georgia"/>
              <a:buNone/>
            </a:pPr>
            <a:r>
              <a:rPr lang="en-US" sz="1100" i="1">
                <a:solidFill>
                  <a:srgbClr val="2D6A4F"/>
                </a:solidFill>
                <a:latin typeface="Georgia"/>
                <a:ea typeface="Georgia"/>
                <a:cs typeface="Georgia"/>
                <a:sym typeface="Georgia"/>
              </a:rPr>
              <a:t>Leyendo código de barras</a:t>
            </a:r>
            <a:endParaRPr sz="1100">
              <a:solidFill>
                <a:schemeClr val="dk1"/>
              </a:solidFill>
              <a:latin typeface="Calibri"/>
              <a:ea typeface="Calibri"/>
              <a:cs typeface="Calibri"/>
              <a:sym typeface="Calibri"/>
            </a:endParaRPr>
          </a:p>
        </p:txBody>
      </p:sp>
      <p:sp>
        <p:nvSpPr>
          <p:cNvPr id="595" name="Google Shape;595;p18"/>
          <p:cNvSpPr/>
          <p:nvPr/>
        </p:nvSpPr>
        <p:spPr>
          <a:xfrm>
            <a:off x="8183880" y="493776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D6A4F"/>
              </a:buClr>
              <a:buSzPts val="1100"/>
              <a:buFont typeface="Georgia"/>
              <a:buNone/>
            </a:pPr>
            <a:r>
              <a:rPr lang="en-US" sz="1100" i="1">
                <a:solidFill>
                  <a:srgbClr val="2D6A4F"/>
                </a:solidFill>
                <a:latin typeface="Georgia"/>
                <a:ea typeface="Georgia"/>
                <a:cs typeface="Georgia"/>
                <a:sym typeface="Georgia"/>
              </a:rPr>
              <a:t>Validando recepción</a:t>
            </a:r>
            <a:endParaRPr sz="1100">
              <a:solidFill>
                <a:schemeClr val="dk1"/>
              </a:solidFill>
              <a:latin typeface="Calibri"/>
              <a:ea typeface="Calibri"/>
              <a:cs typeface="Calibri"/>
              <a:sym typeface="Calibri"/>
            </a:endParaRPr>
          </a:p>
        </p:txBody>
      </p:sp>
      <p:sp>
        <p:nvSpPr>
          <p:cNvPr id="596" name="Google Shape;596;p18"/>
          <p:cNvSpPr/>
          <p:nvPr/>
        </p:nvSpPr>
        <p:spPr>
          <a:xfrm>
            <a:off x="9921240" y="1783080"/>
            <a:ext cx="1691640" cy="64008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7" name="Google Shape;597;p18"/>
          <p:cNvSpPr/>
          <p:nvPr/>
        </p:nvSpPr>
        <p:spPr>
          <a:xfrm>
            <a:off x="9921240" y="1783080"/>
            <a:ext cx="169164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Georgia"/>
              <a:buNone/>
            </a:pPr>
            <a:r>
              <a:rPr lang="en-US" sz="1100" b="1">
                <a:solidFill>
                  <a:srgbClr val="FFFFFF"/>
                </a:solidFill>
                <a:latin typeface="Georgia"/>
                <a:ea typeface="Georgia"/>
                <a:cs typeface="Georgia"/>
                <a:sym typeface="Georgia"/>
              </a:rPr>
              <a:t>Cajero</a:t>
            </a:r>
            <a:endParaRPr sz="1100">
              <a:solidFill>
                <a:schemeClr val="dk1"/>
              </a:solidFill>
              <a:latin typeface="Calibri"/>
              <a:ea typeface="Calibri"/>
              <a:cs typeface="Calibri"/>
              <a:sym typeface="Calibri"/>
            </a:endParaRPr>
          </a:p>
        </p:txBody>
      </p:sp>
      <p:sp>
        <p:nvSpPr>
          <p:cNvPr id="598" name="Google Shape;598;p18"/>
          <p:cNvSpPr/>
          <p:nvPr/>
        </p:nvSpPr>
        <p:spPr>
          <a:xfrm>
            <a:off x="9921240" y="2423160"/>
            <a:ext cx="1691640" cy="361188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9" name="Google Shape;599;p18"/>
          <p:cNvSpPr/>
          <p:nvPr/>
        </p:nvSpPr>
        <p:spPr>
          <a:xfrm>
            <a:off x="10012680" y="260604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963C"/>
              </a:buClr>
              <a:buSzPts val="1100"/>
              <a:buFont typeface="Georgia"/>
              <a:buNone/>
            </a:pPr>
            <a:r>
              <a:rPr lang="en-US" sz="1100" i="1">
                <a:solidFill>
                  <a:srgbClr val="E8963C"/>
                </a:solidFill>
                <a:latin typeface="Georgia"/>
                <a:ea typeface="Georgia"/>
                <a:cs typeface="Georgia"/>
                <a:sym typeface="Georgia"/>
              </a:rPr>
              <a:t>Consultando disponibilidad</a:t>
            </a:r>
            <a:endParaRPr sz="1100">
              <a:solidFill>
                <a:schemeClr val="dk1"/>
              </a:solidFill>
              <a:latin typeface="Calibri"/>
              <a:ea typeface="Calibri"/>
              <a:cs typeface="Calibri"/>
              <a:sym typeface="Calibri"/>
            </a:endParaRPr>
          </a:p>
        </p:txBody>
      </p:sp>
      <p:sp>
        <p:nvSpPr>
          <p:cNvPr id="600" name="Google Shape;600;p18"/>
          <p:cNvSpPr/>
          <p:nvPr/>
        </p:nvSpPr>
        <p:spPr>
          <a:xfrm>
            <a:off x="10012680" y="338328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963C"/>
              </a:buClr>
              <a:buSzPts val="1100"/>
              <a:buFont typeface="Georgia"/>
              <a:buNone/>
            </a:pPr>
            <a:r>
              <a:rPr lang="en-US" sz="1100" i="1">
                <a:solidFill>
                  <a:srgbClr val="E8963C"/>
                </a:solidFill>
                <a:latin typeface="Georgia"/>
                <a:ea typeface="Georgia"/>
                <a:cs typeface="Georgia"/>
                <a:sym typeface="Georgia"/>
              </a:rPr>
              <a:t>Verificando precio</a:t>
            </a:r>
            <a:endParaRPr sz="1100">
              <a:solidFill>
                <a:schemeClr val="dk1"/>
              </a:solidFill>
              <a:latin typeface="Calibri"/>
              <a:ea typeface="Calibri"/>
              <a:cs typeface="Calibri"/>
              <a:sym typeface="Calibri"/>
            </a:endParaRPr>
          </a:p>
        </p:txBody>
      </p:sp>
      <p:sp>
        <p:nvSpPr>
          <p:cNvPr id="601" name="Google Shape;601;p18"/>
          <p:cNvSpPr/>
          <p:nvPr/>
        </p:nvSpPr>
        <p:spPr>
          <a:xfrm>
            <a:off x="10012680" y="416052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963C"/>
              </a:buClr>
              <a:buSzPts val="1100"/>
              <a:buFont typeface="Georgia"/>
              <a:buNone/>
            </a:pPr>
            <a:r>
              <a:rPr lang="en-US" sz="1100" i="1">
                <a:solidFill>
                  <a:srgbClr val="E8963C"/>
                </a:solidFill>
                <a:latin typeface="Georgia"/>
                <a:ea typeface="Georgia"/>
                <a:cs typeface="Georgia"/>
                <a:sym typeface="Georgia"/>
              </a:rPr>
              <a:t>Buscando producto</a:t>
            </a:r>
            <a:endParaRPr sz="1100">
              <a:solidFill>
                <a:schemeClr val="dk1"/>
              </a:solidFill>
              <a:latin typeface="Calibri"/>
              <a:ea typeface="Calibri"/>
              <a:cs typeface="Calibri"/>
              <a:sym typeface="Calibri"/>
            </a:endParaRPr>
          </a:p>
        </p:txBody>
      </p:sp>
      <p:sp>
        <p:nvSpPr>
          <p:cNvPr id="602" name="Google Shape;602;p18"/>
          <p:cNvSpPr/>
          <p:nvPr/>
        </p:nvSpPr>
        <p:spPr>
          <a:xfrm>
            <a:off x="10012680" y="4937760"/>
            <a:ext cx="15544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963C"/>
              </a:buClr>
              <a:buSzPts val="1100"/>
              <a:buFont typeface="Georgia"/>
              <a:buNone/>
            </a:pPr>
            <a:r>
              <a:rPr lang="en-US" sz="1100" i="1">
                <a:solidFill>
                  <a:srgbClr val="E8963C"/>
                </a:solidFill>
                <a:latin typeface="Georgia"/>
                <a:ea typeface="Georgia"/>
                <a:cs typeface="Georgia"/>
                <a:sym typeface="Georgia"/>
              </a:rPr>
              <a:t>Registrando historial</a:t>
            </a:r>
            <a:endParaRPr sz="1100">
              <a:solidFill>
                <a:schemeClr val="dk1"/>
              </a:solidFill>
              <a:latin typeface="Calibri"/>
              <a:ea typeface="Calibri"/>
              <a:cs typeface="Calibri"/>
              <a:sym typeface="Calibri"/>
            </a:endParaRPr>
          </a:p>
        </p:txBody>
      </p:sp>
      <p:sp>
        <p:nvSpPr>
          <p:cNvPr id="603" name="Google Shape;603;p18"/>
          <p:cNvSpPr/>
          <p:nvPr/>
        </p:nvSpPr>
        <p:spPr>
          <a:xfrm>
            <a:off x="457200" y="6126480"/>
            <a:ext cx="11274552" cy="27432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4" name="Google Shape;604;p18"/>
          <p:cNvSpPr/>
          <p:nvPr/>
        </p:nvSpPr>
        <p:spPr>
          <a:xfrm>
            <a:off x="457200" y="6126480"/>
            <a:ext cx="11274552"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50"/>
              <a:buFont typeface="Georgia"/>
              <a:buNone/>
            </a:pPr>
            <a:r>
              <a:rPr lang="en-US" sz="1050" i="1">
                <a:solidFill>
                  <a:srgbClr val="6B7785"/>
                </a:solidFill>
                <a:latin typeface="Georgia"/>
                <a:ea typeface="Georgia"/>
                <a:cs typeface="Georgia"/>
                <a:sym typeface="Georgia"/>
              </a:rPr>
              <a:t>Convención aplicada en los 28 casos de uso (CU-01 a CU-28) y validada en sección 9.4 del informe.</a:t>
            </a:r>
            <a:endParaRPr sz="1050">
              <a:solidFill>
                <a:schemeClr val="dk1"/>
              </a:solidFill>
              <a:latin typeface="Calibri"/>
              <a:ea typeface="Calibri"/>
              <a:cs typeface="Calibri"/>
              <a:sym typeface="Calibri"/>
            </a:endParaRPr>
          </a:p>
        </p:txBody>
      </p:sp>
      <p:cxnSp>
        <p:nvCxnSpPr>
          <p:cNvPr id="605" name="Google Shape;605;p18"/>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606" name="Google Shape;606;p18"/>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607" name="Google Shape;607;p18"/>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18 / 28</a:t>
            </a:r>
            <a:endParaRPr sz="9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2"/>
        <p:cNvGrpSpPr/>
        <p:nvPr/>
      </p:nvGrpSpPr>
      <p:grpSpPr>
        <a:xfrm>
          <a:off x="0" y="0"/>
          <a:ext cx="0" cy="0"/>
          <a:chOff x="0" y="0"/>
          <a:chExt cx="0" cy="0"/>
        </a:xfrm>
      </p:grpSpPr>
      <p:sp>
        <p:nvSpPr>
          <p:cNvPr id="613" name="Google Shape;613;p19"/>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8. Casos de uso extendidos</a:t>
            </a:r>
            <a:endParaRPr sz="3400">
              <a:solidFill>
                <a:schemeClr val="dk1"/>
              </a:solidFill>
              <a:latin typeface="Calibri"/>
              <a:ea typeface="Calibri"/>
              <a:cs typeface="Calibri"/>
              <a:sym typeface="Calibri"/>
            </a:endParaRPr>
          </a:p>
        </p:txBody>
      </p:sp>
      <p:sp>
        <p:nvSpPr>
          <p:cNvPr id="614" name="Google Shape;614;p19"/>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Actores e interacciones con el sistema</a:t>
            </a:r>
            <a:endParaRPr sz="1300">
              <a:solidFill>
                <a:schemeClr val="dk1"/>
              </a:solidFill>
              <a:latin typeface="Calibri"/>
              <a:ea typeface="Calibri"/>
              <a:cs typeface="Calibri"/>
              <a:sym typeface="Calibri"/>
            </a:endParaRPr>
          </a:p>
        </p:txBody>
      </p:sp>
      <p:sp>
        <p:nvSpPr>
          <p:cNvPr id="615" name="Google Shape;615;p19"/>
          <p:cNvSpPr/>
          <p:nvPr/>
        </p:nvSpPr>
        <p:spPr>
          <a:xfrm>
            <a:off x="457200" y="1783080"/>
            <a:ext cx="3657600" cy="118872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6" name="Google Shape;616;p19"/>
          <p:cNvSpPr/>
          <p:nvPr/>
        </p:nvSpPr>
        <p:spPr>
          <a:xfrm>
            <a:off x="1828800" y="1947672"/>
            <a:ext cx="914400" cy="9144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17" name="Google Shape;617;p19" descr="preencoded.png"/>
          <p:cNvPicPr preferRelativeResize="0"/>
          <p:nvPr/>
        </p:nvPicPr>
        <p:blipFill rotWithShape="1">
          <a:blip r:embed="rId3">
            <a:alphaModFix/>
          </a:blip>
          <a:srcRect/>
          <a:stretch/>
        </p:blipFill>
        <p:spPr>
          <a:xfrm>
            <a:off x="2075688" y="2194560"/>
            <a:ext cx="411480" cy="411480"/>
          </a:xfrm>
          <a:prstGeom prst="rect">
            <a:avLst/>
          </a:prstGeom>
          <a:noFill/>
          <a:ln>
            <a:noFill/>
          </a:ln>
        </p:spPr>
      </p:pic>
      <p:sp>
        <p:nvSpPr>
          <p:cNvPr id="618" name="Google Shape;618;p19"/>
          <p:cNvSpPr/>
          <p:nvPr/>
        </p:nvSpPr>
        <p:spPr>
          <a:xfrm>
            <a:off x="457200" y="2926080"/>
            <a:ext cx="365760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F3B2E"/>
              </a:buClr>
              <a:buSzPts val="1700"/>
              <a:buFont typeface="Georgia"/>
              <a:buNone/>
            </a:pPr>
            <a:r>
              <a:rPr lang="en-US" sz="1700" b="1">
                <a:solidFill>
                  <a:srgbClr val="0F3B2E"/>
                </a:solidFill>
                <a:latin typeface="Georgia"/>
                <a:ea typeface="Georgia"/>
                <a:cs typeface="Georgia"/>
                <a:sym typeface="Georgia"/>
              </a:rPr>
              <a:t>Administrador</a:t>
            </a:r>
            <a:endParaRPr sz="1700">
              <a:solidFill>
                <a:schemeClr val="dk1"/>
              </a:solidFill>
              <a:latin typeface="Calibri"/>
              <a:ea typeface="Calibri"/>
              <a:cs typeface="Calibri"/>
              <a:sym typeface="Calibri"/>
            </a:endParaRPr>
          </a:p>
        </p:txBody>
      </p:sp>
      <p:sp>
        <p:nvSpPr>
          <p:cNvPr id="619" name="Google Shape;619;p19"/>
          <p:cNvSpPr/>
          <p:nvPr/>
        </p:nvSpPr>
        <p:spPr>
          <a:xfrm>
            <a:off x="457200" y="3383280"/>
            <a:ext cx="365760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785"/>
              </a:buClr>
              <a:buSzPts val="1200"/>
              <a:buFont typeface="Georgia"/>
              <a:buNone/>
            </a:pPr>
            <a:r>
              <a:rPr lang="en-US" sz="1200" i="1">
                <a:solidFill>
                  <a:srgbClr val="6B7785"/>
                </a:solidFill>
                <a:latin typeface="Georgia"/>
                <a:ea typeface="Georgia"/>
                <a:cs typeface="Georgia"/>
                <a:sym typeface="Georgia"/>
              </a:rPr>
              <a:t>Máximo nivel de acceso</a:t>
            </a:r>
            <a:endParaRPr sz="1200">
              <a:solidFill>
                <a:schemeClr val="dk1"/>
              </a:solidFill>
              <a:latin typeface="Calibri"/>
              <a:ea typeface="Calibri"/>
              <a:cs typeface="Calibri"/>
              <a:sym typeface="Calibri"/>
            </a:endParaRPr>
          </a:p>
        </p:txBody>
      </p:sp>
      <p:sp>
        <p:nvSpPr>
          <p:cNvPr id="620" name="Google Shape;620;p19"/>
          <p:cNvSpPr/>
          <p:nvPr/>
        </p:nvSpPr>
        <p:spPr>
          <a:xfrm>
            <a:off x="457200" y="3794760"/>
            <a:ext cx="3657600" cy="246888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1" name="Google Shape;621;p19"/>
          <p:cNvSpPr/>
          <p:nvPr/>
        </p:nvSpPr>
        <p:spPr>
          <a:xfrm>
            <a:off x="731520" y="3931920"/>
            <a:ext cx="3383280" cy="22402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Registrar nuevos productos</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Generar reportes de inventario</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Gestionar usuarios del sistema</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Realizar ajustes manuales de stock</a:t>
            </a:r>
            <a:endParaRPr sz="1200">
              <a:solidFill>
                <a:schemeClr val="dk1"/>
              </a:solidFill>
              <a:latin typeface="Calibri"/>
              <a:ea typeface="Calibri"/>
              <a:cs typeface="Calibri"/>
              <a:sym typeface="Calibri"/>
            </a:endParaRPr>
          </a:p>
        </p:txBody>
      </p:sp>
      <p:sp>
        <p:nvSpPr>
          <p:cNvPr id="622" name="Google Shape;622;p19"/>
          <p:cNvSpPr/>
          <p:nvPr/>
        </p:nvSpPr>
        <p:spPr>
          <a:xfrm>
            <a:off x="4279392" y="1783080"/>
            <a:ext cx="3657600" cy="118872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3" name="Google Shape;623;p19"/>
          <p:cNvSpPr/>
          <p:nvPr/>
        </p:nvSpPr>
        <p:spPr>
          <a:xfrm>
            <a:off x="5650992" y="1947672"/>
            <a:ext cx="914400" cy="9144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24" name="Google Shape;624;p19" descr="preencoded.png"/>
          <p:cNvPicPr preferRelativeResize="0"/>
          <p:nvPr/>
        </p:nvPicPr>
        <p:blipFill rotWithShape="1">
          <a:blip r:embed="rId4">
            <a:alphaModFix/>
          </a:blip>
          <a:srcRect/>
          <a:stretch/>
        </p:blipFill>
        <p:spPr>
          <a:xfrm>
            <a:off x="5897880" y="2194560"/>
            <a:ext cx="411480" cy="411480"/>
          </a:xfrm>
          <a:prstGeom prst="rect">
            <a:avLst/>
          </a:prstGeom>
          <a:noFill/>
          <a:ln>
            <a:noFill/>
          </a:ln>
        </p:spPr>
      </p:pic>
      <p:sp>
        <p:nvSpPr>
          <p:cNvPr id="625" name="Google Shape;625;p19"/>
          <p:cNvSpPr/>
          <p:nvPr/>
        </p:nvSpPr>
        <p:spPr>
          <a:xfrm>
            <a:off x="4279392" y="2926080"/>
            <a:ext cx="365760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D6A4F"/>
              </a:buClr>
              <a:buSzPts val="1700"/>
              <a:buFont typeface="Georgia"/>
              <a:buNone/>
            </a:pPr>
            <a:r>
              <a:rPr lang="en-US" sz="1700" b="1">
                <a:solidFill>
                  <a:srgbClr val="2D6A4F"/>
                </a:solidFill>
                <a:latin typeface="Georgia"/>
                <a:ea typeface="Georgia"/>
                <a:cs typeface="Georgia"/>
                <a:sym typeface="Georgia"/>
              </a:rPr>
              <a:t>Encargado de Recepción</a:t>
            </a:r>
            <a:endParaRPr sz="1700">
              <a:solidFill>
                <a:schemeClr val="dk1"/>
              </a:solidFill>
              <a:latin typeface="Calibri"/>
              <a:ea typeface="Calibri"/>
              <a:cs typeface="Calibri"/>
              <a:sym typeface="Calibri"/>
            </a:endParaRPr>
          </a:p>
        </p:txBody>
      </p:sp>
      <p:sp>
        <p:nvSpPr>
          <p:cNvPr id="626" name="Google Shape;626;p19"/>
          <p:cNvSpPr/>
          <p:nvPr/>
        </p:nvSpPr>
        <p:spPr>
          <a:xfrm>
            <a:off x="4279392" y="3383280"/>
            <a:ext cx="365760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785"/>
              </a:buClr>
              <a:buSzPts val="1200"/>
              <a:buFont typeface="Georgia"/>
              <a:buNone/>
            </a:pPr>
            <a:r>
              <a:rPr lang="en-US" sz="1200" i="1">
                <a:solidFill>
                  <a:srgbClr val="6B7785"/>
                </a:solidFill>
                <a:latin typeface="Georgia"/>
                <a:ea typeface="Georgia"/>
                <a:cs typeface="Georgia"/>
                <a:sym typeface="Georgia"/>
              </a:rPr>
              <a:t>Actualización de stock</a:t>
            </a:r>
            <a:endParaRPr sz="1200">
              <a:solidFill>
                <a:schemeClr val="dk1"/>
              </a:solidFill>
              <a:latin typeface="Calibri"/>
              <a:ea typeface="Calibri"/>
              <a:cs typeface="Calibri"/>
              <a:sym typeface="Calibri"/>
            </a:endParaRPr>
          </a:p>
        </p:txBody>
      </p:sp>
      <p:sp>
        <p:nvSpPr>
          <p:cNvPr id="627" name="Google Shape;627;p19"/>
          <p:cNvSpPr/>
          <p:nvPr/>
        </p:nvSpPr>
        <p:spPr>
          <a:xfrm>
            <a:off x="4279392" y="3794760"/>
            <a:ext cx="3657600" cy="246888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8" name="Google Shape;628;p19"/>
          <p:cNvSpPr/>
          <p:nvPr/>
        </p:nvSpPr>
        <p:spPr>
          <a:xfrm>
            <a:off x="4553712" y="3931920"/>
            <a:ext cx="3383280" cy="22402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Registrar mercadería recibida</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Lectura de código de barras</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Actualizar stock tras recepción</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Validar coincidencia con facturas</a:t>
            </a:r>
            <a:endParaRPr sz="1200">
              <a:solidFill>
                <a:schemeClr val="dk1"/>
              </a:solidFill>
              <a:latin typeface="Calibri"/>
              <a:ea typeface="Calibri"/>
              <a:cs typeface="Calibri"/>
              <a:sym typeface="Calibri"/>
            </a:endParaRPr>
          </a:p>
        </p:txBody>
      </p:sp>
      <p:sp>
        <p:nvSpPr>
          <p:cNvPr id="629" name="Google Shape;629;p19"/>
          <p:cNvSpPr/>
          <p:nvPr/>
        </p:nvSpPr>
        <p:spPr>
          <a:xfrm>
            <a:off x="8101584" y="1783080"/>
            <a:ext cx="3657600" cy="11887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0" name="Google Shape;630;p19"/>
          <p:cNvSpPr/>
          <p:nvPr/>
        </p:nvSpPr>
        <p:spPr>
          <a:xfrm>
            <a:off x="9473184" y="1947672"/>
            <a:ext cx="914400" cy="9144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31" name="Google Shape;631;p19" descr="preencoded.png"/>
          <p:cNvPicPr preferRelativeResize="0"/>
          <p:nvPr/>
        </p:nvPicPr>
        <p:blipFill rotWithShape="1">
          <a:blip r:embed="rId5">
            <a:alphaModFix/>
          </a:blip>
          <a:srcRect/>
          <a:stretch/>
        </p:blipFill>
        <p:spPr>
          <a:xfrm>
            <a:off x="9720072" y="2194560"/>
            <a:ext cx="411480" cy="411480"/>
          </a:xfrm>
          <a:prstGeom prst="rect">
            <a:avLst/>
          </a:prstGeom>
          <a:noFill/>
          <a:ln>
            <a:noFill/>
          </a:ln>
        </p:spPr>
      </p:pic>
      <p:sp>
        <p:nvSpPr>
          <p:cNvPr id="632" name="Google Shape;632;p19"/>
          <p:cNvSpPr/>
          <p:nvPr/>
        </p:nvSpPr>
        <p:spPr>
          <a:xfrm>
            <a:off x="8101584" y="2926080"/>
            <a:ext cx="365760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963C"/>
              </a:buClr>
              <a:buSzPts val="1700"/>
              <a:buFont typeface="Georgia"/>
              <a:buNone/>
            </a:pPr>
            <a:r>
              <a:rPr lang="en-US" sz="1700" b="1">
                <a:solidFill>
                  <a:srgbClr val="E8963C"/>
                </a:solidFill>
                <a:latin typeface="Georgia"/>
                <a:ea typeface="Georgia"/>
                <a:cs typeface="Georgia"/>
                <a:sym typeface="Georgia"/>
              </a:rPr>
              <a:t>Cajero</a:t>
            </a:r>
            <a:endParaRPr sz="1700">
              <a:solidFill>
                <a:schemeClr val="dk1"/>
              </a:solidFill>
              <a:latin typeface="Calibri"/>
              <a:ea typeface="Calibri"/>
              <a:cs typeface="Calibri"/>
              <a:sym typeface="Calibri"/>
            </a:endParaRPr>
          </a:p>
        </p:txBody>
      </p:sp>
      <p:sp>
        <p:nvSpPr>
          <p:cNvPr id="633" name="Google Shape;633;p19"/>
          <p:cNvSpPr/>
          <p:nvPr/>
        </p:nvSpPr>
        <p:spPr>
          <a:xfrm>
            <a:off x="8101584" y="3383280"/>
            <a:ext cx="365760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785"/>
              </a:buClr>
              <a:buSzPts val="1200"/>
              <a:buFont typeface="Georgia"/>
              <a:buNone/>
            </a:pPr>
            <a:r>
              <a:rPr lang="en-US" sz="1200" i="1">
                <a:solidFill>
                  <a:srgbClr val="6B7785"/>
                </a:solidFill>
                <a:latin typeface="Georgia"/>
                <a:ea typeface="Georgia"/>
                <a:cs typeface="Georgia"/>
                <a:sym typeface="Georgia"/>
              </a:rPr>
              <a:t>Consulta de productos</a:t>
            </a:r>
            <a:endParaRPr sz="1200">
              <a:solidFill>
                <a:schemeClr val="dk1"/>
              </a:solidFill>
              <a:latin typeface="Calibri"/>
              <a:ea typeface="Calibri"/>
              <a:cs typeface="Calibri"/>
              <a:sym typeface="Calibri"/>
            </a:endParaRPr>
          </a:p>
        </p:txBody>
      </p:sp>
      <p:sp>
        <p:nvSpPr>
          <p:cNvPr id="634" name="Google Shape;634;p19"/>
          <p:cNvSpPr/>
          <p:nvPr/>
        </p:nvSpPr>
        <p:spPr>
          <a:xfrm>
            <a:off x="8101584" y="3794760"/>
            <a:ext cx="3657600" cy="246888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5" name="Google Shape;635;p19"/>
          <p:cNvSpPr/>
          <p:nvPr/>
        </p:nvSpPr>
        <p:spPr>
          <a:xfrm>
            <a:off x="8375904" y="3931920"/>
            <a:ext cx="3383280" cy="22402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Consultar disponibilidad</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Verificar precios</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Búsqueda por SKU o código</a:t>
            </a:r>
            <a:endParaRPr sz="1200">
              <a:solidFill>
                <a:schemeClr val="dk1"/>
              </a:solidFill>
              <a:latin typeface="Calibri"/>
              <a:ea typeface="Calibri"/>
              <a:cs typeface="Calibri"/>
              <a:sym typeface="Calibri"/>
            </a:endParaRPr>
          </a:p>
          <a:p>
            <a:pPr marL="342900" marR="0" lvl="0" indent="-342900" algn="l" rtl="0">
              <a:spcBef>
                <a:spcPts val="800"/>
              </a:spcBef>
              <a:spcAft>
                <a:spcPts val="0"/>
              </a:spcAft>
              <a:buClr>
                <a:srgbClr val="1F2A26"/>
              </a:buClr>
              <a:buSzPts val="1200"/>
              <a:buFont typeface="Calibri"/>
              <a:buChar char="▪"/>
            </a:pPr>
            <a:r>
              <a:rPr lang="en-US" sz="1200">
                <a:solidFill>
                  <a:srgbClr val="1F2A26"/>
                </a:solidFill>
                <a:latin typeface="Calibri"/>
                <a:ea typeface="Calibri"/>
                <a:cs typeface="Calibri"/>
                <a:sym typeface="Calibri"/>
              </a:rPr>
              <a:t>Registro transversal en historial</a:t>
            </a:r>
            <a:endParaRPr sz="1200">
              <a:solidFill>
                <a:schemeClr val="dk1"/>
              </a:solidFill>
              <a:latin typeface="Calibri"/>
              <a:ea typeface="Calibri"/>
              <a:cs typeface="Calibri"/>
              <a:sym typeface="Calibri"/>
            </a:endParaRPr>
          </a:p>
        </p:txBody>
      </p:sp>
      <p:sp>
        <p:nvSpPr>
          <p:cNvPr id="636" name="Google Shape;636;p19"/>
          <p:cNvSpPr/>
          <p:nvPr/>
        </p:nvSpPr>
        <p:spPr>
          <a:xfrm>
            <a:off x="457200" y="6126480"/>
            <a:ext cx="11274552"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Todos los actores generan un registro transversal en el historial de movimientos, garantizando trazabilidad completa.</a:t>
            </a:r>
            <a:endParaRPr sz="1100">
              <a:solidFill>
                <a:schemeClr val="dk1"/>
              </a:solidFill>
              <a:latin typeface="Calibri"/>
              <a:ea typeface="Calibri"/>
              <a:cs typeface="Calibri"/>
              <a:sym typeface="Calibri"/>
            </a:endParaRPr>
          </a:p>
        </p:txBody>
      </p:sp>
      <p:cxnSp>
        <p:nvCxnSpPr>
          <p:cNvPr id="637" name="Google Shape;637;p19"/>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638" name="Google Shape;638;p19"/>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639" name="Google Shape;639;p19"/>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19 / 28</a:t>
            </a:r>
            <a:endParaRPr sz="9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4"/>
        <p:cNvGrpSpPr/>
        <p:nvPr/>
      </p:nvGrpSpPr>
      <p:grpSpPr>
        <a:xfrm>
          <a:off x="0" y="0"/>
          <a:ext cx="0" cy="0"/>
          <a:chOff x="0" y="0"/>
          <a:chExt cx="0" cy="0"/>
        </a:xfrm>
      </p:grpSpPr>
      <p:sp>
        <p:nvSpPr>
          <p:cNvPr id="645" name="Google Shape;645;p20"/>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8. Diagrama de casos de uso</a:t>
            </a:r>
            <a:endParaRPr sz="3400">
              <a:solidFill>
                <a:schemeClr val="dk1"/>
              </a:solidFill>
              <a:latin typeface="Calibri"/>
              <a:ea typeface="Calibri"/>
              <a:cs typeface="Calibri"/>
              <a:sym typeface="Calibri"/>
            </a:endParaRPr>
          </a:p>
        </p:txBody>
      </p:sp>
      <p:sp>
        <p:nvSpPr>
          <p:cNvPr id="646" name="Google Shape;646;p20"/>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Actores e interacciones con el sistema · casos nombrados en gerundio</a:t>
            </a:r>
            <a:endParaRPr sz="1300">
              <a:solidFill>
                <a:schemeClr val="dk1"/>
              </a:solidFill>
              <a:latin typeface="Calibri"/>
              <a:ea typeface="Calibri"/>
              <a:cs typeface="Calibri"/>
              <a:sym typeface="Calibri"/>
            </a:endParaRPr>
          </a:p>
        </p:txBody>
      </p:sp>
      <p:pic>
        <p:nvPicPr>
          <p:cNvPr id="647" name="Google Shape;647;p20" descr="assets/casos_uso.png"/>
          <p:cNvPicPr preferRelativeResize="0"/>
          <p:nvPr/>
        </p:nvPicPr>
        <p:blipFill rotWithShape="1">
          <a:blip r:embed="rId3">
            <a:alphaModFix/>
          </a:blip>
          <a:srcRect/>
          <a:stretch/>
        </p:blipFill>
        <p:spPr>
          <a:xfrm>
            <a:off x="1097280" y="1783080"/>
            <a:ext cx="9966960" cy="4434840"/>
          </a:xfrm>
          <a:prstGeom prst="rect">
            <a:avLst/>
          </a:prstGeom>
          <a:noFill/>
          <a:ln>
            <a:noFill/>
          </a:ln>
        </p:spPr>
      </p:pic>
      <p:sp>
        <p:nvSpPr>
          <p:cNvPr id="648" name="Google Shape;648;p20"/>
          <p:cNvSpPr/>
          <p:nvPr/>
        </p:nvSpPr>
        <p:spPr>
          <a:xfrm>
            <a:off x="457200" y="6263640"/>
            <a:ext cx="11274552"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1000"/>
              <a:buFont typeface="Georgia"/>
              <a:buNone/>
            </a:pPr>
            <a:r>
              <a:rPr lang="en-US" sz="1000" i="1">
                <a:solidFill>
                  <a:srgbClr val="6B7785"/>
                </a:solidFill>
                <a:latin typeface="Georgia"/>
                <a:ea typeface="Georgia"/>
                <a:cs typeface="Georgia"/>
                <a:sym typeface="Georgia"/>
              </a:rPr>
              <a:t>Figura 9.1. Diagrama de casos de uso – Sistema de gestión de inventario y facturas.</a:t>
            </a:r>
            <a:endParaRPr sz="1000">
              <a:solidFill>
                <a:schemeClr val="dk1"/>
              </a:solidFill>
              <a:latin typeface="Calibri"/>
              <a:ea typeface="Calibri"/>
              <a:cs typeface="Calibri"/>
              <a:sym typeface="Calibri"/>
            </a:endParaRPr>
          </a:p>
        </p:txBody>
      </p:sp>
      <p:cxnSp>
        <p:nvCxnSpPr>
          <p:cNvPr id="649" name="Google Shape;649;p20"/>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650" name="Google Shape;650;p20"/>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651" name="Google Shape;651;p20"/>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20 / 28</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6"/>
        <p:cNvGrpSpPr/>
        <p:nvPr/>
      </p:nvGrpSpPr>
      <p:grpSpPr>
        <a:xfrm>
          <a:off x="0" y="0"/>
          <a:ext cx="0" cy="0"/>
          <a:chOff x="0" y="0"/>
          <a:chExt cx="0" cy="0"/>
        </a:xfrm>
      </p:grpSpPr>
      <p:sp>
        <p:nvSpPr>
          <p:cNvPr id="657" name="Google Shape;657;p21"/>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8. Matriz de trazabilidad</a:t>
            </a:r>
            <a:endParaRPr sz="3400">
              <a:solidFill>
                <a:schemeClr val="dk1"/>
              </a:solidFill>
              <a:latin typeface="Calibri"/>
              <a:ea typeface="Calibri"/>
              <a:cs typeface="Calibri"/>
              <a:sym typeface="Calibri"/>
            </a:endParaRPr>
          </a:p>
        </p:txBody>
      </p:sp>
      <p:sp>
        <p:nvSpPr>
          <p:cNvPr id="658" name="Google Shape;658;p21"/>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Requerimientos funcionales vs. casos de uso</a:t>
            </a:r>
            <a:endParaRPr sz="1300">
              <a:solidFill>
                <a:schemeClr val="dk1"/>
              </a:solidFill>
              <a:latin typeface="Calibri"/>
              <a:ea typeface="Calibri"/>
              <a:cs typeface="Calibri"/>
              <a:sym typeface="Calibri"/>
            </a:endParaRPr>
          </a:p>
        </p:txBody>
      </p:sp>
      <p:sp>
        <p:nvSpPr>
          <p:cNvPr id="659" name="Google Shape;659;p21"/>
          <p:cNvSpPr/>
          <p:nvPr/>
        </p:nvSpPr>
        <p:spPr>
          <a:xfrm>
            <a:off x="457200" y="1783080"/>
            <a:ext cx="3657600" cy="86868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0" name="Google Shape;660;p21"/>
          <p:cNvSpPr/>
          <p:nvPr/>
        </p:nvSpPr>
        <p:spPr>
          <a:xfrm>
            <a:off x="731520" y="1783080"/>
            <a:ext cx="16459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dirty="0">
                <a:solidFill>
                  <a:srgbClr val="FFFFFF"/>
                </a:solidFill>
                <a:latin typeface="Georgia"/>
                <a:ea typeface="Calibri"/>
                <a:cs typeface="Calibri"/>
                <a:sym typeface="Georgia"/>
              </a:rPr>
              <a:t>72</a:t>
            </a:r>
            <a:endParaRPr lang="en-US" sz="3600" b="1" dirty="0">
              <a:solidFill>
                <a:srgbClr val="FFFFFF"/>
              </a:solidFill>
              <a:latin typeface="Georgia"/>
              <a:ea typeface="Calibri"/>
              <a:cs typeface="Calibri"/>
            </a:endParaRPr>
          </a:p>
        </p:txBody>
      </p:sp>
      <p:sp>
        <p:nvSpPr>
          <p:cNvPr id="661" name="Google Shape;661;p21"/>
          <p:cNvSpPr/>
          <p:nvPr/>
        </p:nvSpPr>
        <p:spPr>
          <a:xfrm>
            <a:off x="2286000" y="1783080"/>
            <a:ext cx="17373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Requerimientos funcionales (UR)</a:t>
            </a:r>
            <a:endParaRPr sz="1050">
              <a:solidFill>
                <a:schemeClr val="dk1"/>
              </a:solidFill>
              <a:latin typeface="Calibri"/>
              <a:ea typeface="Calibri"/>
              <a:cs typeface="Calibri"/>
              <a:sym typeface="Calibri"/>
            </a:endParaRPr>
          </a:p>
        </p:txBody>
      </p:sp>
      <p:sp>
        <p:nvSpPr>
          <p:cNvPr id="662" name="Google Shape;662;p21"/>
          <p:cNvSpPr/>
          <p:nvPr/>
        </p:nvSpPr>
        <p:spPr>
          <a:xfrm>
            <a:off x="4279392" y="1783080"/>
            <a:ext cx="3657600" cy="86868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3" name="Google Shape;663;p21"/>
          <p:cNvSpPr/>
          <p:nvPr/>
        </p:nvSpPr>
        <p:spPr>
          <a:xfrm>
            <a:off x="4553712" y="1783080"/>
            <a:ext cx="16459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a:solidFill>
                  <a:srgbClr val="FFFFFF"/>
                </a:solidFill>
                <a:latin typeface="Georgia"/>
                <a:ea typeface="Calibri"/>
                <a:cs typeface="Calibri"/>
                <a:sym typeface="Georgia"/>
              </a:rPr>
              <a:t>35</a:t>
            </a:r>
            <a:endParaRPr lang="en-US" sz="3600" b="1">
              <a:solidFill>
                <a:srgbClr val="FFFFFF"/>
              </a:solidFill>
              <a:latin typeface="Georgia"/>
              <a:ea typeface="Calibri"/>
              <a:cs typeface="Calibri"/>
            </a:endParaRPr>
          </a:p>
        </p:txBody>
      </p:sp>
      <p:sp>
        <p:nvSpPr>
          <p:cNvPr id="664" name="Google Shape;664;p21"/>
          <p:cNvSpPr/>
          <p:nvPr/>
        </p:nvSpPr>
        <p:spPr>
          <a:xfrm>
            <a:off x="6108192" y="1783080"/>
            <a:ext cx="17373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Casos de uso extendidos</a:t>
            </a:r>
            <a:endParaRPr sz="1050">
              <a:solidFill>
                <a:schemeClr val="dk1"/>
              </a:solidFill>
              <a:latin typeface="Calibri"/>
              <a:ea typeface="Calibri"/>
              <a:cs typeface="Calibri"/>
              <a:sym typeface="Calibri"/>
            </a:endParaRPr>
          </a:p>
        </p:txBody>
      </p:sp>
      <p:sp>
        <p:nvSpPr>
          <p:cNvPr id="665" name="Google Shape;665;p21"/>
          <p:cNvSpPr/>
          <p:nvPr/>
        </p:nvSpPr>
        <p:spPr>
          <a:xfrm>
            <a:off x="8101584" y="1783080"/>
            <a:ext cx="3657600" cy="86868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6" name="Google Shape;666;p21"/>
          <p:cNvSpPr/>
          <p:nvPr/>
        </p:nvSpPr>
        <p:spPr>
          <a:xfrm>
            <a:off x="8375904" y="1783080"/>
            <a:ext cx="16459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a:solidFill>
                  <a:srgbClr val="FFFFFF"/>
                </a:solidFill>
                <a:latin typeface="Georgia"/>
                <a:ea typeface="Georgia"/>
                <a:cs typeface="Georgia"/>
                <a:sym typeface="Georgia"/>
              </a:rPr>
              <a:t>100%</a:t>
            </a:r>
            <a:endParaRPr sz="3600">
              <a:solidFill>
                <a:schemeClr val="dk1"/>
              </a:solidFill>
              <a:latin typeface="Calibri"/>
              <a:ea typeface="Calibri"/>
              <a:cs typeface="Calibri"/>
              <a:sym typeface="Calibri"/>
            </a:endParaRPr>
          </a:p>
        </p:txBody>
      </p:sp>
      <p:sp>
        <p:nvSpPr>
          <p:cNvPr id="667" name="Google Shape;667;p21"/>
          <p:cNvSpPr/>
          <p:nvPr/>
        </p:nvSpPr>
        <p:spPr>
          <a:xfrm>
            <a:off x="9930384" y="1783080"/>
            <a:ext cx="17373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1">
                <a:solidFill>
                  <a:srgbClr val="FFFFFF"/>
                </a:solidFill>
                <a:latin typeface="Calibri"/>
                <a:ea typeface="Calibri"/>
                <a:cs typeface="Calibri"/>
                <a:sym typeface="Calibri"/>
              </a:rPr>
              <a:t>Cobertura de trazabilidad</a:t>
            </a:r>
            <a:endParaRPr sz="1050">
              <a:solidFill>
                <a:schemeClr val="dk1"/>
              </a:solidFill>
              <a:latin typeface="Calibri"/>
              <a:ea typeface="Calibri"/>
              <a:cs typeface="Calibri"/>
              <a:sym typeface="Calibri"/>
            </a:endParaRPr>
          </a:p>
        </p:txBody>
      </p:sp>
      <p:graphicFrame>
        <p:nvGraphicFramePr>
          <p:cNvPr id="668" name="Google Shape;668;p21"/>
          <p:cNvGraphicFramePr/>
          <p:nvPr>
            <p:extLst>
              <p:ext uri="{D42A27DB-BD31-4B8C-83A1-F6EECF244321}">
                <p14:modId xmlns:p14="http://schemas.microsoft.com/office/powerpoint/2010/main" val="2907104427"/>
              </p:ext>
            </p:extLst>
          </p:nvPr>
        </p:nvGraphicFramePr>
        <p:xfrm>
          <a:off x="457200" y="2788920"/>
          <a:ext cx="11274475" cy="2057480"/>
        </p:xfrm>
        <a:graphic>
          <a:graphicData uri="http://schemas.openxmlformats.org/drawingml/2006/table">
            <a:tbl>
              <a:tblPr>
                <a:noFill/>
                <a:tableStyleId>{41871B0C-AF7D-4192-89DD-12DB13C66A15}</a:tableStyleId>
              </a:tblPr>
              <a:tblGrid>
                <a:gridCol w="1033275">
                  <a:extLst>
                    <a:ext uri="{9D8B030D-6E8A-4147-A177-3AD203B41FA5}">
                      <a16:colId xmlns:a16="http://schemas.microsoft.com/office/drawing/2014/main" val="20000"/>
                    </a:ext>
                  </a:extLst>
                </a:gridCol>
                <a:gridCol w="1280150">
                  <a:extLst>
                    <a:ext uri="{9D8B030D-6E8A-4147-A177-3AD203B41FA5}">
                      <a16:colId xmlns:a16="http://schemas.microsoft.com/office/drawing/2014/main" val="20001"/>
                    </a:ext>
                  </a:extLst>
                </a:gridCol>
                <a:gridCol w="1280150">
                  <a:extLst>
                    <a:ext uri="{9D8B030D-6E8A-4147-A177-3AD203B41FA5}">
                      <a16:colId xmlns:a16="http://schemas.microsoft.com/office/drawing/2014/main" val="20002"/>
                    </a:ext>
                  </a:extLst>
                </a:gridCol>
                <a:gridCol w="1280150">
                  <a:extLst>
                    <a:ext uri="{9D8B030D-6E8A-4147-A177-3AD203B41FA5}">
                      <a16:colId xmlns:a16="http://schemas.microsoft.com/office/drawing/2014/main" val="20003"/>
                    </a:ext>
                  </a:extLst>
                </a:gridCol>
                <a:gridCol w="1280150">
                  <a:extLst>
                    <a:ext uri="{9D8B030D-6E8A-4147-A177-3AD203B41FA5}">
                      <a16:colId xmlns:a16="http://schemas.microsoft.com/office/drawing/2014/main" val="20004"/>
                    </a:ext>
                  </a:extLst>
                </a:gridCol>
                <a:gridCol w="1280150">
                  <a:extLst>
                    <a:ext uri="{9D8B030D-6E8A-4147-A177-3AD203B41FA5}">
                      <a16:colId xmlns:a16="http://schemas.microsoft.com/office/drawing/2014/main" val="20005"/>
                    </a:ext>
                  </a:extLst>
                </a:gridCol>
                <a:gridCol w="1280150">
                  <a:extLst>
                    <a:ext uri="{9D8B030D-6E8A-4147-A177-3AD203B41FA5}">
                      <a16:colId xmlns:a16="http://schemas.microsoft.com/office/drawing/2014/main" val="20006"/>
                    </a:ext>
                  </a:extLst>
                </a:gridCol>
                <a:gridCol w="1280150">
                  <a:extLst>
                    <a:ext uri="{9D8B030D-6E8A-4147-A177-3AD203B41FA5}">
                      <a16:colId xmlns:a16="http://schemas.microsoft.com/office/drawing/2014/main" val="20007"/>
                    </a:ext>
                  </a:extLst>
                </a:gridCol>
                <a:gridCol w="1280150">
                  <a:extLst>
                    <a:ext uri="{9D8B030D-6E8A-4147-A177-3AD203B41FA5}">
                      <a16:colId xmlns:a16="http://schemas.microsoft.com/office/drawing/2014/main" val="20008"/>
                    </a:ext>
                  </a:extLst>
                </a:gridCol>
              </a:tblGrid>
              <a:tr h="237750">
                <a:tc>
                  <a:txBody>
                    <a:bodyPr/>
                    <a:lstStyle/>
                    <a:p>
                      <a:pPr marL="0" marR="0" lvl="0" indent="0" algn="ctr" rtl="0">
                        <a:spcBef>
                          <a:spcPts val="0"/>
                        </a:spcBef>
                        <a:spcAft>
                          <a:spcPts val="0"/>
                        </a:spcAft>
                        <a:buClr>
                          <a:schemeClr val="dk1"/>
                        </a:buClr>
                        <a:buSzPts val="1000"/>
                        <a:buFont typeface="Calibri"/>
                        <a:buNone/>
                      </a:pP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CU-01</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CU-02</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CU-03</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CU-04</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CU-05</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CU-06</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CU-07</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CU-08</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extLst>
                  <a:ext uri="{0D108BD9-81ED-4DB2-BD59-A6C34878D82A}">
                    <a16:rowId xmlns:a16="http://schemas.microsoft.com/office/drawing/2014/main" val="10000"/>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UR-01</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UR-05</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2"/>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UR-26</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UR-27</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4"/>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UR-45</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UR-49</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6"/>
                  </a:ext>
                </a:extLst>
              </a:tr>
              <a:tr h="237750">
                <a:tc>
                  <a:txBody>
                    <a:bodyPr/>
                    <a:lstStyle/>
                    <a:p>
                      <a:pPr marL="0" marR="0" lvl="0" indent="0" algn="ctr" rtl="0">
                        <a:spcBef>
                          <a:spcPts val="0"/>
                        </a:spcBef>
                        <a:spcAft>
                          <a:spcPts val="0"/>
                        </a:spcAft>
                        <a:buClr>
                          <a:srgbClr val="0F3B2E"/>
                        </a:buClr>
                        <a:buSzPts val="1100"/>
                        <a:buFont typeface="Calibri"/>
                        <a:buNone/>
                      </a:pPr>
                      <a:r>
                        <a:rPr lang="en-US" sz="1100" b="1" u="none" strike="noStrike" cap="none">
                          <a:solidFill>
                            <a:srgbClr val="0F3B2E"/>
                          </a:solidFill>
                          <a:latin typeface="Calibri"/>
                          <a:ea typeface="Calibri"/>
                          <a:cs typeface="Calibri"/>
                          <a:sym typeface="Calibri"/>
                        </a:rPr>
                        <a:t>UR-54</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1100"/>
                        <a:buFont typeface="Calibri"/>
                        <a:buNone/>
                      </a:pPr>
                      <a:r>
                        <a:rPr lang="en-US" sz="1100" u="none" strike="noStrike" cap="none">
                          <a:solidFill>
                            <a:srgbClr val="2D6A4F"/>
                          </a:solidFill>
                          <a:latin typeface="Calibri"/>
                          <a:ea typeface="Calibri"/>
                          <a:cs typeface="Calibri"/>
                          <a:sym typeface="Calibri"/>
                        </a:rPr>
                        <a:t>●</a:t>
                      </a: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1100"/>
                        <a:buFont typeface="Calibri"/>
                        <a:buNone/>
                      </a:pPr>
                      <a:endParaRPr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669" name="Google Shape;669;p21"/>
          <p:cNvSpPr/>
          <p:nvPr/>
        </p:nvSpPr>
        <p:spPr>
          <a:xfrm>
            <a:off x="457200" y="5349240"/>
            <a:ext cx="11274552" cy="86868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0" name="Google Shape;670;p21"/>
          <p:cNvSpPr/>
          <p:nvPr/>
        </p:nvSpPr>
        <p:spPr>
          <a:xfrm>
            <a:off x="457200" y="5349240"/>
            <a:ext cx="91440" cy="86868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1" name="Google Shape;671;p21"/>
          <p:cNvSpPr/>
          <p:nvPr/>
        </p:nvSpPr>
        <p:spPr>
          <a:xfrm>
            <a:off x="777240" y="5422392"/>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050"/>
              <a:buFont typeface="Calibri"/>
              <a:buNone/>
            </a:pPr>
            <a:r>
              <a:rPr lang="en-US" sz="1050" b="1">
                <a:solidFill>
                  <a:srgbClr val="E8963C"/>
                </a:solidFill>
                <a:latin typeface="Calibri"/>
                <a:ea typeface="Calibri"/>
                <a:cs typeface="Calibri"/>
                <a:sym typeface="Calibri"/>
              </a:rPr>
              <a:t>TRAZABILIDAD BIDIRECCIONAL</a:t>
            </a:r>
            <a:endParaRPr sz="1050">
              <a:solidFill>
                <a:schemeClr val="dk1"/>
              </a:solidFill>
              <a:latin typeface="Calibri"/>
              <a:ea typeface="Calibri"/>
              <a:cs typeface="Calibri"/>
              <a:sym typeface="Calibri"/>
            </a:endParaRPr>
          </a:p>
        </p:txBody>
      </p:sp>
      <p:sp>
        <p:nvSpPr>
          <p:cNvPr id="672" name="Google Shape;672;p21"/>
          <p:cNvSpPr/>
          <p:nvPr/>
        </p:nvSpPr>
        <p:spPr>
          <a:xfrm>
            <a:off x="777240" y="5669280"/>
            <a:ext cx="10927080" cy="548640"/>
          </a:xfrm>
          <a:prstGeom prst="rect">
            <a:avLst/>
          </a:prstGeom>
          <a:noFill/>
          <a:ln>
            <a:noFill/>
          </a:ln>
        </p:spPr>
        <p:txBody>
          <a:bodyPr spcFirstLastPara="1" wrap="square" lIns="91425" tIns="45700" rIns="91425" bIns="45700" anchor="ctr" anchorCtr="0">
            <a:noAutofit/>
          </a:bodyPr>
          <a:lstStyle/>
          <a:p>
            <a:pPr>
              <a:buClr>
                <a:srgbClr val="0F3B2E"/>
              </a:buClr>
              <a:buSzPts val="1050"/>
              <a:buFont typeface="Calibri"/>
            </a:pPr>
            <a:r>
              <a:rPr lang="en-US" sz="1050" b="1">
                <a:solidFill>
                  <a:srgbClr val="0F3B2E"/>
                </a:solidFill>
                <a:latin typeface="Calibri"/>
                <a:ea typeface="Calibri"/>
                <a:cs typeface="Calibri"/>
                <a:sym typeface="Calibri"/>
              </a:rPr>
              <a:t>Hacia </a:t>
            </a:r>
            <a:r>
              <a:rPr lang="en-US" sz="1050" b="1" err="1">
                <a:solidFill>
                  <a:srgbClr val="0F3B2E"/>
                </a:solidFill>
                <a:latin typeface="Calibri"/>
                <a:ea typeface="Calibri"/>
                <a:cs typeface="Calibri"/>
                <a:sym typeface="Calibri"/>
              </a:rPr>
              <a:t>adelante</a:t>
            </a:r>
            <a:r>
              <a:rPr lang="en-US" sz="1050" b="1">
                <a:solidFill>
                  <a:srgbClr val="0F3B2E"/>
                </a:solidFill>
                <a:latin typeface="Calibri"/>
                <a:ea typeface="Calibri"/>
                <a:cs typeface="Calibri"/>
                <a:sym typeface="Calibri"/>
              </a:rPr>
              <a:t> (RF → CU): </a:t>
            </a:r>
            <a:r>
              <a:rPr lang="en-US" sz="1050" err="1">
                <a:solidFill>
                  <a:srgbClr val="1F2A26"/>
                </a:solidFill>
                <a:latin typeface="Calibri"/>
                <a:ea typeface="Calibri"/>
                <a:cs typeface="Calibri"/>
                <a:sym typeface="Calibri"/>
              </a:rPr>
              <a:t>cada</a:t>
            </a:r>
            <a:r>
              <a:rPr lang="en-US" sz="1050">
                <a:solidFill>
                  <a:srgbClr val="1F2A26"/>
                </a:solidFill>
                <a:latin typeface="Calibri"/>
                <a:ea typeface="Calibri"/>
                <a:cs typeface="Calibri"/>
                <a:sym typeface="Calibri"/>
              </a:rPr>
              <a:t> uno de </a:t>
            </a:r>
            <a:r>
              <a:rPr lang="en-US" sz="1050" err="1">
                <a:solidFill>
                  <a:srgbClr val="1F2A26"/>
                </a:solidFill>
                <a:latin typeface="Calibri"/>
                <a:ea typeface="Calibri"/>
                <a:cs typeface="Calibri"/>
                <a:sym typeface="Calibri"/>
              </a:rPr>
              <a:t>los</a:t>
            </a:r>
            <a:r>
              <a:rPr lang="en-US" sz="1050">
                <a:solidFill>
                  <a:srgbClr val="1F2A26"/>
                </a:solidFill>
                <a:latin typeface="Calibri"/>
                <a:ea typeface="Calibri"/>
                <a:cs typeface="Calibri"/>
                <a:sym typeface="Calibri"/>
              </a:rPr>
              <a:t>  RF </a:t>
            </a:r>
            <a:r>
              <a:rPr lang="en-US" sz="1050" err="1">
                <a:solidFill>
                  <a:srgbClr val="1F2A26"/>
                </a:solidFill>
                <a:latin typeface="Calibri"/>
                <a:ea typeface="Calibri"/>
                <a:cs typeface="Calibri"/>
                <a:sym typeface="Calibri"/>
              </a:rPr>
              <a:t>está</a:t>
            </a:r>
            <a:r>
              <a:rPr lang="en-US" sz="1050">
                <a:solidFill>
                  <a:srgbClr val="1F2A26"/>
                </a:solidFill>
                <a:latin typeface="Calibri"/>
                <a:ea typeface="Calibri"/>
                <a:cs typeface="Calibri"/>
                <a:sym typeface="Calibri"/>
              </a:rPr>
              <a:t> </a:t>
            </a:r>
            <a:r>
              <a:rPr lang="en-US" sz="1050" err="1">
                <a:solidFill>
                  <a:srgbClr val="1F2A26"/>
                </a:solidFill>
                <a:latin typeface="Calibri"/>
                <a:ea typeface="Calibri"/>
                <a:cs typeface="Calibri"/>
                <a:sym typeface="Calibri"/>
              </a:rPr>
              <a:t>cubierto</a:t>
            </a:r>
            <a:r>
              <a:rPr lang="en-US" sz="1050">
                <a:solidFill>
                  <a:srgbClr val="1F2A26"/>
                </a:solidFill>
                <a:latin typeface="Calibri"/>
                <a:ea typeface="Calibri"/>
                <a:cs typeface="Calibri"/>
                <a:sym typeface="Calibri"/>
              </a:rPr>
              <a:t> </a:t>
            </a:r>
            <a:r>
              <a:rPr lang="en-US" sz="1050" err="1">
                <a:solidFill>
                  <a:srgbClr val="1F2A26"/>
                </a:solidFill>
                <a:latin typeface="Calibri"/>
                <a:ea typeface="Calibri"/>
                <a:cs typeface="Calibri"/>
                <a:sym typeface="Calibri"/>
              </a:rPr>
              <a:t>por</a:t>
            </a:r>
            <a:r>
              <a:rPr lang="en-US" sz="1050">
                <a:solidFill>
                  <a:srgbClr val="1F2A26"/>
                </a:solidFill>
                <a:latin typeface="Calibri"/>
                <a:ea typeface="Calibri"/>
                <a:cs typeface="Calibri"/>
                <a:sym typeface="Calibri"/>
              </a:rPr>
              <a:t> al </a:t>
            </a:r>
            <a:r>
              <a:rPr lang="en-US" sz="1050" err="1">
                <a:solidFill>
                  <a:srgbClr val="1F2A26"/>
                </a:solidFill>
                <a:latin typeface="Calibri"/>
                <a:ea typeface="Calibri"/>
                <a:cs typeface="Calibri"/>
                <a:sym typeface="Calibri"/>
              </a:rPr>
              <a:t>menos</a:t>
            </a:r>
            <a:r>
              <a:rPr lang="en-US" sz="1050">
                <a:solidFill>
                  <a:srgbClr val="1F2A26"/>
                </a:solidFill>
                <a:latin typeface="Calibri"/>
                <a:ea typeface="Calibri"/>
                <a:cs typeface="Calibri"/>
                <a:sym typeface="Calibri"/>
              </a:rPr>
              <a:t> un CU.   </a:t>
            </a:r>
            <a:r>
              <a:rPr lang="en-US" sz="1050" b="1">
                <a:solidFill>
                  <a:srgbClr val="0F3B2E"/>
                </a:solidFill>
                <a:latin typeface="Calibri"/>
                <a:ea typeface="Calibri"/>
                <a:cs typeface="Calibri"/>
                <a:sym typeface="Calibri"/>
              </a:rPr>
              <a:t>Hacia atrás (CU → RF): </a:t>
            </a:r>
            <a:r>
              <a:rPr lang="en-US" sz="1050" err="1">
                <a:solidFill>
                  <a:srgbClr val="1F2A26"/>
                </a:solidFill>
                <a:latin typeface="Calibri"/>
                <a:ea typeface="Calibri"/>
                <a:cs typeface="Calibri"/>
                <a:sym typeface="Calibri"/>
              </a:rPr>
              <a:t>cada</a:t>
            </a:r>
            <a:r>
              <a:rPr lang="en-US" sz="1050">
                <a:solidFill>
                  <a:srgbClr val="1F2A26"/>
                </a:solidFill>
                <a:latin typeface="Calibri"/>
                <a:ea typeface="Calibri"/>
                <a:cs typeface="Calibri"/>
                <a:sym typeface="Calibri"/>
              </a:rPr>
              <a:t> CU </a:t>
            </a:r>
            <a:r>
              <a:rPr lang="en-US" sz="1050" err="1">
                <a:solidFill>
                  <a:srgbClr val="1F2A26"/>
                </a:solidFill>
                <a:latin typeface="Calibri"/>
                <a:ea typeface="Calibri"/>
                <a:cs typeface="Calibri"/>
                <a:sym typeface="Calibri"/>
              </a:rPr>
              <a:t>implementa</a:t>
            </a:r>
            <a:r>
              <a:rPr lang="en-US" sz="1050">
                <a:solidFill>
                  <a:srgbClr val="1F2A26"/>
                </a:solidFill>
                <a:latin typeface="Calibri"/>
                <a:ea typeface="Calibri"/>
                <a:cs typeface="Calibri"/>
                <a:sym typeface="Calibri"/>
              </a:rPr>
              <a:t> al </a:t>
            </a:r>
            <a:r>
              <a:rPr lang="en-US" sz="1050" err="1">
                <a:solidFill>
                  <a:srgbClr val="1F2A26"/>
                </a:solidFill>
                <a:latin typeface="Calibri"/>
                <a:ea typeface="Calibri"/>
                <a:cs typeface="Calibri"/>
                <a:sym typeface="Calibri"/>
              </a:rPr>
              <a:t>menos</a:t>
            </a:r>
            <a:r>
              <a:rPr lang="en-US" sz="1050">
                <a:solidFill>
                  <a:srgbClr val="1F2A26"/>
                </a:solidFill>
                <a:latin typeface="Calibri"/>
                <a:ea typeface="Calibri"/>
                <a:cs typeface="Calibri"/>
                <a:sym typeface="Calibri"/>
              </a:rPr>
              <a:t> un RF, sin </a:t>
            </a:r>
            <a:r>
              <a:rPr lang="en-US" sz="1050" err="1">
                <a:solidFill>
                  <a:srgbClr val="1F2A26"/>
                </a:solidFill>
                <a:latin typeface="Calibri"/>
                <a:ea typeface="Calibri"/>
                <a:cs typeface="Calibri"/>
                <a:sym typeface="Calibri"/>
              </a:rPr>
              <a:t>funcionalidades</a:t>
            </a:r>
            <a:r>
              <a:rPr lang="en-US" sz="1050">
                <a:solidFill>
                  <a:srgbClr val="1F2A26"/>
                </a:solidFill>
                <a:latin typeface="Calibri"/>
                <a:ea typeface="Calibri"/>
                <a:cs typeface="Calibri"/>
                <a:sym typeface="Calibri"/>
              </a:rPr>
              <a:t> </a:t>
            </a:r>
            <a:r>
              <a:rPr lang="en-US" sz="1050" err="1">
                <a:solidFill>
                  <a:srgbClr val="1F2A26"/>
                </a:solidFill>
                <a:latin typeface="Calibri"/>
                <a:ea typeface="Calibri"/>
                <a:cs typeface="Calibri"/>
                <a:sym typeface="Calibri"/>
              </a:rPr>
              <a:t>innecesarias</a:t>
            </a:r>
            <a:r>
              <a:rPr lang="en-US" sz="1050">
                <a:solidFill>
                  <a:srgbClr val="1F2A26"/>
                </a:solidFill>
                <a:latin typeface="Calibri"/>
                <a:ea typeface="Calibri"/>
                <a:cs typeface="Calibri"/>
                <a:sym typeface="Calibri"/>
              </a:rPr>
              <a:t>. Esta </a:t>
            </a:r>
            <a:r>
              <a:rPr lang="en-US" sz="1050" err="1">
                <a:solidFill>
                  <a:srgbClr val="1F2A26"/>
                </a:solidFill>
                <a:latin typeface="Calibri"/>
                <a:ea typeface="Calibri"/>
                <a:cs typeface="Calibri"/>
                <a:sym typeface="Calibri"/>
              </a:rPr>
              <a:t>verificación</a:t>
            </a:r>
            <a:r>
              <a:rPr lang="en-US" sz="1050">
                <a:solidFill>
                  <a:srgbClr val="1F2A26"/>
                </a:solidFill>
                <a:latin typeface="Calibri"/>
                <a:ea typeface="Calibri"/>
                <a:cs typeface="Calibri"/>
                <a:sym typeface="Calibri"/>
              </a:rPr>
              <a:t> </a:t>
            </a:r>
            <a:r>
              <a:rPr lang="en-US" sz="1050" err="1">
                <a:solidFill>
                  <a:srgbClr val="1F2A26"/>
                </a:solidFill>
                <a:latin typeface="Calibri"/>
                <a:ea typeface="Calibri"/>
                <a:cs typeface="Calibri"/>
                <a:sym typeface="Calibri"/>
              </a:rPr>
              <a:t>garantiza</a:t>
            </a:r>
            <a:r>
              <a:rPr lang="en-US" sz="1050">
                <a:solidFill>
                  <a:srgbClr val="1F2A26"/>
                </a:solidFill>
                <a:latin typeface="Calibri"/>
                <a:ea typeface="Calibri"/>
                <a:cs typeface="Calibri"/>
                <a:sym typeface="Calibri"/>
              </a:rPr>
              <a:t> </a:t>
            </a:r>
            <a:r>
              <a:rPr lang="en-US" sz="1050" b="1">
                <a:solidFill>
                  <a:srgbClr val="E8963C"/>
                </a:solidFill>
                <a:latin typeface="Calibri"/>
                <a:ea typeface="Calibri"/>
                <a:cs typeface="Calibri"/>
                <a:sym typeface="Calibri"/>
              </a:rPr>
              <a:t>100% de </a:t>
            </a:r>
            <a:r>
              <a:rPr lang="en-US" sz="1050" b="1" err="1">
                <a:solidFill>
                  <a:srgbClr val="E8963C"/>
                </a:solidFill>
                <a:latin typeface="Calibri"/>
                <a:ea typeface="Calibri"/>
                <a:cs typeface="Calibri"/>
                <a:sym typeface="Calibri"/>
              </a:rPr>
              <a:t>cobertura</a:t>
            </a:r>
            <a:r>
              <a:rPr lang="en-US" sz="1050">
                <a:solidFill>
                  <a:srgbClr val="1F2A26"/>
                </a:solidFill>
                <a:latin typeface="Calibri"/>
                <a:ea typeface="Calibri"/>
                <a:cs typeface="Calibri"/>
                <a:sym typeface="Calibri"/>
              </a:rPr>
              <a:t> y </a:t>
            </a:r>
            <a:r>
              <a:rPr lang="en-US" sz="1050" err="1">
                <a:solidFill>
                  <a:srgbClr val="1F2A26"/>
                </a:solidFill>
                <a:latin typeface="Calibri"/>
                <a:ea typeface="Calibri"/>
                <a:cs typeface="Calibri"/>
                <a:sym typeface="Calibri"/>
              </a:rPr>
              <a:t>elimina</a:t>
            </a:r>
            <a:r>
              <a:rPr lang="en-US" sz="1050">
                <a:solidFill>
                  <a:srgbClr val="1F2A26"/>
                </a:solidFill>
                <a:latin typeface="Calibri"/>
                <a:ea typeface="Calibri"/>
                <a:cs typeface="Calibri"/>
                <a:sym typeface="Calibri"/>
              </a:rPr>
              <a:t> el </a:t>
            </a:r>
            <a:r>
              <a:rPr lang="en-US" sz="1050" err="1">
                <a:solidFill>
                  <a:srgbClr val="1F2A26"/>
                </a:solidFill>
                <a:latin typeface="Calibri"/>
                <a:ea typeface="Calibri"/>
                <a:cs typeface="Calibri"/>
                <a:sym typeface="Calibri"/>
              </a:rPr>
              <a:t>riesgo</a:t>
            </a:r>
            <a:r>
              <a:rPr lang="en-US" sz="1050">
                <a:solidFill>
                  <a:srgbClr val="1F2A26"/>
                </a:solidFill>
                <a:latin typeface="Calibri"/>
                <a:ea typeface="Calibri"/>
                <a:cs typeface="Calibri"/>
                <a:sym typeface="Calibri"/>
              </a:rPr>
              <a:t> de </a:t>
            </a:r>
            <a:r>
              <a:rPr lang="en-US" sz="1050" err="1">
                <a:solidFill>
                  <a:srgbClr val="1F2A26"/>
                </a:solidFill>
                <a:latin typeface="Calibri"/>
                <a:ea typeface="Calibri"/>
                <a:cs typeface="Calibri"/>
                <a:sym typeface="Calibri"/>
              </a:rPr>
              <a:t>funciones</a:t>
            </a:r>
            <a:r>
              <a:rPr lang="en-US" sz="1050">
                <a:solidFill>
                  <a:srgbClr val="1F2A26"/>
                </a:solidFill>
                <a:latin typeface="Calibri"/>
                <a:ea typeface="Calibri"/>
                <a:cs typeface="Calibri"/>
                <a:sym typeface="Calibri"/>
              </a:rPr>
              <a:t> </a:t>
            </a:r>
            <a:r>
              <a:rPr lang="en-US" sz="1050" err="1">
                <a:solidFill>
                  <a:srgbClr val="1F2A26"/>
                </a:solidFill>
                <a:latin typeface="Calibri"/>
                <a:ea typeface="Calibri"/>
                <a:cs typeface="Calibri"/>
                <a:sym typeface="Calibri"/>
              </a:rPr>
              <a:t>huérfanas</a:t>
            </a:r>
            <a:r>
              <a:rPr lang="en-US" sz="1050">
                <a:solidFill>
                  <a:srgbClr val="1F2A26"/>
                </a:solidFill>
                <a:latin typeface="Calibri"/>
                <a:ea typeface="Calibri"/>
                <a:cs typeface="Calibri"/>
                <a:sym typeface="Calibri"/>
              </a:rPr>
              <a:t> o </a:t>
            </a:r>
            <a:r>
              <a:rPr lang="en-US" sz="1050" err="1">
                <a:solidFill>
                  <a:srgbClr val="1F2A26"/>
                </a:solidFill>
                <a:latin typeface="Calibri"/>
                <a:ea typeface="Calibri"/>
                <a:cs typeface="Calibri"/>
                <a:sym typeface="Calibri"/>
              </a:rPr>
              <a:t>requerimientos</a:t>
            </a:r>
            <a:r>
              <a:rPr lang="en-US" sz="1050">
                <a:solidFill>
                  <a:srgbClr val="1F2A26"/>
                </a:solidFill>
                <a:latin typeface="Calibri"/>
                <a:ea typeface="Calibri"/>
                <a:cs typeface="Calibri"/>
                <a:sym typeface="Calibri"/>
              </a:rPr>
              <a:t> no </a:t>
            </a:r>
            <a:r>
              <a:rPr lang="en-US" sz="1050" err="1">
                <a:solidFill>
                  <a:srgbClr val="1F2A26"/>
                </a:solidFill>
                <a:latin typeface="Calibri"/>
                <a:ea typeface="Calibri"/>
                <a:cs typeface="Calibri"/>
                <a:sym typeface="Calibri"/>
              </a:rPr>
              <a:t>implementados</a:t>
            </a:r>
            <a:r>
              <a:rPr lang="en-US" sz="1050">
                <a:solidFill>
                  <a:srgbClr val="1F2A26"/>
                </a:solidFill>
                <a:latin typeface="Calibri"/>
                <a:ea typeface="Calibri"/>
                <a:cs typeface="Calibri"/>
                <a:sym typeface="Calibri"/>
              </a:rPr>
              <a:t>.</a:t>
            </a:r>
            <a:endParaRPr lang="en-US" sz="1050">
              <a:solidFill>
                <a:schemeClr val="dk1"/>
              </a:solidFill>
              <a:latin typeface="Calibri"/>
              <a:ea typeface="Calibri"/>
              <a:cs typeface="Calibri"/>
            </a:endParaRPr>
          </a:p>
        </p:txBody>
      </p:sp>
      <p:sp>
        <p:nvSpPr>
          <p:cNvPr id="673" name="Google Shape;673;p21"/>
          <p:cNvSpPr/>
          <p:nvPr/>
        </p:nvSpPr>
        <p:spPr>
          <a:xfrm>
            <a:off x="457200" y="6263640"/>
            <a:ext cx="11274552" cy="16459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7785"/>
              </a:buClr>
              <a:buSzPts val="900"/>
              <a:buFont typeface="Georgia"/>
              <a:buNone/>
            </a:pPr>
            <a:r>
              <a:rPr lang="en-US" sz="900" i="1">
                <a:solidFill>
                  <a:srgbClr val="6B7785"/>
                </a:solidFill>
                <a:latin typeface="Georgia"/>
                <a:ea typeface="Georgia"/>
                <a:cs typeface="Georgia"/>
                <a:sym typeface="Georgia"/>
              </a:rPr>
              <a:t>Matriz completa (UR-01 a UR-63 × CU-01 a CU-28) </a:t>
            </a:r>
            <a:r>
              <a:rPr lang="en-US" sz="900" i="1" err="1">
                <a:solidFill>
                  <a:srgbClr val="6B7785"/>
                </a:solidFill>
                <a:latin typeface="Georgia"/>
                <a:ea typeface="Georgia"/>
                <a:cs typeface="Georgia"/>
                <a:sym typeface="Georgia"/>
              </a:rPr>
              <a:t>en</a:t>
            </a:r>
            <a:r>
              <a:rPr lang="en-US" sz="900" i="1">
                <a:solidFill>
                  <a:srgbClr val="6B7785"/>
                </a:solidFill>
                <a:latin typeface="Georgia"/>
                <a:ea typeface="Georgia"/>
                <a:cs typeface="Georgia"/>
                <a:sym typeface="Georgia"/>
              </a:rPr>
              <a:t> la </a:t>
            </a:r>
            <a:r>
              <a:rPr lang="en-US" sz="900" i="1" err="1">
                <a:solidFill>
                  <a:srgbClr val="6B7785"/>
                </a:solidFill>
                <a:latin typeface="Georgia"/>
                <a:ea typeface="Georgia"/>
                <a:cs typeface="Georgia"/>
                <a:sym typeface="Georgia"/>
              </a:rPr>
              <a:t>Tabla</a:t>
            </a:r>
            <a:r>
              <a:rPr lang="en-US" sz="900" i="1">
                <a:solidFill>
                  <a:srgbClr val="6B7785"/>
                </a:solidFill>
                <a:latin typeface="Georgia"/>
                <a:ea typeface="Georgia"/>
                <a:cs typeface="Georgia"/>
                <a:sym typeface="Georgia"/>
              </a:rPr>
              <a:t> 9.4 del </a:t>
            </a:r>
            <a:r>
              <a:rPr lang="en-US" sz="900" i="1" err="1">
                <a:solidFill>
                  <a:srgbClr val="6B7785"/>
                </a:solidFill>
                <a:latin typeface="Georgia"/>
                <a:ea typeface="Georgia"/>
                <a:cs typeface="Georgia"/>
                <a:sym typeface="Georgia"/>
              </a:rPr>
              <a:t>informe</a:t>
            </a:r>
            <a:r>
              <a:rPr lang="en-US" sz="900" i="1">
                <a:solidFill>
                  <a:srgbClr val="6B7785"/>
                </a:solidFill>
                <a:latin typeface="Georgia"/>
                <a:ea typeface="Georgia"/>
                <a:cs typeface="Georgia"/>
                <a:sym typeface="Georgia"/>
              </a:rPr>
              <a:t>.</a:t>
            </a:r>
            <a:endParaRPr sz="900">
              <a:solidFill>
                <a:schemeClr val="dk1"/>
              </a:solidFill>
              <a:latin typeface="Calibri"/>
              <a:ea typeface="Calibri"/>
              <a:cs typeface="Calibri"/>
              <a:sym typeface="Calibri"/>
            </a:endParaRPr>
          </a:p>
        </p:txBody>
      </p:sp>
      <p:cxnSp>
        <p:nvCxnSpPr>
          <p:cNvPr id="674" name="Google Shape;674;p21"/>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675" name="Google Shape;675;p21"/>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676" name="Google Shape;676;p21"/>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21 / 28</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1"/>
        <p:cNvGrpSpPr/>
        <p:nvPr/>
      </p:nvGrpSpPr>
      <p:grpSpPr>
        <a:xfrm>
          <a:off x="0" y="0"/>
          <a:ext cx="0" cy="0"/>
          <a:chOff x="0" y="0"/>
          <a:chExt cx="0" cy="0"/>
        </a:xfrm>
      </p:grpSpPr>
      <p:sp>
        <p:nvSpPr>
          <p:cNvPr id="682" name="Google Shape;682;p22"/>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9. Objetivos del proyecto</a:t>
            </a:r>
            <a:endParaRPr sz="3400">
              <a:solidFill>
                <a:schemeClr val="dk1"/>
              </a:solidFill>
              <a:latin typeface="Calibri"/>
              <a:ea typeface="Calibri"/>
              <a:cs typeface="Calibri"/>
              <a:sym typeface="Calibri"/>
            </a:endParaRPr>
          </a:p>
        </p:txBody>
      </p:sp>
      <p:sp>
        <p:nvSpPr>
          <p:cNvPr id="683" name="Google Shape;683;p22"/>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Objetivo general y específicos</a:t>
            </a:r>
            <a:endParaRPr sz="1300">
              <a:solidFill>
                <a:schemeClr val="dk1"/>
              </a:solidFill>
              <a:latin typeface="Calibri"/>
              <a:ea typeface="Calibri"/>
              <a:cs typeface="Calibri"/>
              <a:sym typeface="Calibri"/>
            </a:endParaRPr>
          </a:p>
        </p:txBody>
      </p:sp>
      <p:sp>
        <p:nvSpPr>
          <p:cNvPr id="684" name="Google Shape;684;p22"/>
          <p:cNvSpPr/>
          <p:nvPr/>
        </p:nvSpPr>
        <p:spPr>
          <a:xfrm>
            <a:off x="457200" y="1783080"/>
            <a:ext cx="11274552" cy="160020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5" name="Google Shape;685;p22"/>
          <p:cNvSpPr/>
          <p:nvPr/>
        </p:nvSpPr>
        <p:spPr>
          <a:xfrm>
            <a:off x="777240" y="2103120"/>
            <a:ext cx="960120" cy="960120"/>
          </a:xfrm>
          <a:prstGeom prst="ellipse">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86" name="Google Shape;686;p22" descr="preencoded.png"/>
          <p:cNvPicPr preferRelativeResize="0"/>
          <p:nvPr/>
        </p:nvPicPr>
        <p:blipFill rotWithShape="1">
          <a:blip r:embed="rId3">
            <a:alphaModFix/>
          </a:blip>
          <a:srcRect/>
          <a:stretch/>
        </p:blipFill>
        <p:spPr>
          <a:xfrm>
            <a:off x="1005840" y="2331720"/>
            <a:ext cx="502920" cy="502920"/>
          </a:xfrm>
          <a:prstGeom prst="rect">
            <a:avLst/>
          </a:prstGeom>
          <a:noFill/>
          <a:ln>
            <a:noFill/>
          </a:ln>
        </p:spPr>
      </p:pic>
      <p:sp>
        <p:nvSpPr>
          <p:cNvPr id="687" name="Google Shape;687;p22"/>
          <p:cNvSpPr/>
          <p:nvPr/>
        </p:nvSpPr>
        <p:spPr>
          <a:xfrm>
            <a:off x="1965960" y="1965960"/>
            <a:ext cx="82296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200"/>
              <a:buFont typeface="Calibri"/>
              <a:buNone/>
            </a:pPr>
            <a:r>
              <a:rPr lang="en-US" sz="1200" b="1">
                <a:solidFill>
                  <a:srgbClr val="E8963C"/>
                </a:solidFill>
                <a:latin typeface="Calibri"/>
                <a:ea typeface="Calibri"/>
                <a:cs typeface="Calibri"/>
                <a:sym typeface="Calibri"/>
              </a:rPr>
              <a:t>OBJETIVO GENERAL</a:t>
            </a:r>
            <a:endParaRPr sz="1200">
              <a:solidFill>
                <a:schemeClr val="dk1"/>
              </a:solidFill>
              <a:latin typeface="Calibri"/>
              <a:ea typeface="Calibri"/>
              <a:cs typeface="Calibri"/>
              <a:sym typeface="Calibri"/>
            </a:endParaRPr>
          </a:p>
        </p:txBody>
      </p:sp>
      <p:sp>
        <p:nvSpPr>
          <p:cNvPr id="688" name="Google Shape;688;p22"/>
          <p:cNvSpPr/>
          <p:nvPr/>
        </p:nvSpPr>
        <p:spPr>
          <a:xfrm>
            <a:off x="1965960" y="2286000"/>
            <a:ext cx="9418320" cy="10058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Desarrollar un sistema de gestión de inventario y facturas para automatizar el control de stock, digitalizar el procesamiento de facturas de proveedores y mejorar la trazabilidad de los movimientos en el Minimarket Antucayen.</a:t>
            </a:r>
            <a:endParaRPr sz="1300">
              <a:solidFill>
                <a:schemeClr val="dk1"/>
              </a:solidFill>
              <a:latin typeface="Calibri"/>
              <a:ea typeface="Calibri"/>
              <a:cs typeface="Calibri"/>
              <a:sym typeface="Calibri"/>
            </a:endParaRPr>
          </a:p>
        </p:txBody>
      </p:sp>
      <p:sp>
        <p:nvSpPr>
          <p:cNvPr id="689" name="Google Shape;689;p22"/>
          <p:cNvSpPr/>
          <p:nvPr/>
        </p:nvSpPr>
        <p:spPr>
          <a:xfrm>
            <a:off x="457200" y="3566160"/>
            <a:ext cx="5486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200"/>
              <a:buFont typeface="Calibri"/>
              <a:buNone/>
            </a:pPr>
            <a:r>
              <a:rPr lang="en-US" sz="1200" b="1">
                <a:solidFill>
                  <a:srgbClr val="2D6A4F"/>
                </a:solidFill>
                <a:latin typeface="Calibri"/>
                <a:ea typeface="Calibri"/>
                <a:cs typeface="Calibri"/>
                <a:sym typeface="Calibri"/>
              </a:rPr>
              <a:t>OBJETIVOS ESPECÍFICOS</a:t>
            </a:r>
            <a:endParaRPr sz="1200">
              <a:solidFill>
                <a:schemeClr val="dk1"/>
              </a:solidFill>
              <a:latin typeface="Calibri"/>
              <a:ea typeface="Calibri"/>
              <a:cs typeface="Calibri"/>
              <a:sym typeface="Calibri"/>
            </a:endParaRPr>
          </a:p>
        </p:txBody>
      </p:sp>
      <p:sp>
        <p:nvSpPr>
          <p:cNvPr id="690" name="Google Shape;690;p22"/>
          <p:cNvSpPr/>
          <p:nvPr/>
        </p:nvSpPr>
        <p:spPr>
          <a:xfrm>
            <a:off x="457200" y="4023360"/>
            <a:ext cx="5486400" cy="1005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1" name="Google Shape;691;p22"/>
          <p:cNvSpPr/>
          <p:nvPr/>
        </p:nvSpPr>
        <p:spPr>
          <a:xfrm>
            <a:off x="640080" y="4251960"/>
            <a:ext cx="594360" cy="59436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2" name="Google Shape;692;p22"/>
          <p:cNvSpPr/>
          <p:nvPr/>
        </p:nvSpPr>
        <p:spPr>
          <a:xfrm>
            <a:off x="640080" y="4251960"/>
            <a:ext cx="5943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693" name="Google Shape;693;p22"/>
          <p:cNvSpPr/>
          <p:nvPr/>
        </p:nvSpPr>
        <p:spPr>
          <a:xfrm>
            <a:off x="1371600" y="4133088"/>
            <a:ext cx="4480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Analizar el contexto organizacional y los procesos actuales del Minimarket Antucayen, para identificar las problemáticas clave en la gestión de inventario y facturas.</a:t>
            </a:r>
            <a:endParaRPr sz="1050">
              <a:solidFill>
                <a:schemeClr val="dk1"/>
              </a:solidFill>
              <a:latin typeface="Calibri"/>
              <a:ea typeface="Calibri"/>
              <a:cs typeface="Calibri"/>
              <a:sym typeface="Calibri"/>
            </a:endParaRPr>
          </a:p>
        </p:txBody>
      </p:sp>
      <p:sp>
        <p:nvSpPr>
          <p:cNvPr id="694" name="Google Shape;694;p22"/>
          <p:cNvSpPr/>
          <p:nvPr/>
        </p:nvSpPr>
        <p:spPr>
          <a:xfrm>
            <a:off x="6108192" y="4023360"/>
            <a:ext cx="5486400" cy="1005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5" name="Google Shape;695;p22"/>
          <p:cNvSpPr/>
          <p:nvPr/>
        </p:nvSpPr>
        <p:spPr>
          <a:xfrm>
            <a:off x="6291072" y="4251960"/>
            <a:ext cx="594360" cy="59436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6" name="Google Shape;696;p22"/>
          <p:cNvSpPr/>
          <p:nvPr/>
        </p:nvSpPr>
        <p:spPr>
          <a:xfrm>
            <a:off x="6291072" y="4251960"/>
            <a:ext cx="5943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697" name="Google Shape;697;p22"/>
          <p:cNvSpPr/>
          <p:nvPr/>
        </p:nvSpPr>
        <p:spPr>
          <a:xfrm>
            <a:off x="7022592" y="4133088"/>
            <a:ext cx="4480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Especificar los requerimientos funcionales en estándar ESA (UR) y no funcionales del sistema, para establecer las especificaciones técnicas que debe cumplir la solución.</a:t>
            </a:r>
            <a:endParaRPr sz="1050">
              <a:solidFill>
                <a:schemeClr val="dk1"/>
              </a:solidFill>
              <a:latin typeface="Calibri"/>
              <a:ea typeface="Calibri"/>
              <a:cs typeface="Calibri"/>
              <a:sym typeface="Calibri"/>
            </a:endParaRPr>
          </a:p>
        </p:txBody>
      </p:sp>
      <p:sp>
        <p:nvSpPr>
          <p:cNvPr id="698" name="Google Shape;698;p22"/>
          <p:cNvSpPr/>
          <p:nvPr/>
        </p:nvSpPr>
        <p:spPr>
          <a:xfrm>
            <a:off x="457200" y="5120640"/>
            <a:ext cx="5486400" cy="1005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9" name="Google Shape;699;p22"/>
          <p:cNvSpPr/>
          <p:nvPr/>
        </p:nvSpPr>
        <p:spPr>
          <a:xfrm>
            <a:off x="640080" y="5349240"/>
            <a:ext cx="594360" cy="59436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0" name="Google Shape;700;p22"/>
          <p:cNvSpPr/>
          <p:nvPr/>
        </p:nvSpPr>
        <p:spPr>
          <a:xfrm>
            <a:off x="640080" y="5349240"/>
            <a:ext cx="5943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701" name="Google Shape;701;p22"/>
          <p:cNvSpPr/>
          <p:nvPr/>
        </p:nvSpPr>
        <p:spPr>
          <a:xfrm>
            <a:off x="1371600" y="5230368"/>
            <a:ext cx="4480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Modelar los casos de uso extendidos y la matriz de trazabilidad requerimientos–casos de uso, para estructurar las funcionalidades del sistema de manera coherente.</a:t>
            </a:r>
            <a:endParaRPr sz="1050">
              <a:solidFill>
                <a:schemeClr val="dk1"/>
              </a:solidFill>
              <a:latin typeface="Calibri"/>
              <a:ea typeface="Calibri"/>
              <a:cs typeface="Calibri"/>
              <a:sym typeface="Calibri"/>
            </a:endParaRPr>
          </a:p>
        </p:txBody>
      </p:sp>
      <p:sp>
        <p:nvSpPr>
          <p:cNvPr id="702" name="Google Shape;702;p22"/>
          <p:cNvSpPr/>
          <p:nvPr/>
        </p:nvSpPr>
        <p:spPr>
          <a:xfrm>
            <a:off x="6108192" y="5120640"/>
            <a:ext cx="5486400" cy="100584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3" name="Google Shape;703;p22"/>
          <p:cNvSpPr/>
          <p:nvPr/>
        </p:nvSpPr>
        <p:spPr>
          <a:xfrm>
            <a:off x="6291072" y="5349240"/>
            <a:ext cx="594360" cy="59436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4" name="Google Shape;704;p22"/>
          <p:cNvSpPr/>
          <p:nvPr/>
        </p:nvSpPr>
        <p:spPr>
          <a:xfrm>
            <a:off x="6291072" y="5349240"/>
            <a:ext cx="59436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800"/>
              <a:buFont typeface="Calibri"/>
              <a:buNone/>
            </a:pPr>
            <a:r>
              <a:rPr lang="en-US" sz="1800" b="1">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705" name="Google Shape;705;p22"/>
          <p:cNvSpPr/>
          <p:nvPr/>
        </p:nvSpPr>
        <p:spPr>
          <a:xfrm>
            <a:off x="7022592" y="5230368"/>
            <a:ext cx="4480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050"/>
              <a:buFont typeface="Calibri"/>
              <a:buNone/>
            </a:pPr>
            <a:r>
              <a:rPr lang="en-US" sz="1050">
                <a:solidFill>
                  <a:srgbClr val="1F2A26"/>
                </a:solidFill>
                <a:latin typeface="Calibri"/>
                <a:ea typeface="Calibri"/>
                <a:cs typeface="Calibri"/>
                <a:sym typeface="Calibri"/>
              </a:rPr>
              <a:t>Diseñar la arquitectura cliente-servidor y el modelo de base de datos relacional, para garantizar la escalabilidad, integridad y persistencia de la información.</a:t>
            </a:r>
            <a:endParaRPr sz="1050">
              <a:solidFill>
                <a:schemeClr val="dk1"/>
              </a:solidFill>
              <a:latin typeface="Calibri"/>
              <a:ea typeface="Calibri"/>
              <a:cs typeface="Calibri"/>
              <a:sym typeface="Calibri"/>
            </a:endParaRPr>
          </a:p>
        </p:txBody>
      </p:sp>
      <p:cxnSp>
        <p:nvCxnSpPr>
          <p:cNvPr id="706" name="Google Shape;706;p22"/>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707" name="Google Shape;707;p22"/>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708" name="Google Shape;708;p22"/>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22 / 28</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3"/>
        <p:cNvGrpSpPr/>
        <p:nvPr/>
      </p:nvGrpSpPr>
      <p:grpSpPr>
        <a:xfrm>
          <a:off x="0" y="0"/>
          <a:ext cx="0" cy="0"/>
          <a:chOff x="0" y="0"/>
          <a:chExt cx="0" cy="0"/>
        </a:xfrm>
      </p:grpSpPr>
      <p:sp>
        <p:nvSpPr>
          <p:cNvPr id="714" name="Google Shape;714;p23"/>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9. Objetivos del proyecto (cont.)</a:t>
            </a:r>
            <a:endParaRPr sz="3400">
              <a:solidFill>
                <a:schemeClr val="dk1"/>
              </a:solidFill>
              <a:latin typeface="Calibri"/>
              <a:ea typeface="Calibri"/>
              <a:cs typeface="Calibri"/>
              <a:sym typeface="Calibri"/>
            </a:endParaRPr>
          </a:p>
        </p:txBody>
      </p:sp>
      <p:sp>
        <p:nvSpPr>
          <p:cNvPr id="715" name="Google Shape;715;p23"/>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Objetivos específicos 5 - 7</a:t>
            </a:r>
            <a:endParaRPr sz="1300">
              <a:solidFill>
                <a:schemeClr val="dk1"/>
              </a:solidFill>
              <a:latin typeface="Calibri"/>
              <a:ea typeface="Calibri"/>
              <a:cs typeface="Calibri"/>
              <a:sym typeface="Calibri"/>
            </a:endParaRPr>
          </a:p>
        </p:txBody>
      </p:sp>
      <p:sp>
        <p:nvSpPr>
          <p:cNvPr id="716" name="Google Shape;716;p23"/>
          <p:cNvSpPr/>
          <p:nvPr/>
        </p:nvSpPr>
        <p:spPr>
          <a:xfrm>
            <a:off x="457200" y="1920240"/>
            <a:ext cx="11274552" cy="12801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7" name="Google Shape;717;p23"/>
          <p:cNvSpPr/>
          <p:nvPr/>
        </p:nvSpPr>
        <p:spPr>
          <a:xfrm>
            <a:off x="457200" y="1920240"/>
            <a:ext cx="91440" cy="12801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8" name="Google Shape;718;p23"/>
          <p:cNvSpPr/>
          <p:nvPr/>
        </p:nvSpPr>
        <p:spPr>
          <a:xfrm>
            <a:off x="777240" y="2240280"/>
            <a:ext cx="685800" cy="68580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9" name="Google Shape;719;p23"/>
          <p:cNvSpPr/>
          <p:nvPr/>
        </p:nvSpPr>
        <p:spPr>
          <a:xfrm>
            <a:off x="777240" y="2240280"/>
            <a:ext cx="685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5</a:t>
            </a:r>
            <a:endParaRPr sz="2200">
              <a:solidFill>
                <a:schemeClr val="dk1"/>
              </a:solidFill>
              <a:latin typeface="Calibri"/>
              <a:ea typeface="Calibri"/>
              <a:cs typeface="Calibri"/>
              <a:sym typeface="Calibri"/>
            </a:endParaRPr>
          </a:p>
        </p:txBody>
      </p:sp>
      <p:sp>
        <p:nvSpPr>
          <p:cNvPr id="720" name="Google Shape;720;p23"/>
          <p:cNvSpPr/>
          <p:nvPr/>
        </p:nvSpPr>
        <p:spPr>
          <a:xfrm>
            <a:off x="1691640" y="2148840"/>
            <a:ext cx="98755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a:solidFill>
                  <a:srgbClr val="1F2A26"/>
                </a:solidFill>
                <a:latin typeface="Calibri"/>
                <a:ea typeface="Calibri"/>
                <a:cs typeface="Calibri"/>
                <a:sym typeface="Calibri"/>
              </a:rPr>
              <a:t>Desarrollar los módulos de gestión de productos, proveedores, procesamiento de facturas y ajustes de inventario, para automatizar los procesos operativos del minimarket.</a:t>
            </a:r>
            <a:endParaRPr sz="1300">
              <a:solidFill>
                <a:schemeClr val="dk1"/>
              </a:solidFill>
              <a:latin typeface="Calibri"/>
              <a:ea typeface="Calibri"/>
              <a:cs typeface="Calibri"/>
              <a:sym typeface="Calibri"/>
            </a:endParaRPr>
          </a:p>
        </p:txBody>
      </p:sp>
      <p:sp>
        <p:nvSpPr>
          <p:cNvPr id="721" name="Google Shape;721;p23"/>
          <p:cNvSpPr/>
          <p:nvPr/>
        </p:nvSpPr>
        <p:spPr>
          <a:xfrm>
            <a:off x="457200" y="3383280"/>
            <a:ext cx="11274552" cy="12801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23"/>
          <p:cNvSpPr/>
          <p:nvPr/>
        </p:nvSpPr>
        <p:spPr>
          <a:xfrm>
            <a:off x="457200" y="3383280"/>
            <a:ext cx="91440" cy="12801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3" name="Google Shape;723;p23"/>
          <p:cNvSpPr/>
          <p:nvPr/>
        </p:nvSpPr>
        <p:spPr>
          <a:xfrm>
            <a:off x="777240" y="3703320"/>
            <a:ext cx="685800" cy="68580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4" name="Google Shape;724;p23"/>
          <p:cNvSpPr/>
          <p:nvPr/>
        </p:nvSpPr>
        <p:spPr>
          <a:xfrm>
            <a:off x="777240" y="3703320"/>
            <a:ext cx="685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6</a:t>
            </a:r>
            <a:endParaRPr sz="2200">
              <a:solidFill>
                <a:schemeClr val="dk1"/>
              </a:solidFill>
              <a:latin typeface="Calibri"/>
              <a:ea typeface="Calibri"/>
              <a:cs typeface="Calibri"/>
              <a:sym typeface="Calibri"/>
            </a:endParaRPr>
          </a:p>
        </p:txBody>
      </p:sp>
      <p:sp>
        <p:nvSpPr>
          <p:cNvPr id="725" name="Google Shape;725;p23"/>
          <p:cNvSpPr/>
          <p:nvPr/>
        </p:nvSpPr>
        <p:spPr>
          <a:xfrm>
            <a:off x="1691640" y="3611880"/>
            <a:ext cx="98755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a:solidFill>
                  <a:srgbClr val="1F2A26"/>
                </a:solidFill>
                <a:latin typeface="Calibri"/>
                <a:ea typeface="Calibri"/>
                <a:cs typeface="Calibri"/>
                <a:sym typeface="Calibri"/>
              </a:rPr>
              <a:t>Validar el sistema mediante pruebas unitarias y funcionales sobre cada incremento, para asegurar su correcto funcionamiento antes del despliegue en producción.</a:t>
            </a:r>
            <a:endParaRPr sz="1300">
              <a:solidFill>
                <a:schemeClr val="dk1"/>
              </a:solidFill>
              <a:latin typeface="Calibri"/>
              <a:ea typeface="Calibri"/>
              <a:cs typeface="Calibri"/>
              <a:sym typeface="Calibri"/>
            </a:endParaRPr>
          </a:p>
        </p:txBody>
      </p:sp>
      <p:sp>
        <p:nvSpPr>
          <p:cNvPr id="726" name="Google Shape;726;p23"/>
          <p:cNvSpPr/>
          <p:nvPr/>
        </p:nvSpPr>
        <p:spPr>
          <a:xfrm>
            <a:off x="457200" y="4846320"/>
            <a:ext cx="11274552" cy="1280160"/>
          </a:xfrm>
          <a:prstGeom prst="rect">
            <a:avLst/>
          </a:prstGeom>
          <a:solidFill>
            <a:srgbClr val="FFFFFF"/>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7" name="Google Shape;727;p23"/>
          <p:cNvSpPr/>
          <p:nvPr/>
        </p:nvSpPr>
        <p:spPr>
          <a:xfrm>
            <a:off x="457200" y="4846320"/>
            <a:ext cx="91440" cy="128016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8" name="Google Shape;728;p23"/>
          <p:cNvSpPr/>
          <p:nvPr/>
        </p:nvSpPr>
        <p:spPr>
          <a:xfrm>
            <a:off x="777240" y="5166360"/>
            <a:ext cx="685800" cy="685800"/>
          </a:xfrm>
          <a:prstGeom prst="ellipse">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9" name="Google Shape;729;p23"/>
          <p:cNvSpPr/>
          <p:nvPr/>
        </p:nvSpPr>
        <p:spPr>
          <a:xfrm>
            <a:off x="777240" y="5166360"/>
            <a:ext cx="685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7</a:t>
            </a:r>
            <a:endParaRPr sz="2200">
              <a:solidFill>
                <a:schemeClr val="dk1"/>
              </a:solidFill>
              <a:latin typeface="Calibri"/>
              <a:ea typeface="Calibri"/>
              <a:cs typeface="Calibri"/>
              <a:sym typeface="Calibri"/>
            </a:endParaRPr>
          </a:p>
        </p:txBody>
      </p:sp>
      <p:sp>
        <p:nvSpPr>
          <p:cNvPr id="730" name="Google Shape;730;p23"/>
          <p:cNvSpPr/>
          <p:nvPr/>
        </p:nvSpPr>
        <p:spPr>
          <a:xfrm>
            <a:off x="1691640" y="5074920"/>
            <a:ext cx="98755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a:solidFill>
                  <a:srgbClr val="1F2A26"/>
                </a:solidFill>
                <a:latin typeface="Calibri"/>
                <a:ea typeface="Calibri"/>
                <a:cs typeface="Calibri"/>
                <a:sym typeface="Calibri"/>
              </a:rPr>
              <a:t>Instalar el sistema en el ambiente productivo del Minimarket Antucayen e integrar los módulos desarrollados con la base de datos, para garantizar la operación continua y el correcto flujo de información.</a:t>
            </a:r>
            <a:endParaRPr sz="1300">
              <a:solidFill>
                <a:schemeClr val="dk1"/>
              </a:solidFill>
              <a:latin typeface="Calibri"/>
              <a:ea typeface="Calibri"/>
              <a:cs typeface="Calibri"/>
              <a:sym typeface="Calibri"/>
            </a:endParaRPr>
          </a:p>
        </p:txBody>
      </p:sp>
      <p:cxnSp>
        <p:nvCxnSpPr>
          <p:cNvPr id="731" name="Google Shape;731;p23"/>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732" name="Google Shape;732;p23"/>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733" name="Google Shape;733;p23"/>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23 / 28</a:t>
            </a:r>
            <a:endParaRPr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38"/>
        <p:cNvGrpSpPr/>
        <p:nvPr/>
      </p:nvGrpSpPr>
      <p:grpSpPr>
        <a:xfrm>
          <a:off x="0" y="0"/>
          <a:ext cx="0" cy="0"/>
          <a:chOff x="0" y="0"/>
          <a:chExt cx="0" cy="0"/>
        </a:xfrm>
      </p:grpSpPr>
      <p:sp>
        <p:nvSpPr>
          <p:cNvPr id="739" name="Google Shape;739;p24"/>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9.3 Dimensión técnica</a:t>
            </a:r>
            <a:endParaRPr sz="3400">
              <a:solidFill>
                <a:schemeClr val="dk1"/>
              </a:solidFill>
              <a:latin typeface="Calibri"/>
              <a:ea typeface="Calibri"/>
              <a:cs typeface="Calibri"/>
              <a:sym typeface="Calibri"/>
            </a:endParaRPr>
          </a:p>
        </p:txBody>
      </p:sp>
      <p:sp>
        <p:nvSpPr>
          <p:cNvPr id="740" name="Google Shape;740;p24"/>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Arquitectura cliente-servidor en 3 capas</a:t>
            </a:r>
            <a:endParaRPr sz="1300">
              <a:solidFill>
                <a:schemeClr val="dk1"/>
              </a:solidFill>
              <a:latin typeface="Calibri"/>
              <a:ea typeface="Calibri"/>
              <a:cs typeface="Calibri"/>
              <a:sym typeface="Calibri"/>
            </a:endParaRPr>
          </a:p>
        </p:txBody>
      </p:sp>
      <p:sp>
        <p:nvSpPr>
          <p:cNvPr id="741" name="Google Shape;741;p24"/>
          <p:cNvSpPr/>
          <p:nvPr/>
        </p:nvSpPr>
        <p:spPr>
          <a:xfrm>
            <a:off x="457200" y="1783080"/>
            <a:ext cx="7589520" cy="12344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2" name="Google Shape;742;p24"/>
          <p:cNvSpPr/>
          <p:nvPr/>
        </p:nvSpPr>
        <p:spPr>
          <a:xfrm>
            <a:off x="685800" y="2057400"/>
            <a:ext cx="685800" cy="685800"/>
          </a:xfrm>
          <a:prstGeom prst="ellipse">
            <a:avLst/>
          </a:prstGeom>
          <a:solidFill>
            <a:srgbClr val="FFFFFF">
              <a:alpha val="2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43" name="Google Shape;743;p24" descr="preencoded.png"/>
          <p:cNvPicPr preferRelativeResize="0"/>
          <p:nvPr/>
        </p:nvPicPr>
        <p:blipFill rotWithShape="1">
          <a:blip r:embed="rId3">
            <a:alphaModFix/>
          </a:blip>
          <a:srcRect/>
          <a:stretch/>
        </p:blipFill>
        <p:spPr>
          <a:xfrm>
            <a:off x="841248" y="2212848"/>
            <a:ext cx="365760" cy="365760"/>
          </a:xfrm>
          <a:prstGeom prst="rect">
            <a:avLst/>
          </a:prstGeom>
          <a:noFill/>
          <a:ln>
            <a:noFill/>
          </a:ln>
        </p:spPr>
      </p:pic>
      <p:sp>
        <p:nvSpPr>
          <p:cNvPr id="744" name="Google Shape;744;p24"/>
          <p:cNvSpPr/>
          <p:nvPr/>
        </p:nvSpPr>
        <p:spPr>
          <a:xfrm>
            <a:off x="1554480" y="1920240"/>
            <a:ext cx="4572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Georgia"/>
              <a:buNone/>
            </a:pPr>
            <a:r>
              <a:rPr lang="en-US" sz="1600" b="1">
                <a:solidFill>
                  <a:srgbClr val="FFFFFF"/>
                </a:solidFill>
                <a:latin typeface="Georgia"/>
                <a:ea typeface="Georgia"/>
                <a:cs typeface="Georgia"/>
                <a:sym typeface="Georgia"/>
              </a:rPr>
              <a:t>Capa de Presentación</a:t>
            </a:r>
            <a:endParaRPr sz="1600">
              <a:solidFill>
                <a:schemeClr val="dk1"/>
              </a:solidFill>
              <a:latin typeface="Calibri"/>
              <a:ea typeface="Calibri"/>
              <a:cs typeface="Calibri"/>
              <a:sym typeface="Calibri"/>
            </a:endParaRPr>
          </a:p>
        </p:txBody>
      </p:sp>
      <p:sp>
        <p:nvSpPr>
          <p:cNvPr id="745" name="Google Shape;745;p24"/>
          <p:cNvSpPr/>
          <p:nvPr/>
        </p:nvSpPr>
        <p:spPr>
          <a:xfrm>
            <a:off x="5943600" y="1920240"/>
            <a:ext cx="2011680" cy="365760"/>
          </a:xfrm>
          <a:prstGeom prst="rect">
            <a:avLst/>
          </a:prstGeom>
          <a:noFill/>
          <a:ln>
            <a:noFill/>
          </a:ln>
        </p:spPr>
        <p:txBody>
          <a:bodyPr spcFirstLastPara="1" wrap="square" lIns="0" tIns="0" rIns="0" bIns="0" anchor="ctr" anchorCtr="0">
            <a:noAutofit/>
          </a:bodyPr>
          <a:lstStyle/>
          <a:p>
            <a:pPr marL="0" marR="0" lvl="0" indent="0" algn="r">
              <a:spcBef>
                <a:spcPts val="0"/>
              </a:spcBef>
              <a:spcAft>
                <a:spcPts val="0"/>
              </a:spcAft>
              <a:buNone/>
            </a:pPr>
            <a:r>
              <a:rPr lang="en-US" sz="1200" i="1">
                <a:solidFill>
                  <a:srgbClr val="E8963C"/>
                </a:solidFill>
                <a:latin typeface="Calibri"/>
                <a:ea typeface="Calibri"/>
                <a:cs typeface="Calibri"/>
                <a:sym typeface="Calibri"/>
              </a:rPr>
              <a:t>Vista</a:t>
            </a:r>
            <a:endParaRPr lang="es-ES"/>
          </a:p>
        </p:txBody>
      </p:sp>
      <p:sp>
        <p:nvSpPr>
          <p:cNvPr id="746" name="Google Shape;746;p24"/>
          <p:cNvSpPr/>
          <p:nvPr/>
        </p:nvSpPr>
        <p:spPr>
          <a:xfrm>
            <a:off x="1554480" y="2286000"/>
            <a:ext cx="6309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onsolas"/>
              <a:buNone/>
            </a:pPr>
            <a:r>
              <a:rPr lang="en-US" sz="1250" b="1">
                <a:solidFill>
                  <a:srgbClr val="FFFFFF"/>
                </a:solidFill>
                <a:latin typeface="Consolas"/>
                <a:ea typeface="Consolas"/>
                <a:cs typeface="Consolas"/>
                <a:sym typeface="Consolas"/>
              </a:rPr>
              <a:t>Java Swing  •  JavaScript</a:t>
            </a:r>
            <a:endParaRPr sz="1250">
              <a:solidFill>
                <a:schemeClr val="dk1"/>
              </a:solidFill>
              <a:latin typeface="Calibri"/>
              <a:ea typeface="Calibri"/>
              <a:cs typeface="Calibri"/>
              <a:sym typeface="Calibri"/>
            </a:endParaRPr>
          </a:p>
        </p:txBody>
      </p:sp>
      <p:sp>
        <p:nvSpPr>
          <p:cNvPr id="747" name="Google Shape;747;p24"/>
          <p:cNvSpPr/>
          <p:nvPr/>
        </p:nvSpPr>
        <p:spPr>
          <a:xfrm>
            <a:off x="1554480" y="2651760"/>
            <a:ext cx="6309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6E2DC"/>
              </a:buClr>
              <a:buSzPts val="1100"/>
              <a:buFont typeface="Georgia"/>
              <a:buNone/>
            </a:pPr>
            <a:r>
              <a:rPr lang="en-US" sz="1100" i="1">
                <a:solidFill>
                  <a:srgbClr val="D6E2DC"/>
                </a:solidFill>
                <a:latin typeface="Georgia"/>
                <a:ea typeface="Georgia"/>
                <a:cs typeface="Georgia"/>
                <a:sym typeface="Georgia"/>
              </a:rPr>
              <a:t>Interfaz gráfica intuitiva para registro, consulta y gestión</a:t>
            </a:r>
            <a:endParaRPr sz="1100">
              <a:solidFill>
                <a:schemeClr val="dk1"/>
              </a:solidFill>
              <a:latin typeface="Calibri"/>
              <a:ea typeface="Calibri"/>
              <a:cs typeface="Calibri"/>
              <a:sym typeface="Calibri"/>
            </a:endParaRPr>
          </a:p>
        </p:txBody>
      </p:sp>
      <p:sp>
        <p:nvSpPr>
          <p:cNvPr id="748" name="Google Shape;748;p24"/>
          <p:cNvSpPr/>
          <p:nvPr/>
        </p:nvSpPr>
        <p:spPr>
          <a:xfrm>
            <a:off x="457200" y="3200400"/>
            <a:ext cx="7589520" cy="123444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9" name="Google Shape;749;p24"/>
          <p:cNvSpPr/>
          <p:nvPr/>
        </p:nvSpPr>
        <p:spPr>
          <a:xfrm>
            <a:off x="685800" y="3474720"/>
            <a:ext cx="685800" cy="685800"/>
          </a:xfrm>
          <a:prstGeom prst="ellipse">
            <a:avLst/>
          </a:prstGeom>
          <a:solidFill>
            <a:srgbClr val="FFFFFF">
              <a:alpha val="2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50" name="Google Shape;750;p24" descr="preencoded.png"/>
          <p:cNvPicPr preferRelativeResize="0"/>
          <p:nvPr/>
        </p:nvPicPr>
        <p:blipFill rotWithShape="1">
          <a:blip r:embed="rId4">
            <a:alphaModFix/>
          </a:blip>
          <a:srcRect/>
          <a:stretch/>
        </p:blipFill>
        <p:spPr>
          <a:xfrm>
            <a:off x="841248" y="3630168"/>
            <a:ext cx="365760" cy="365760"/>
          </a:xfrm>
          <a:prstGeom prst="rect">
            <a:avLst/>
          </a:prstGeom>
          <a:noFill/>
          <a:ln>
            <a:noFill/>
          </a:ln>
        </p:spPr>
      </p:pic>
      <p:sp>
        <p:nvSpPr>
          <p:cNvPr id="751" name="Google Shape;751;p24"/>
          <p:cNvSpPr/>
          <p:nvPr/>
        </p:nvSpPr>
        <p:spPr>
          <a:xfrm>
            <a:off x="1554480" y="3337560"/>
            <a:ext cx="4572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Georgia"/>
              <a:buNone/>
            </a:pPr>
            <a:r>
              <a:rPr lang="en-US" sz="1600" b="1">
                <a:solidFill>
                  <a:srgbClr val="FFFFFF"/>
                </a:solidFill>
                <a:latin typeface="Georgia"/>
                <a:ea typeface="Georgia"/>
                <a:cs typeface="Georgia"/>
                <a:sym typeface="Georgia"/>
              </a:rPr>
              <a:t>Capa de Lógica de Negocio</a:t>
            </a:r>
            <a:endParaRPr sz="1600">
              <a:solidFill>
                <a:schemeClr val="dk1"/>
              </a:solidFill>
              <a:latin typeface="Calibri"/>
              <a:ea typeface="Calibri"/>
              <a:cs typeface="Calibri"/>
              <a:sym typeface="Calibri"/>
            </a:endParaRPr>
          </a:p>
        </p:txBody>
      </p:sp>
      <p:sp>
        <p:nvSpPr>
          <p:cNvPr id="752" name="Google Shape;752;p24"/>
          <p:cNvSpPr/>
          <p:nvPr/>
        </p:nvSpPr>
        <p:spPr>
          <a:xfrm>
            <a:off x="5943600" y="3337560"/>
            <a:ext cx="2011680" cy="365760"/>
          </a:xfrm>
          <a:prstGeom prst="rect">
            <a:avLst/>
          </a:prstGeom>
          <a:noFill/>
          <a:ln>
            <a:noFill/>
          </a:ln>
        </p:spPr>
        <p:txBody>
          <a:bodyPr spcFirstLastPara="1" wrap="square" lIns="0" tIns="0" rIns="0" bIns="0" anchor="ctr" anchorCtr="0">
            <a:noAutofit/>
          </a:bodyPr>
          <a:lstStyle/>
          <a:p>
            <a:pPr marL="0" marR="0" lvl="0" indent="0" algn="r">
              <a:spcBef>
                <a:spcPts val="0"/>
              </a:spcBef>
              <a:spcAft>
                <a:spcPts val="0"/>
              </a:spcAft>
              <a:buNone/>
            </a:pPr>
            <a:r>
              <a:rPr lang="en-US" sz="1200" i="1" err="1">
                <a:solidFill>
                  <a:srgbClr val="E8963C"/>
                </a:solidFill>
                <a:latin typeface="Calibri"/>
                <a:ea typeface="Calibri"/>
                <a:cs typeface="Calibri"/>
              </a:rPr>
              <a:t>Controlador</a:t>
            </a:r>
          </a:p>
        </p:txBody>
      </p:sp>
      <p:sp>
        <p:nvSpPr>
          <p:cNvPr id="753" name="Google Shape;753;p24"/>
          <p:cNvSpPr/>
          <p:nvPr/>
        </p:nvSpPr>
        <p:spPr>
          <a:xfrm>
            <a:off x="1554480" y="3703320"/>
            <a:ext cx="6309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50"/>
              <a:buFont typeface="Consolas"/>
              <a:buNone/>
            </a:pPr>
            <a:r>
              <a:rPr lang="en-US" sz="1250" b="1">
                <a:solidFill>
                  <a:srgbClr val="FFFFFF"/>
                </a:solidFill>
                <a:latin typeface="Consolas"/>
                <a:ea typeface="Consolas"/>
                <a:cs typeface="Consolas"/>
                <a:sym typeface="Consolas"/>
              </a:rPr>
              <a:t>Spring Boot  •  Rest</a:t>
            </a:r>
            <a:endParaRPr sz="1250">
              <a:solidFill>
                <a:schemeClr val="dk1"/>
              </a:solidFill>
              <a:latin typeface="Calibri"/>
              <a:ea typeface="Calibri"/>
              <a:cs typeface="Calibri"/>
              <a:sym typeface="Calibri"/>
            </a:endParaRPr>
          </a:p>
        </p:txBody>
      </p:sp>
      <p:sp>
        <p:nvSpPr>
          <p:cNvPr id="754" name="Google Shape;754;p24"/>
          <p:cNvSpPr/>
          <p:nvPr/>
        </p:nvSpPr>
        <p:spPr>
          <a:xfrm>
            <a:off x="1554480" y="4069080"/>
            <a:ext cx="6309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6E2DC"/>
              </a:buClr>
              <a:buSzPts val="1100"/>
              <a:buFont typeface="Georgia"/>
              <a:buNone/>
            </a:pPr>
            <a:r>
              <a:rPr lang="en-US" sz="1100" i="1">
                <a:solidFill>
                  <a:srgbClr val="D6E2DC"/>
                </a:solidFill>
                <a:latin typeface="Georgia"/>
                <a:ea typeface="Georgia"/>
                <a:cs typeface="Georgia"/>
                <a:sym typeface="Georgia"/>
              </a:rPr>
              <a:t>Validaciones, alertas, procesamiento de facturas y control de usuarios</a:t>
            </a:r>
            <a:endParaRPr sz="1100">
              <a:solidFill>
                <a:schemeClr val="dk1"/>
              </a:solidFill>
              <a:latin typeface="Calibri"/>
              <a:ea typeface="Calibri"/>
              <a:cs typeface="Calibri"/>
              <a:sym typeface="Calibri"/>
            </a:endParaRPr>
          </a:p>
        </p:txBody>
      </p:sp>
      <p:sp>
        <p:nvSpPr>
          <p:cNvPr id="755" name="Google Shape;755;p24"/>
          <p:cNvSpPr/>
          <p:nvPr/>
        </p:nvSpPr>
        <p:spPr>
          <a:xfrm>
            <a:off x="457200" y="4617720"/>
            <a:ext cx="7589520" cy="123444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6" name="Google Shape;756;p24"/>
          <p:cNvSpPr/>
          <p:nvPr/>
        </p:nvSpPr>
        <p:spPr>
          <a:xfrm>
            <a:off x="685800" y="4892040"/>
            <a:ext cx="685800" cy="685800"/>
          </a:xfrm>
          <a:prstGeom prst="ellipse">
            <a:avLst/>
          </a:prstGeom>
          <a:solidFill>
            <a:srgbClr val="FFFFFF">
              <a:alpha val="25098"/>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57" name="Google Shape;757;p24" descr="preencoded.png"/>
          <p:cNvPicPr preferRelativeResize="0"/>
          <p:nvPr/>
        </p:nvPicPr>
        <p:blipFill rotWithShape="1">
          <a:blip r:embed="rId5">
            <a:alphaModFix/>
          </a:blip>
          <a:srcRect/>
          <a:stretch/>
        </p:blipFill>
        <p:spPr>
          <a:xfrm>
            <a:off x="841248" y="5047488"/>
            <a:ext cx="365760" cy="365760"/>
          </a:xfrm>
          <a:prstGeom prst="rect">
            <a:avLst/>
          </a:prstGeom>
          <a:noFill/>
          <a:ln>
            <a:noFill/>
          </a:ln>
        </p:spPr>
      </p:pic>
      <p:sp>
        <p:nvSpPr>
          <p:cNvPr id="758" name="Google Shape;758;p24"/>
          <p:cNvSpPr/>
          <p:nvPr/>
        </p:nvSpPr>
        <p:spPr>
          <a:xfrm>
            <a:off x="1554480" y="4754880"/>
            <a:ext cx="4572000" cy="365760"/>
          </a:xfrm>
          <a:prstGeom prst="rect">
            <a:avLst/>
          </a:prstGeom>
          <a:noFill/>
          <a:ln>
            <a:noFill/>
          </a:ln>
        </p:spPr>
        <p:txBody>
          <a:bodyPr spcFirstLastPara="1" wrap="square" lIns="0" tIns="0" rIns="0" bIns="0" anchor="ctr" anchorCtr="0">
            <a:noAutofit/>
          </a:bodyPr>
          <a:lstStyle/>
          <a:p>
            <a:pPr marL="0" marR="0" lvl="0" indent="0" algn="l">
              <a:spcBef>
                <a:spcPts val="0"/>
              </a:spcBef>
              <a:spcAft>
                <a:spcPts val="0"/>
              </a:spcAft>
              <a:buNone/>
            </a:pPr>
            <a:r>
              <a:rPr lang="en-US" sz="1600" b="1">
                <a:solidFill>
                  <a:srgbClr val="FFFFFF"/>
                </a:solidFill>
                <a:latin typeface="Georgia"/>
                <a:sym typeface="Georgia"/>
              </a:rPr>
              <a:t>Modelo</a:t>
            </a:r>
            <a:endParaRPr lang="es-ES"/>
          </a:p>
        </p:txBody>
      </p:sp>
      <p:sp>
        <p:nvSpPr>
          <p:cNvPr id="759" name="Google Shape;759;p24"/>
          <p:cNvSpPr/>
          <p:nvPr/>
        </p:nvSpPr>
        <p:spPr>
          <a:xfrm>
            <a:off x="5943600" y="4754880"/>
            <a:ext cx="2011680" cy="3657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E8963C"/>
              </a:buClr>
              <a:buSzPts val="1200"/>
              <a:buFont typeface="Calibri"/>
              <a:buNone/>
            </a:pPr>
            <a:r>
              <a:rPr lang="en-US" sz="1200" i="1">
                <a:solidFill>
                  <a:srgbClr val="E8963C"/>
                </a:solidFill>
                <a:latin typeface="Calibri"/>
                <a:ea typeface="Calibri"/>
                <a:cs typeface="Calibri"/>
                <a:sym typeface="Calibri"/>
              </a:rPr>
              <a:t>Base de datos</a:t>
            </a:r>
            <a:endParaRPr sz="1200">
              <a:solidFill>
                <a:schemeClr val="dk1"/>
              </a:solidFill>
              <a:latin typeface="Calibri"/>
              <a:ea typeface="Calibri"/>
              <a:cs typeface="Calibri"/>
              <a:sym typeface="Calibri"/>
            </a:endParaRPr>
          </a:p>
        </p:txBody>
      </p:sp>
      <p:sp>
        <p:nvSpPr>
          <p:cNvPr id="760" name="Google Shape;760;p24"/>
          <p:cNvSpPr/>
          <p:nvPr/>
        </p:nvSpPr>
        <p:spPr>
          <a:xfrm>
            <a:off x="1554480" y="5120640"/>
            <a:ext cx="6309360" cy="365760"/>
          </a:xfrm>
          <a:prstGeom prst="rect">
            <a:avLst/>
          </a:prstGeom>
          <a:noFill/>
          <a:ln>
            <a:noFill/>
          </a:ln>
        </p:spPr>
        <p:txBody>
          <a:bodyPr spcFirstLastPara="1" wrap="square" lIns="0" tIns="0" rIns="0" bIns="0" anchor="ctr" anchorCtr="0">
            <a:noAutofit/>
          </a:bodyPr>
          <a:lstStyle/>
          <a:p>
            <a:r>
              <a:rPr lang="en-US" sz="1250" b="1">
                <a:solidFill>
                  <a:srgbClr val="FFFFFF"/>
                </a:solidFill>
                <a:latin typeface="Consolas"/>
                <a:sym typeface="Consolas"/>
              </a:rPr>
              <a:t>MariaDB 13.2</a:t>
            </a:r>
            <a:endParaRPr lang="es-ES"/>
          </a:p>
        </p:txBody>
      </p:sp>
      <p:sp>
        <p:nvSpPr>
          <p:cNvPr id="761" name="Google Shape;761;p24"/>
          <p:cNvSpPr/>
          <p:nvPr/>
        </p:nvSpPr>
        <p:spPr>
          <a:xfrm>
            <a:off x="1554480" y="5486400"/>
            <a:ext cx="6309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6E2DC"/>
              </a:buClr>
              <a:buSzPts val="1100"/>
              <a:buFont typeface="Georgia"/>
              <a:buNone/>
            </a:pPr>
            <a:r>
              <a:rPr lang="en-US" sz="1100" i="1">
                <a:solidFill>
                  <a:srgbClr val="D6E2DC"/>
                </a:solidFill>
                <a:latin typeface="Georgia"/>
                <a:ea typeface="Georgia"/>
                <a:cs typeface="Georgia"/>
                <a:sym typeface="Georgia"/>
              </a:rPr>
              <a:t>Productos, Proveedores, Facturas, Usuarios, Movimientos</a:t>
            </a:r>
            <a:endParaRPr sz="1100">
              <a:solidFill>
                <a:schemeClr val="dk1"/>
              </a:solidFill>
              <a:latin typeface="Calibri"/>
              <a:ea typeface="Calibri"/>
              <a:cs typeface="Calibri"/>
              <a:sym typeface="Calibri"/>
            </a:endParaRPr>
          </a:p>
        </p:txBody>
      </p:sp>
      <p:sp>
        <p:nvSpPr>
          <p:cNvPr id="762" name="Google Shape;762;p24"/>
          <p:cNvSpPr/>
          <p:nvPr/>
        </p:nvSpPr>
        <p:spPr>
          <a:xfrm>
            <a:off x="8229600" y="1783080"/>
            <a:ext cx="36576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200"/>
              <a:buFont typeface="Calibri"/>
              <a:buNone/>
            </a:pPr>
            <a:r>
              <a:rPr lang="en-US" sz="1200" b="1">
                <a:solidFill>
                  <a:srgbClr val="2D6A4F"/>
                </a:solidFill>
                <a:latin typeface="Calibri"/>
                <a:ea typeface="Calibri"/>
                <a:cs typeface="Calibri"/>
                <a:sym typeface="Calibri"/>
              </a:rPr>
              <a:t>STACK &amp; REQUISITOS</a:t>
            </a:r>
            <a:endParaRPr sz="1200">
              <a:solidFill>
                <a:schemeClr val="dk1"/>
              </a:solidFill>
              <a:latin typeface="Calibri"/>
              <a:ea typeface="Calibri"/>
              <a:cs typeface="Calibri"/>
              <a:sym typeface="Calibri"/>
            </a:endParaRPr>
          </a:p>
        </p:txBody>
      </p:sp>
      <p:sp>
        <p:nvSpPr>
          <p:cNvPr id="763" name="Google Shape;763;p24"/>
          <p:cNvSpPr/>
          <p:nvPr/>
        </p:nvSpPr>
        <p:spPr>
          <a:xfrm>
            <a:off x="8229600" y="2194560"/>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Control de versiones</a:t>
            </a:r>
            <a:endParaRPr sz="1000">
              <a:solidFill>
                <a:schemeClr val="dk1"/>
              </a:solidFill>
              <a:latin typeface="Calibri"/>
              <a:ea typeface="Calibri"/>
              <a:cs typeface="Calibri"/>
              <a:sym typeface="Calibri"/>
            </a:endParaRPr>
          </a:p>
        </p:txBody>
      </p:sp>
      <p:sp>
        <p:nvSpPr>
          <p:cNvPr id="764" name="Google Shape;764;p24"/>
          <p:cNvSpPr/>
          <p:nvPr/>
        </p:nvSpPr>
        <p:spPr>
          <a:xfrm>
            <a:off x="8229600" y="2414016"/>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Git / GitHub</a:t>
            </a:r>
            <a:endParaRPr sz="1150">
              <a:solidFill>
                <a:schemeClr val="dk1"/>
              </a:solidFill>
              <a:latin typeface="Calibri"/>
              <a:ea typeface="Calibri"/>
              <a:cs typeface="Calibri"/>
              <a:sym typeface="Calibri"/>
            </a:endParaRPr>
          </a:p>
        </p:txBody>
      </p:sp>
      <p:sp>
        <p:nvSpPr>
          <p:cNvPr id="765" name="Google Shape;765;p24"/>
          <p:cNvSpPr/>
          <p:nvPr/>
        </p:nvSpPr>
        <p:spPr>
          <a:xfrm>
            <a:off x="8229600" y="2734056"/>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IDE de desarrollo</a:t>
            </a:r>
            <a:endParaRPr sz="1000">
              <a:solidFill>
                <a:schemeClr val="dk1"/>
              </a:solidFill>
              <a:latin typeface="Calibri"/>
              <a:ea typeface="Calibri"/>
              <a:cs typeface="Calibri"/>
              <a:sym typeface="Calibri"/>
            </a:endParaRPr>
          </a:p>
        </p:txBody>
      </p:sp>
      <p:sp>
        <p:nvSpPr>
          <p:cNvPr id="766" name="Google Shape;766;p24"/>
          <p:cNvSpPr/>
          <p:nvPr/>
        </p:nvSpPr>
        <p:spPr>
          <a:xfrm>
            <a:off x="8229600" y="2953512"/>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IntelliJ IDEA / Eclipse</a:t>
            </a:r>
            <a:endParaRPr sz="1150">
              <a:solidFill>
                <a:schemeClr val="dk1"/>
              </a:solidFill>
              <a:latin typeface="Calibri"/>
              <a:ea typeface="Calibri"/>
              <a:cs typeface="Calibri"/>
              <a:sym typeface="Calibri"/>
            </a:endParaRPr>
          </a:p>
        </p:txBody>
      </p:sp>
      <p:sp>
        <p:nvSpPr>
          <p:cNvPr id="767" name="Google Shape;767;p24"/>
          <p:cNvSpPr/>
          <p:nvPr/>
        </p:nvSpPr>
        <p:spPr>
          <a:xfrm>
            <a:off x="8229600" y="3273552"/>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Sistema operativo</a:t>
            </a:r>
            <a:endParaRPr sz="1000">
              <a:solidFill>
                <a:schemeClr val="dk1"/>
              </a:solidFill>
              <a:latin typeface="Calibri"/>
              <a:ea typeface="Calibri"/>
              <a:cs typeface="Calibri"/>
              <a:sym typeface="Calibri"/>
            </a:endParaRPr>
          </a:p>
        </p:txBody>
      </p:sp>
      <p:sp>
        <p:nvSpPr>
          <p:cNvPr id="768" name="Google Shape;768;p24"/>
          <p:cNvSpPr/>
          <p:nvPr/>
        </p:nvSpPr>
        <p:spPr>
          <a:xfrm>
            <a:off x="8229600" y="3493008"/>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Windows 10 o superior</a:t>
            </a:r>
            <a:endParaRPr sz="1150">
              <a:solidFill>
                <a:schemeClr val="dk1"/>
              </a:solidFill>
              <a:latin typeface="Calibri"/>
              <a:ea typeface="Calibri"/>
              <a:cs typeface="Calibri"/>
              <a:sym typeface="Calibri"/>
            </a:endParaRPr>
          </a:p>
        </p:txBody>
      </p:sp>
      <p:sp>
        <p:nvSpPr>
          <p:cNvPr id="769" name="Google Shape;769;p24"/>
          <p:cNvSpPr/>
          <p:nvPr/>
        </p:nvSpPr>
        <p:spPr>
          <a:xfrm>
            <a:off x="8229600" y="3813048"/>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Procesador</a:t>
            </a:r>
            <a:endParaRPr sz="1000">
              <a:solidFill>
                <a:schemeClr val="dk1"/>
              </a:solidFill>
              <a:latin typeface="Calibri"/>
              <a:ea typeface="Calibri"/>
              <a:cs typeface="Calibri"/>
              <a:sym typeface="Calibri"/>
            </a:endParaRPr>
          </a:p>
        </p:txBody>
      </p:sp>
      <p:sp>
        <p:nvSpPr>
          <p:cNvPr id="770" name="Google Shape;770;p24"/>
          <p:cNvSpPr/>
          <p:nvPr/>
        </p:nvSpPr>
        <p:spPr>
          <a:xfrm>
            <a:off x="8229600" y="4032504"/>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Intel Core i3  •  2 GHz+</a:t>
            </a:r>
            <a:endParaRPr sz="1150">
              <a:solidFill>
                <a:schemeClr val="dk1"/>
              </a:solidFill>
              <a:latin typeface="Calibri"/>
              <a:ea typeface="Calibri"/>
              <a:cs typeface="Calibri"/>
              <a:sym typeface="Calibri"/>
            </a:endParaRPr>
          </a:p>
        </p:txBody>
      </p:sp>
      <p:sp>
        <p:nvSpPr>
          <p:cNvPr id="771" name="Google Shape;771;p24"/>
          <p:cNvSpPr/>
          <p:nvPr/>
        </p:nvSpPr>
        <p:spPr>
          <a:xfrm>
            <a:off x="8229600" y="4352544"/>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Memoria RAM</a:t>
            </a:r>
            <a:endParaRPr sz="1000">
              <a:solidFill>
                <a:schemeClr val="dk1"/>
              </a:solidFill>
              <a:latin typeface="Calibri"/>
              <a:ea typeface="Calibri"/>
              <a:cs typeface="Calibri"/>
              <a:sym typeface="Calibri"/>
            </a:endParaRPr>
          </a:p>
        </p:txBody>
      </p:sp>
      <p:sp>
        <p:nvSpPr>
          <p:cNvPr id="772" name="Google Shape;772;p24"/>
          <p:cNvSpPr/>
          <p:nvPr/>
        </p:nvSpPr>
        <p:spPr>
          <a:xfrm>
            <a:off x="8229600" y="4572000"/>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mínimo 4 GB</a:t>
            </a:r>
            <a:endParaRPr sz="1150">
              <a:solidFill>
                <a:schemeClr val="dk1"/>
              </a:solidFill>
              <a:latin typeface="Calibri"/>
              <a:ea typeface="Calibri"/>
              <a:cs typeface="Calibri"/>
              <a:sym typeface="Calibri"/>
            </a:endParaRPr>
          </a:p>
        </p:txBody>
      </p:sp>
      <p:sp>
        <p:nvSpPr>
          <p:cNvPr id="773" name="Google Shape;773;p24"/>
          <p:cNvSpPr/>
          <p:nvPr/>
        </p:nvSpPr>
        <p:spPr>
          <a:xfrm>
            <a:off x="8229600" y="4892040"/>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Almacenamiento</a:t>
            </a:r>
            <a:endParaRPr sz="1000">
              <a:solidFill>
                <a:schemeClr val="dk1"/>
              </a:solidFill>
              <a:latin typeface="Calibri"/>
              <a:ea typeface="Calibri"/>
              <a:cs typeface="Calibri"/>
              <a:sym typeface="Calibri"/>
            </a:endParaRPr>
          </a:p>
        </p:txBody>
      </p:sp>
      <p:sp>
        <p:nvSpPr>
          <p:cNvPr id="774" name="Google Shape;774;p24"/>
          <p:cNvSpPr/>
          <p:nvPr/>
        </p:nvSpPr>
        <p:spPr>
          <a:xfrm>
            <a:off x="8229600" y="5111496"/>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mínimo 50 GB</a:t>
            </a:r>
            <a:endParaRPr sz="1150">
              <a:solidFill>
                <a:schemeClr val="dk1"/>
              </a:solidFill>
              <a:latin typeface="Calibri"/>
              <a:ea typeface="Calibri"/>
              <a:cs typeface="Calibri"/>
              <a:sym typeface="Calibri"/>
            </a:endParaRPr>
          </a:p>
        </p:txBody>
      </p:sp>
      <p:sp>
        <p:nvSpPr>
          <p:cNvPr id="775" name="Google Shape;775;p24"/>
          <p:cNvSpPr/>
          <p:nvPr/>
        </p:nvSpPr>
        <p:spPr>
          <a:xfrm>
            <a:off x="8229600" y="5431536"/>
            <a:ext cx="3474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Periféricos</a:t>
            </a:r>
            <a:endParaRPr sz="1000">
              <a:solidFill>
                <a:schemeClr val="dk1"/>
              </a:solidFill>
              <a:latin typeface="Calibri"/>
              <a:ea typeface="Calibri"/>
              <a:cs typeface="Calibri"/>
              <a:sym typeface="Calibri"/>
            </a:endParaRPr>
          </a:p>
        </p:txBody>
      </p:sp>
      <p:sp>
        <p:nvSpPr>
          <p:cNvPr id="776" name="Google Shape;776;p24"/>
          <p:cNvSpPr/>
          <p:nvPr/>
        </p:nvSpPr>
        <p:spPr>
          <a:xfrm>
            <a:off x="8229600" y="5650992"/>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150"/>
              <a:buFont typeface="Calibri"/>
              <a:buNone/>
            </a:pPr>
            <a:r>
              <a:rPr lang="en-US" sz="1150">
                <a:solidFill>
                  <a:srgbClr val="1F2A26"/>
                </a:solidFill>
                <a:latin typeface="Calibri"/>
                <a:ea typeface="Calibri"/>
                <a:cs typeface="Calibri"/>
                <a:sym typeface="Calibri"/>
              </a:rPr>
              <a:t>Lector USB de </a:t>
            </a:r>
            <a:r>
              <a:rPr lang="en-US" sz="1150" err="1">
                <a:solidFill>
                  <a:srgbClr val="1F2A26"/>
                </a:solidFill>
                <a:latin typeface="Calibri"/>
                <a:ea typeface="Calibri"/>
                <a:cs typeface="Calibri"/>
                <a:sym typeface="Calibri"/>
              </a:rPr>
              <a:t>códigos</a:t>
            </a:r>
            <a:r>
              <a:rPr lang="en-US" sz="1150">
                <a:solidFill>
                  <a:srgbClr val="1F2A26"/>
                </a:solidFill>
                <a:latin typeface="Calibri"/>
                <a:ea typeface="Calibri"/>
                <a:cs typeface="Calibri"/>
                <a:sym typeface="Calibri"/>
              </a:rPr>
              <a:t> (HID)</a:t>
            </a:r>
          </a:p>
          <a:p>
            <a:pPr>
              <a:buSzPts val="1150"/>
            </a:pPr>
            <a:r>
              <a:rPr lang="en-US" sz="1150" err="1">
                <a:solidFill>
                  <a:srgbClr val="1F2A26"/>
                </a:solidFill>
                <a:latin typeface="Calibri"/>
                <a:ea typeface="Calibri"/>
                <a:cs typeface="Calibri"/>
              </a:rPr>
              <a:t>Impresora</a:t>
            </a:r>
            <a:r>
              <a:rPr lang="en-US" sz="1150">
                <a:solidFill>
                  <a:srgbClr val="1F2A26"/>
                </a:solidFill>
                <a:latin typeface="Calibri"/>
                <a:ea typeface="Calibri"/>
                <a:cs typeface="Calibri"/>
              </a:rPr>
              <a:t> </a:t>
            </a:r>
            <a:r>
              <a:rPr lang="en-US" sz="1150" err="1">
                <a:solidFill>
                  <a:srgbClr val="1F2A26"/>
                </a:solidFill>
                <a:latin typeface="Calibri"/>
                <a:ea typeface="Calibri"/>
                <a:cs typeface="Calibri"/>
              </a:rPr>
              <a:t>termica</a:t>
            </a:r>
          </a:p>
        </p:txBody>
      </p:sp>
      <p:cxnSp>
        <p:nvCxnSpPr>
          <p:cNvPr id="777" name="Google Shape;777;p24"/>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778" name="Google Shape;778;p24"/>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779" name="Google Shape;779;p24"/>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24 / 28</a:t>
            </a:r>
            <a:endParaRPr sz="9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4"/>
        <p:cNvGrpSpPr/>
        <p:nvPr/>
      </p:nvGrpSpPr>
      <p:grpSpPr>
        <a:xfrm>
          <a:off x="0" y="0"/>
          <a:ext cx="0" cy="0"/>
          <a:chOff x="0" y="0"/>
          <a:chExt cx="0" cy="0"/>
        </a:xfrm>
      </p:grpSpPr>
      <p:sp>
        <p:nvSpPr>
          <p:cNvPr id="785" name="Google Shape;785;p25"/>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10. Estimación de costos y beneficios</a:t>
            </a:r>
            <a:endParaRPr sz="3400">
              <a:solidFill>
                <a:schemeClr val="dk1"/>
              </a:solidFill>
              <a:latin typeface="Calibri"/>
              <a:ea typeface="Calibri"/>
              <a:cs typeface="Calibri"/>
              <a:sym typeface="Calibri"/>
            </a:endParaRPr>
          </a:p>
        </p:txBody>
      </p:sp>
      <p:sp>
        <p:nvSpPr>
          <p:cNvPr id="786" name="Google Shape;786;p25"/>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Resumen financiero del proyecto</a:t>
            </a:r>
            <a:endParaRPr sz="1300">
              <a:solidFill>
                <a:schemeClr val="dk1"/>
              </a:solidFill>
              <a:latin typeface="Calibri"/>
              <a:ea typeface="Calibri"/>
              <a:cs typeface="Calibri"/>
              <a:sym typeface="Calibri"/>
            </a:endParaRPr>
          </a:p>
        </p:txBody>
      </p:sp>
      <p:sp>
        <p:nvSpPr>
          <p:cNvPr id="787" name="Google Shape;787;p25"/>
          <p:cNvSpPr/>
          <p:nvPr/>
        </p:nvSpPr>
        <p:spPr>
          <a:xfrm>
            <a:off x="457200" y="1783080"/>
            <a:ext cx="2697480" cy="169164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8" name="Google Shape;788;p25"/>
          <p:cNvSpPr/>
          <p:nvPr/>
        </p:nvSpPr>
        <p:spPr>
          <a:xfrm>
            <a:off x="457200" y="1874520"/>
            <a:ext cx="2697480" cy="8686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7</a:t>
            </a:r>
            <a:endParaRPr sz="3400">
              <a:solidFill>
                <a:schemeClr val="dk1"/>
              </a:solidFill>
              <a:latin typeface="Calibri"/>
              <a:ea typeface="Calibri"/>
              <a:cs typeface="Calibri"/>
              <a:sym typeface="Calibri"/>
            </a:endParaRPr>
          </a:p>
        </p:txBody>
      </p:sp>
      <p:sp>
        <p:nvSpPr>
          <p:cNvPr id="789" name="Google Shape;789;p25"/>
          <p:cNvSpPr/>
          <p:nvPr/>
        </p:nvSpPr>
        <p:spPr>
          <a:xfrm>
            <a:off x="457200" y="274320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Integrantes</a:t>
            </a:r>
            <a:endParaRPr sz="1150">
              <a:solidFill>
                <a:schemeClr val="dk1"/>
              </a:solidFill>
              <a:latin typeface="Calibri"/>
              <a:ea typeface="Calibri"/>
              <a:cs typeface="Calibri"/>
              <a:sym typeface="Calibri"/>
            </a:endParaRPr>
          </a:p>
        </p:txBody>
      </p:sp>
      <p:sp>
        <p:nvSpPr>
          <p:cNvPr id="790" name="Google Shape;790;p25"/>
          <p:cNvSpPr/>
          <p:nvPr/>
        </p:nvSpPr>
        <p:spPr>
          <a:xfrm>
            <a:off x="457200" y="306324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6E2DC"/>
              </a:buClr>
              <a:buSzPts val="1050"/>
              <a:buFont typeface="Georgia"/>
              <a:buNone/>
            </a:pPr>
            <a:r>
              <a:rPr lang="en-US" sz="1050" i="1">
                <a:solidFill>
                  <a:srgbClr val="D6E2DC"/>
                </a:solidFill>
                <a:latin typeface="Georgia"/>
                <a:ea typeface="Georgia"/>
                <a:cs typeface="Georgia"/>
                <a:sym typeface="Georgia"/>
              </a:rPr>
              <a:t>1 JP + 6 programadores</a:t>
            </a:r>
            <a:endParaRPr sz="1050">
              <a:solidFill>
                <a:schemeClr val="dk1"/>
              </a:solidFill>
              <a:latin typeface="Calibri"/>
              <a:ea typeface="Calibri"/>
              <a:cs typeface="Calibri"/>
              <a:sym typeface="Calibri"/>
            </a:endParaRPr>
          </a:p>
        </p:txBody>
      </p:sp>
      <p:sp>
        <p:nvSpPr>
          <p:cNvPr id="791" name="Google Shape;791;p25"/>
          <p:cNvSpPr/>
          <p:nvPr/>
        </p:nvSpPr>
        <p:spPr>
          <a:xfrm>
            <a:off x="3310128" y="1783080"/>
            <a:ext cx="2697480" cy="1691640"/>
          </a:xfrm>
          <a:prstGeom prst="rect">
            <a:avLst/>
          </a:prstGeom>
          <a:solidFill>
            <a:srgbClr val="2D6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2" name="Google Shape;792;p25"/>
          <p:cNvSpPr/>
          <p:nvPr/>
        </p:nvSpPr>
        <p:spPr>
          <a:xfrm>
            <a:off x="3310128" y="1874520"/>
            <a:ext cx="2697480" cy="8686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$9,1M</a:t>
            </a:r>
            <a:endParaRPr sz="3400">
              <a:solidFill>
                <a:schemeClr val="dk1"/>
              </a:solidFill>
              <a:latin typeface="Calibri"/>
              <a:ea typeface="Calibri"/>
              <a:cs typeface="Calibri"/>
              <a:sym typeface="Calibri"/>
            </a:endParaRPr>
          </a:p>
        </p:txBody>
      </p:sp>
      <p:sp>
        <p:nvSpPr>
          <p:cNvPr id="793" name="Google Shape;793;p25"/>
          <p:cNvSpPr/>
          <p:nvPr/>
        </p:nvSpPr>
        <p:spPr>
          <a:xfrm>
            <a:off x="3310128" y="274320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Caja / Contingencia</a:t>
            </a:r>
            <a:endParaRPr sz="1150">
              <a:solidFill>
                <a:schemeClr val="dk1"/>
              </a:solidFill>
              <a:latin typeface="Calibri"/>
              <a:ea typeface="Calibri"/>
              <a:cs typeface="Calibri"/>
              <a:sym typeface="Calibri"/>
            </a:endParaRPr>
          </a:p>
        </p:txBody>
      </p:sp>
      <p:sp>
        <p:nvSpPr>
          <p:cNvPr id="794" name="Google Shape;794;p25"/>
          <p:cNvSpPr/>
          <p:nvPr/>
        </p:nvSpPr>
        <p:spPr>
          <a:xfrm>
            <a:off x="3310128" y="306324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6E2DC"/>
              </a:buClr>
              <a:buSzPts val="1050"/>
              <a:buFont typeface="Georgia"/>
              <a:buNone/>
            </a:pPr>
            <a:r>
              <a:rPr lang="en-US" sz="1050" i="1">
                <a:solidFill>
                  <a:srgbClr val="D6E2DC"/>
                </a:solidFill>
                <a:latin typeface="Georgia"/>
                <a:ea typeface="Georgia"/>
                <a:cs typeface="Georgia"/>
                <a:sym typeface="Georgia"/>
              </a:rPr>
              <a:t>Inversión inicial Mes 0</a:t>
            </a:r>
            <a:endParaRPr sz="1050">
              <a:solidFill>
                <a:schemeClr val="dk1"/>
              </a:solidFill>
              <a:latin typeface="Calibri"/>
              <a:ea typeface="Calibri"/>
              <a:cs typeface="Calibri"/>
              <a:sym typeface="Calibri"/>
            </a:endParaRPr>
          </a:p>
        </p:txBody>
      </p:sp>
      <p:sp>
        <p:nvSpPr>
          <p:cNvPr id="795" name="Google Shape;795;p25"/>
          <p:cNvSpPr/>
          <p:nvPr/>
        </p:nvSpPr>
        <p:spPr>
          <a:xfrm>
            <a:off x="6163056" y="1783080"/>
            <a:ext cx="2697480" cy="169164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6" name="Google Shape;796;p25"/>
          <p:cNvSpPr/>
          <p:nvPr/>
        </p:nvSpPr>
        <p:spPr>
          <a:xfrm>
            <a:off x="6163056" y="1874520"/>
            <a:ext cx="2697480" cy="8686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$7,59M</a:t>
            </a:r>
            <a:endParaRPr sz="3400">
              <a:solidFill>
                <a:schemeClr val="dk1"/>
              </a:solidFill>
              <a:latin typeface="Calibri"/>
              <a:ea typeface="Calibri"/>
              <a:cs typeface="Calibri"/>
              <a:sym typeface="Calibri"/>
            </a:endParaRPr>
          </a:p>
        </p:txBody>
      </p:sp>
      <p:sp>
        <p:nvSpPr>
          <p:cNvPr id="797" name="Google Shape;797;p25"/>
          <p:cNvSpPr/>
          <p:nvPr/>
        </p:nvSpPr>
        <p:spPr>
          <a:xfrm>
            <a:off x="6163056" y="274320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Costo mensual</a:t>
            </a:r>
            <a:endParaRPr sz="1150">
              <a:solidFill>
                <a:schemeClr val="dk1"/>
              </a:solidFill>
              <a:latin typeface="Calibri"/>
              <a:ea typeface="Calibri"/>
              <a:cs typeface="Calibri"/>
              <a:sym typeface="Calibri"/>
            </a:endParaRPr>
          </a:p>
        </p:txBody>
      </p:sp>
      <p:sp>
        <p:nvSpPr>
          <p:cNvPr id="798" name="Google Shape;798;p25"/>
          <p:cNvSpPr/>
          <p:nvPr/>
        </p:nvSpPr>
        <p:spPr>
          <a:xfrm>
            <a:off x="6163056" y="306324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6E2DC"/>
              </a:buClr>
              <a:buSzPts val="1050"/>
              <a:buFont typeface="Georgia"/>
              <a:buNone/>
            </a:pPr>
            <a:r>
              <a:rPr lang="en-US" sz="1050" i="1">
                <a:solidFill>
                  <a:srgbClr val="D6E2DC"/>
                </a:solidFill>
                <a:latin typeface="Georgia"/>
                <a:ea typeface="Georgia"/>
                <a:cs typeface="Georgia"/>
                <a:sym typeface="Georgia"/>
              </a:rPr>
              <a:t>RRHH + indirectos</a:t>
            </a:r>
            <a:endParaRPr sz="1050">
              <a:solidFill>
                <a:schemeClr val="dk1"/>
              </a:solidFill>
              <a:latin typeface="Calibri"/>
              <a:ea typeface="Calibri"/>
              <a:cs typeface="Calibri"/>
              <a:sym typeface="Calibri"/>
            </a:endParaRPr>
          </a:p>
        </p:txBody>
      </p:sp>
      <p:sp>
        <p:nvSpPr>
          <p:cNvPr id="799" name="Google Shape;799;p25"/>
          <p:cNvSpPr/>
          <p:nvPr/>
        </p:nvSpPr>
        <p:spPr>
          <a:xfrm>
            <a:off x="9015984" y="1783080"/>
            <a:ext cx="2697480" cy="1691640"/>
          </a:xfrm>
          <a:prstGeom prst="rect">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0" name="Google Shape;800;p25"/>
          <p:cNvSpPr/>
          <p:nvPr/>
        </p:nvSpPr>
        <p:spPr>
          <a:xfrm>
            <a:off x="9015984" y="1874520"/>
            <a:ext cx="2697480" cy="8686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400"/>
              <a:buFont typeface="Georgia"/>
              <a:buNone/>
            </a:pPr>
            <a:r>
              <a:rPr lang="en-US" sz="3400" b="1">
                <a:solidFill>
                  <a:srgbClr val="FFFFFF"/>
                </a:solidFill>
                <a:latin typeface="Georgia"/>
                <a:ea typeface="Georgia"/>
                <a:cs typeface="Georgia"/>
                <a:sym typeface="Georgia"/>
              </a:rPr>
              <a:t>$460K</a:t>
            </a:r>
            <a:endParaRPr sz="3400">
              <a:solidFill>
                <a:schemeClr val="dk1"/>
              </a:solidFill>
              <a:latin typeface="Calibri"/>
              <a:ea typeface="Calibri"/>
              <a:cs typeface="Calibri"/>
              <a:sym typeface="Calibri"/>
            </a:endParaRPr>
          </a:p>
        </p:txBody>
      </p:sp>
      <p:sp>
        <p:nvSpPr>
          <p:cNvPr id="801" name="Google Shape;801;p25"/>
          <p:cNvSpPr/>
          <p:nvPr/>
        </p:nvSpPr>
        <p:spPr>
          <a:xfrm>
            <a:off x="9015984" y="274320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963C"/>
              </a:buClr>
              <a:buSzPts val="1150"/>
              <a:buFont typeface="Calibri"/>
              <a:buNone/>
            </a:pPr>
            <a:r>
              <a:rPr lang="en-US" sz="1150" b="1">
                <a:solidFill>
                  <a:srgbClr val="E8963C"/>
                </a:solidFill>
                <a:latin typeface="Calibri"/>
                <a:ea typeface="Calibri"/>
                <a:cs typeface="Calibri"/>
                <a:sym typeface="Calibri"/>
              </a:rPr>
              <a:t>Beneficio mensual</a:t>
            </a:r>
            <a:endParaRPr sz="1150">
              <a:solidFill>
                <a:schemeClr val="dk1"/>
              </a:solidFill>
              <a:latin typeface="Calibri"/>
              <a:ea typeface="Calibri"/>
              <a:cs typeface="Calibri"/>
              <a:sym typeface="Calibri"/>
            </a:endParaRPr>
          </a:p>
        </p:txBody>
      </p:sp>
      <p:sp>
        <p:nvSpPr>
          <p:cNvPr id="802" name="Google Shape;802;p25"/>
          <p:cNvSpPr/>
          <p:nvPr/>
        </p:nvSpPr>
        <p:spPr>
          <a:xfrm>
            <a:off x="9015984" y="3063240"/>
            <a:ext cx="269748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6E2DC"/>
              </a:buClr>
              <a:buSzPts val="1050"/>
              <a:buFont typeface="Georgia"/>
              <a:buNone/>
            </a:pPr>
            <a:r>
              <a:rPr lang="en-US" sz="1050" i="1">
                <a:solidFill>
                  <a:srgbClr val="D6E2DC"/>
                </a:solidFill>
                <a:latin typeface="Georgia"/>
                <a:ea typeface="Georgia"/>
                <a:cs typeface="Georgia"/>
                <a:sym typeface="Georgia"/>
              </a:rPr>
              <a:t>Operacional estimado</a:t>
            </a:r>
            <a:endParaRPr sz="1050">
              <a:solidFill>
                <a:schemeClr val="dk1"/>
              </a:solidFill>
              <a:latin typeface="Calibri"/>
              <a:ea typeface="Calibri"/>
              <a:cs typeface="Calibri"/>
              <a:sym typeface="Calibri"/>
            </a:endParaRPr>
          </a:p>
        </p:txBody>
      </p:sp>
      <p:sp>
        <p:nvSpPr>
          <p:cNvPr id="803" name="Google Shape;803;p25"/>
          <p:cNvSpPr/>
          <p:nvPr/>
        </p:nvSpPr>
        <p:spPr>
          <a:xfrm>
            <a:off x="457200" y="3749040"/>
            <a:ext cx="11274552" cy="233172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4" name="Google Shape;804;p25"/>
          <p:cNvSpPr/>
          <p:nvPr/>
        </p:nvSpPr>
        <p:spPr>
          <a:xfrm>
            <a:off x="457200" y="3749040"/>
            <a:ext cx="91440" cy="233172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5" name="Google Shape;805;p25"/>
          <p:cNvSpPr/>
          <p:nvPr/>
        </p:nvSpPr>
        <p:spPr>
          <a:xfrm>
            <a:off x="731520" y="3931920"/>
            <a:ext cx="82296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200"/>
              <a:buFont typeface="Calibri"/>
              <a:buNone/>
            </a:pPr>
            <a:r>
              <a:rPr lang="en-US" sz="1200" b="1">
                <a:solidFill>
                  <a:srgbClr val="E8963C"/>
                </a:solidFill>
                <a:latin typeface="Calibri"/>
                <a:ea typeface="Calibri"/>
                <a:cs typeface="Calibri"/>
                <a:sym typeface="Calibri"/>
              </a:rPr>
              <a:t>INDICADORES FINANCIEROS   •   VAN / TIR / ROI</a:t>
            </a:r>
            <a:endParaRPr sz="1200">
              <a:solidFill>
                <a:schemeClr val="dk1"/>
              </a:solidFill>
              <a:latin typeface="Calibri"/>
              <a:ea typeface="Calibri"/>
              <a:cs typeface="Calibri"/>
              <a:sym typeface="Calibri"/>
            </a:endParaRPr>
          </a:p>
        </p:txBody>
      </p:sp>
      <p:sp>
        <p:nvSpPr>
          <p:cNvPr id="806" name="Google Shape;806;p25"/>
          <p:cNvSpPr/>
          <p:nvPr/>
        </p:nvSpPr>
        <p:spPr>
          <a:xfrm>
            <a:off x="731520" y="4297680"/>
            <a:ext cx="10789920" cy="1691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200"/>
              <a:buFont typeface="Calibri"/>
              <a:buNone/>
            </a:pPr>
            <a:r>
              <a:rPr lang="en-US" sz="1200">
                <a:solidFill>
                  <a:srgbClr val="1F2A26"/>
                </a:solidFill>
                <a:latin typeface="Calibri"/>
                <a:ea typeface="Calibri"/>
                <a:cs typeface="Calibri"/>
                <a:sym typeface="Calibri"/>
              </a:rPr>
              <a:t>Los valores negativos en el corto plazo son habituales en proyectos de software académicos de primer desarrollo. </a:t>
            </a:r>
            <a:r>
              <a:rPr lang="en-US" sz="1200" b="1">
                <a:solidFill>
                  <a:srgbClr val="1F2A26"/>
                </a:solidFill>
                <a:latin typeface="Calibri"/>
                <a:ea typeface="Calibri"/>
                <a:cs typeface="Calibri"/>
                <a:sym typeface="Calibri"/>
              </a:rPr>
              <a:t>El ROI negativo inicial no descarta la viabilidad</a:t>
            </a:r>
            <a:r>
              <a:rPr lang="en-US" sz="1200">
                <a:solidFill>
                  <a:srgbClr val="1F2A26"/>
                </a:solidFill>
                <a:latin typeface="Calibri"/>
                <a:ea typeface="Calibri"/>
                <a:cs typeface="Calibri"/>
                <a:sym typeface="Calibri"/>
              </a:rPr>
              <a:t> del proyecto: el valor estratégico (reducción de errores, trazabilidad y eficiencia operacional) supera el análisis financiero inmediato. Se recomienda evaluar el ROI en la fase de operación (post-entrega).</a:t>
            </a:r>
            <a:endParaRPr sz="1200">
              <a:solidFill>
                <a:schemeClr val="dk1"/>
              </a:solidFill>
              <a:latin typeface="Calibri"/>
              <a:ea typeface="Calibri"/>
              <a:cs typeface="Calibri"/>
              <a:sym typeface="Calibri"/>
            </a:endParaRPr>
          </a:p>
        </p:txBody>
      </p:sp>
      <p:cxnSp>
        <p:nvCxnSpPr>
          <p:cNvPr id="807" name="Google Shape;807;p25"/>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808" name="Google Shape;808;p25"/>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809" name="Google Shape;809;p25"/>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25 / 28</a:t>
            </a:r>
            <a:endParaRPr sz="9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4"/>
        <p:cNvGrpSpPr/>
        <p:nvPr/>
      </p:nvGrpSpPr>
      <p:grpSpPr>
        <a:xfrm>
          <a:off x="0" y="0"/>
          <a:ext cx="0" cy="0"/>
          <a:chOff x="0" y="0"/>
          <a:chExt cx="0" cy="0"/>
        </a:xfrm>
      </p:grpSpPr>
      <p:sp>
        <p:nvSpPr>
          <p:cNvPr id="815" name="Google Shape;815;p26"/>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11. Equipo y aceptación del cliente</a:t>
            </a:r>
            <a:endParaRPr sz="3400">
              <a:solidFill>
                <a:schemeClr val="dk1"/>
              </a:solidFill>
              <a:latin typeface="Calibri"/>
              <a:ea typeface="Calibri"/>
              <a:cs typeface="Calibri"/>
              <a:sym typeface="Calibri"/>
            </a:endParaRPr>
          </a:p>
        </p:txBody>
      </p:sp>
      <p:sp>
        <p:nvSpPr>
          <p:cNvPr id="816" name="Google Shape;816;p26"/>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Currículum Vitae y correo de confirmación</a:t>
            </a:r>
            <a:endParaRPr sz="1300">
              <a:solidFill>
                <a:schemeClr val="dk1"/>
              </a:solidFill>
              <a:latin typeface="Calibri"/>
              <a:ea typeface="Calibri"/>
              <a:cs typeface="Calibri"/>
              <a:sym typeface="Calibri"/>
            </a:endParaRPr>
          </a:p>
        </p:txBody>
      </p:sp>
      <p:sp>
        <p:nvSpPr>
          <p:cNvPr id="817" name="Google Shape;817;p26"/>
          <p:cNvSpPr/>
          <p:nvPr/>
        </p:nvSpPr>
        <p:spPr>
          <a:xfrm>
            <a:off x="457200" y="178308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100"/>
              <a:buFont typeface="Calibri"/>
              <a:buNone/>
            </a:pPr>
            <a:r>
              <a:rPr lang="en-US" sz="1100" b="1">
                <a:solidFill>
                  <a:srgbClr val="2D6A4F"/>
                </a:solidFill>
                <a:latin typeface="Calibri"/>
                <a:ea typeface="Calibri"/>
                <a:cs typeface="Calibri"/>
                <a:sym typeface="Calibri"/>
              </a:rPr>
              <a:t>EQUIPO DE DESARROLLO</a:t>
            </a:r>
            <a:endParaRPr sz="1100">
              <a:solidFill>
                <a:schemeClr val="dk1"/>
              </a:solidFill>
              <a:latin typeface="Calibri"/>
              <a:ea typeface="Calibri"/>
              <a:cs typeface="Calibri"/>
              <a:sym typeface="Calibri"/>
            </a:endParaRPr>
          </a:p>
        </p:txBody>
      </p:sp>
      <p:sp>
        <p:nvSpPr>
          <p:cNvPr id="818" name="Google Shape;818;p26"/>
          <p:cNvSpPr/>
          <p:nvPr/>
        </p:nvSpPr>
        <p:spPr>
          <a:xfrm>
            <a:off x="457200" y="2194560"/>
            <a:ext cx="502920" cy="502920"/>
          </a:xfrm>
          <a:prstGeom prst="ellipse">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9" name="Google Shape;819;p26"/>
          <p:cNvSpPr/>
          <p:nvPr/>
        </p:nvSpPr>
        <p:spPr>
          <a:xfrm>
            <a:off x="457200" y="219456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820" name="Google Shape;820;p26"/>
          <p:cNvSpPr/>
          <p:nvPr/>
        </p:nvSpPr>
        <p:spPr>
          <a:xfrm>
            <a:off x="1097280" y="2167128"/>
            <a:ext cx="4572000" cy="320040"/>
          </a:xfrm>
          <a:prstGeom prst="rect">
            <a:avLst/>
          </a:prstGeom>
          <a:noFill/>
          <a:ln>
            <a:noFill/>
          </a:ln>
        </p:spPr>
        <p:txBody>
          <a:bodyPr spcFirstLastPara="1" wrap="square" lIns="0" tIns="0" rIns="0" bIns="0" anchor="ctr" anchorCtr="0">
            <a:noAutofit/>
          </a:bodyPr>
          <a:lstStyle/>
          <a:p>
            <a:r>
              <a:rPr lang="en-US" sz="1300" b="1">
                <a:solidFill>
                  <a:srgbClr val="1F2A26"/>
                </a:solidFill>
                <a:latin typeface="Calibri"/>
                <a:ea typeface="Calibri"/>
                <a:cs typeface="Calibri"/>
                <a:sym typeface="Calibri"/>
              </a:rPr>
              <a:t>Felipe Salas Ortiz</a:t>
            </a:r>
            <a:endParaRPr lang="en-US" sz="1300">
              <a:solidFill>
                <a:srgbClr val="1F2A26"/>
              </a:solidFill>
              <a:latin typeface="Calibri"/>
              <a:ea typeface="Calibri"/>
              <a:cs typeface="Calibri"/>
              <a:sym typeface="Calibri"/>
            </a:endParaRPr>
          </a:p>
        </p:txBody>
      </p:sp>
      <p:sp>
        <p:nvSpPr>
          <p:cNvPr id="821" name="Google Shape;821;p26"/>
          <p:cNvSpPr/>
          <p:nvPr/>
        </p:nvSpPr>
        <p:spPr>
          <a:xfrm>
            <a:off x="1097280" y="2441448"/>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963C"/>
              </a:buClr>
              <a:buSzPts val="1100"/>
              <a:buFont typeface="Georgia"/>
              <a:buNone/>
            </a:pPr>
            <a:r>
              <a:rPr lang="en-US" sz="1100" i="1">
                <a:solidFill>
                  <a:srgbClr val="E8963C"/>
                </a:solidFill>
                <a:latin typeface="Georgia"/>
                <a:ea typeface="Georgia"/>
                <a:cs typeface="Georgia"/>
                <a:sym typeface="Georgia"/>
              </a:rPr>
              <a:t>Jefe de Proyecto</a:t>
            </a:r>
            <a:endParaRPr sz="1100">
              <a:solidFill>
                <a:schemeClr val="dk1"/>
              </a:solidFill>
              <a:latin typeface="Calibri"/>
              <a:ea typeface="Calibri"/>
              <a:cs typeface="Calibri"/>
              <a:sym typeface="Calibri"/>
            </a:endParaRPr>
          </a:p>
        </p:txBody>
      </p:sp>
      <p:sp>
        <p:nvSpPr>
          <p:cNvPr id="822" name="Google Shape;822;p26"/>
          <p:cNvSpPr/>
          <p:nvPr/>
        </p:nvSpPr>
        <p:spPr>
          <a:xfrm>
            <a:off x="457200" y="2798064"/>
            <a:ext cx="502920" cy="50292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3" name="Google Shape;823;p26"/>
          <p:cNvSpPr/>
          <p:nvPr/>
        </p:nvSpPr>
        <p:spPr>
          <a:xfrm>
            <a:off x="457200" y="2798064"/>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2</a:t>
            </a:r>
            <a:endParaRPr sz="1400">
              <a:solidFill>
                <a:schemeClr val="dk1"/>
              </a:solidFill>
              <a:latin typeface="Calibri"/>
              <a:ea typeface="Calibri"/>
              <a:cs typeface="Calibri"/>
              <a:sym typeface="Calibri"/>
            </a:endParaRPr>
          </a:p>
        </p:txBody>
      </p:sp>
      <p:sp>
        <p:nvSpPr>
          <p:cNvPr id="824" name="Google Shape;824;p26"/>
          <p:cNvSpPr/>
          <p:nvPr/>
        </p:nvSpPr>
        <p:spPr>
          <a:xfrm>
            <a:off x="1097280" y="2770632"/>
            <a:ext cx="4572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Matías Ale Guajardo</a:t>
            </a:r>
            <a:endParaRPr sz="1300">
              <a:solidFill>
                <a:schemeClr val="dk1"/>
              </a:solidFill>
              <a:latin typeface="Calibri"/>
              <a:ea typeface="Calibri"/>
              <a:cs typeface="Calibri"/>
              <a:sym typeface="Calibri"/>
            </a:endParaRPr>
          </a:p>
        </p:txBody>
      </p:sp>
      <p:sp>
        <p:nvSpPr>
          <p:cNvPr id="825" name="Google Shape;825;p26"/>
          <p:cNvSpPr/>
          <p:nvPr/>
        </p:nvSpPr>
        <p:spPr>
          <a:xfrm>
            <a:off x="1097280" y="3044952"/>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Programador</a:t>
            </a:r>
            <a:endParaRPr sz="1100">
              <a:solidFill>
                <a:schemeClr val="dk1"/>
              </a:solidFill>
              <a:latin typeface="Calibri"/>
              <a:ea typeface="Calibri"/>
              <a:cs typeface="Calibri"/>
              <a:sym typeface="Calibri"/>
            </a:endParaRPr>
          </a:p>
        </p:txBody>
      </p:sp>
      <p:sp>
        <p:nvSpPr>
          <p:cNvPr id="826" name="Google Shape;826;p26"/>
          <p:cNvSpPr/>
          <p:nvPr/>
        </p:nvSpPr>
        <p:spPr>
          <a:xfrm>
            <a:off x="457200" y="3401568"/>
            <a:ext cx="502920" cy="50292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7" name="Google Shape;827;p26"/>
          <p:cNvSpPr/>
          <p:nvPr/>
        </p:nvSpPr>
        <p:spPr>
          <a:xfrm>
            <a:off x="457200" y="3401568"/>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3</a:t>
            </a:r>
            <a:endParaRPr sz="1400">
              <a:solidFill>
                <a:schemeClr val="dk1"/>
              </a:solidFill>
              <a:latin typeface="Calibri"/>
              <a:ea typeface="Calibri"/>
              <a:cs typeface="Calibri"/>
              <a:sym typeface="Calibri"/>
            </a:endParaRPr>
          </a:p>
        </p:txBody>
      </p:sp>
      <p:sp>
        <p:nvSpPr>
          <p:cNvPr id="828" name="Google Shape;828;p26"/>
          <p:cNvSpPr/>
          <p:nvPr/>
        </p:nvSpPr>
        <p:spPr>
          <a:xfrm>
            <a:off x="1097280" y="3374136"/>
            <a:ext cx="4572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Fabián Gómez Díaz</a:t>
            </a:r>
            <a:endParaRPr sz="1300">
              <a:solidFill>
                <a:schemeClr val="dk1"/>
              </a:solidFill>
              <a:latin typeface="Calibri"/>
              <a:ea typeface="Calibri"/>
              <a:cs typeface="Calibri"/>
              <a:sym typeface="Calibri"/>
            </a:endParaRPr>
          </a:p>
        </p:txBody>
      </p:sp>
      <p:sp>
        <p:nvSpPr>
          <p:cNvPr id="829" name="Google Shape;829;p26"/>
          <p:cNvSpPr/>
          <p:nvPr/>
        </p:nvSpPr>
        <p:spPr>
          <a:xfrm>
            <a:off x="1097280" y="3648456"/>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Programador</a:t>
            </a:r>
            <a:endParaRPr sz="1100">
              <a:solidFill>
                <a:schemeClr val="dk1"/>
              </a:solidFill>
              <a:latin typeface="Calibri"/>
              <a:ea typeface="Calibri"/>
              <a:cs typeface="Calibri"/>
              <a:sym typeface="Calibri"/>
            </a:endParaRPr>
          </a:p>
        </p:txBody>
      </p:sp>
      <p:sp>
        <p:nvSpPr>
          <p:cNvPr id="830" name="Google Shape;830;p26"/>
          <p:cNvSpPr/>
          <p:nvPr/>
        </p:nvSpPr>
        <p:spPr>
          <a:xfrm>
            <a:off x="457200" y="4005072"/>
            <a:ext cx="502920" cy="50292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1" name="Google Shape;831;p26"/>
          <p:cNvSpPr/>
          <p:nvPr/>
        </p:nvSpPr>
        <p:spPr>
          <a:xfrm>
            <a:off x="457200" y="4005072"/>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4</a:t>
            </a:r>
            <a:endParaRPr sz="1400">
              <a:solidFill>
                <a:schemeClr val="dk1"/>
              </a:solidFill>
              <a:latin typeface="Calibri"/>
              <a:ea typeface="Calibri"/>
              <a:cs typeface="Calibri"/>
              <a:sym typeface="Calibri"/>
            </a:endParaRPr>
          </a:p>
        </p:txBody>
      </p:sp>
      <p:sp>
        <p:nvSpPr>
          <p:cNvPr id="832" name="Google Shape;832;p26"/>
          <p:cNvSpPr/>
          <p:nvPr/>
        </p:nvSpPr>
        <p:spPr>
          <a:xfrm>
            <a:off x="1097280" y="3977640"/>
            <a:ext cx="4572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Erick Hernández</a:t>
            </a:r>
            <a:endParaRPr sz="1300">
              <a:solidFill>
                <a:schemeClr val="dk1"/>
              </a:solidFill>
              <a:latin typeface="Calibri"/>
              <a:ea typeface="Calibri"/>
              <a:cs typeface="Calibri"/>
              <a:sym typeface="Calibri"/>
            </a:endParaRPr>
          </a:p>
        </p:txBody>
      </p:sp>
      <p:sp>
        <p:nvSpPr>
          <p:cNvPr id="833" name="Google Shape;833;p26"/>
          <p:cNvSpPr/>
          <p:nvPr/>
        </p:nvSpPr>
        <p:spPr>
          <a:xfrm>
            <a:off x="1097280" y="42519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Programador</a:t>
            </a:r>
            <a:endParaRPr sz="1100">
              <a:solidFill>
                <a:schemeClr val="dk1"/>
              </a:solidFill>
              <a:latin typeface="Calibri"/>
              <a:ea typeface="Calibri"/>
              <a:cs typeface="Calibri"/>
              <a:sym typeface="Calibri"/>
            </a:endParaRPr>
          </a:p>
        </p:txBody>
      </p:sp>
      <p:sp>
        <p:nvSpPr>
          <p:cNvPr id="834" name="Google Shape;834;p26"/>
          <p:cNvSpPr/>
          <p:nvPr/>
        </p:nvSpPr>
        <p:spPr>
          <a:xfrm>
            <a:off x="457200" y="4608576"/>
            <a:ext cx="502920" cy="50292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5" name="Google Shape;835;p26"/>
          <p:cNvSpPr/>
          <p:nvPr/>
        </p:nvSpPr>
        <p:spPr>
          <a:xfrm>
            <a:off x="457200" y="4608576"/>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5</a:t>
            </a:r>
            <a:endParaRPr sz="1400">
              <a:solidFill>
                <a:schemeClr val="dk1"/>
              </a:solidFill>
              <a:latin typeface="Calibri"/>
              <a:ea typeface="Calibri"/>
              <a:cs typeface="Calibri"/>
              <a:sym typeface="Calibri"/>
            </a:endParaRPr>
          </a:p>
        </p:txBody>
      </p:sp>
      <p:sp>
        <p:nvSpPr>
          <p:cNvPr id="836" name="Google Shape;836;p26"/>
          <p:cNvSpPr/>
          <p:nvPr/>
        </p:nvSpPr>
        <p:spPr>
          <a:xfrm>
            <a:off x="1097280" y="4581144"/>
            <a:ext cx="4572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A26"/>
              </a:buClr>
              <a:buSzPts val="1300"/>
              <a:buFont typeface="Calibri"/>
              <a:buNone/>
            </a:pPr>
            <a:r>
              <a:rPr lang="en-US" sz="1300" b="1">
                <a:solidFill>
                  <a:srgbClr val="1F2A26"/>
                </a:solidFill>
                <a:latin typeface="Calibri"/>
                <a:ea typeface="Calibri"/>
                <a:cs typeface="Calibri"/>
                <a:sym typeface="Calibri"/>
              </a:rPr>
              <a:t>Nicolás Isaac López Tapia</a:t>
            </a:r>
            <a:endParaRPr sz="1300">
              <a:solidFill>
                <a:schemeClr val="dk1"/>
              </a:solidFill>
              <a:latin typeface="Calibri"/>
              <a:ea typeface="Calibri"/>
              <a:cs typeface="Calibri"/>
              <a:sym typeface="Calibri"/>
            </a:endParaRPr>
          </a:p>
        </p:txBody>
      </p:sp>
      <p:sp>
        <p:nvSpPr>
          <p:cNvPr id="837" name="Google Shape;837;p26"/>
          <p:cNvSpPr/>
          <p:nvPr/>
        </p:nvSpPr>
        <p:spPr>
          <a:xfrm>
            <a:off x="1097280" y="4855464"/>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Programador</a:t>
            </a:r>
            <a:endParaRPr sz="1100">
              <a:solidFill>
                <a:schemeClr val="dk1"/>
              </a:solidFill>
              <a:latin typeface="Calibri"/>
              <a:ea typeface="Calibri"/>
              <a:cs typeface="Calibri"/>
              <a:sym typeface="Calibri"/>
            </a:endParaRPr>
          </a:p>
        </p:txBody>
      </p:sp>
      <p:sp>
        <p:nvSpPr>
          <p:cNvPr id="838" name="Google Shape;838;p26"/>
          <p:cNvSpPr/>
          <p:nvPr/>
        </p:nvSpPr>
        <p:spPr>
          <a:xfrm>
            <a:off x="457200" y="5212080"/>
            <a:ext cx="502920" cy="50292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9" name="Google Shape;839;p26"/>
          <p:cNvSpPr/>
          <p:nvPr/>
        </p:nvSpPr>
        <p:spPr>
          <a:xfrm>
            <a:off x="457200" y="5212080"/>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6</a:t>
            </a:r>
            <a:endParaRPr sz="1400">
              <a:solidFill>
                <a:schemeClr val="dk1"/>
              </a:solidFill>
              <a:latin typeface="Calibri"/>
              <a:ea typeface="Calibri"/>
              <a:cs typeface="Calibri"/>
              <a:sym typeface="Calibri"/>
            </a:endParaRPr>
          </a:p>
        </p:txBody>
      </p:sp>
      <p:sp>
        <p:nvSpPr>
          <p:cNvPr id="840" name="Google Shape;840;p26"/>
          <p:cNvSpPr/>
          <p:nvPr/>
        </p:nvSpPr>
        <p:spPr>
          <a:xfrm>
            <a:off x="1097280" y="5184648"/>
            <a:ext cx="4572000" cy="320040"/>
          </a:xfrm>
          <a:prstGeom prst="rect">
            <a:avLst/>
          </a:prstGeom>
          <a:noFill/>
          <a:ln>
            <a:noFill/>
          </a:ln>
        </p:spPr>
        <p:txBody>
          <a:bodyPr spcFirstLastPara="1" wrap="square" lIns="0" tIns="0" rIns="0" bIns="0" anchor="ctr" anchorCtr="0">
            <a:noAutofit/>
          </a:bodyPr>
          <a:lstStyle/>
          <a:p>
            <a:r>
              <a:rPr lang="en-US" sz="1300" b="1">
                <a:solidFill>
                  <a:srgbClr val="1F2A26"/>
                </a:solidFill>
                <a:latin typeface="Calibri"/>
                <a:ea typeface="Calibri"/>
                <a:cs typeface="Calibri"/>
                <a:sym typeface="Calibri"/>
              </a:rPr>
              <a:t>Cristobal Osorio</a:t>
            </a:r>
            <a:endParaRPr lang="en-US"/>
          </a:p>
        </p:txBody>
      </p:sp>
      <p:sp>
        <p:nvSpPr>
          <p:cNvPr id="841" name="Google Shape;841;p26"/>
          <p:cNvSpPr/>
          <p:nvPr/>
        </p:nvSpPr>
        <p:spPr>
          <a:xfrm>
            <a:off x="1097280" y="5458968"/>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Programador</a:t>
            </a:r>
            <a:endParaRPr sz="1100">
              <a:solidFill>
                <a:schemeClr val="dk1"/>
              </a:solidFill>
              <a:latin typeface="Calibri"/>
              <a:ea typeface="Calibri"/>
              <a:cs typeface="Calibri"/>
              <a:sym typeface="Calibri"/>
            </a:endParaRPr>
          </a:p>
        </p:txBody>
      </p:sp>
      <p:sp>
        <p:nvSpPr>
          <p:cNvPr id="842" name="Google Shape;842;p26"/>
          <p:cNvSpPr/>
          <p:nvPr/>
        </p:nvSpPr>
        <p:spPr>
          <a:xfrm>
            <a:off x="457200" y="5815584"/>
            <a:ext cx="502920" cy="50292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3" name="Google Shape;843;p26"/>
          <p:cNvSpPr/>
          <p:nvPr/>
        </p:nvSpPr>
        <p:spPr>
          <a:xfrm>
            <a:off x="457200" y="5815584"/>
            <a:ext cx="50292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a:solidFill>
                  <a:srgbClr val="FFFFFF"/>
                </a:solidFill>
                <a:latin typeface="Calibri"/>
                <a:ea typeface="Calibri"/>
                <a:cs typeface="Calibri"/>
                <a:sym typeface="Calibri"/>
              </a:rPr>
              <a:t>7</a:t>
            </a:r>
            <a:endParaRPr sz="1400">
              <a:solidFill>
                <a:schemeClr val="dk1"/>
              </a:solidFill>
              <a:latin typeface="Calibri"/>
              <a:ea typeface="Calibri"/>
              <a:cs typeface="Calibri"/>
              <a:sym typeface="Calibri"/>
            </a:endParaRPr>
          </a:p>
        </p:txBody>
      </p:sp>
      <p:sp>
        <p:nvSpPr>
          <p:cNvPr id="844" name="Google Shape;844;p26"/>
          <p:cNvSpPr/>
          <p:nvPr/>
        </p:nvSpPr>
        <p:spPr>
          <a:xfrm>
            <a:off x="1097280" y="5788152"/>
            <a:ext cx="4572000" cy="320040"/>
          </a:xfrm>
          <a:prstGeom prst="rect">
            <a:avLst/>
          </a:prstGeom>
          <a:noFill/>
          <a:ln>
            <a:noFill/>
          </a:ln>
        </p:spPr>
        <p:txBody>
          <a:bodyPr spcFirstLastPara="1" wrap="square" lIns="0" tIns="0" rIns="0" bIns="0" anchor="ctr" anchorCtr="0">
            <a:noAutofit/>
          </a:bodyPr>
          <a:lstStyle/>
          <a:p>
            <a:r>
              <a:rPr lang="en-US" sz="1300" b="1">
                <a:solidFill>
                  <a:srgbClr val="1F2A26"/>
                </a:solidFill>
                <a:latin typeface="Calibri"/>
                <a:ea typeface="Calibri"/>
                <a:cs typeface="Calibri"/>
                <a:sym typeface="Calibri"/>
              </a:rPr>
              <a:t>Diego Lobos</a:t>
            </a:r>
            <a:endParaRPr lang="en-US"/>
          </a:p>
        </p:txBody>
      </p:sp>
      <p:sp>
        <p:nvSpPr>
          <p:cNvPr id="845" name="Google Shape;845;p26"/>
          <p:cNvSpPr/>
          <p:nvPr/>
        </p:nvSpPr>
        <p:spPr>
          <a:xfrm>
            <a:off x="1097280" y="6062472"/>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Programador</a:t>
            </a:r>
            <a:endParaRPr sz="1100">
              <a:solidFill>
                <a:schemeClr val="dk1"/>
              </a:solidFill>
              <a:latin typeface="Calibri"/>
              <a:ea typeface="Calibri"/>
              <a:cs typeface="Calibri"/>
              <a:sym typeface="Calibri"/>
            </a:endParaRPr>
          </a:p>
        </p:txBody>
      </p:sp>
      <p:sp>
        <p:nvSpPr>
          <p:cNvPr id="846" name="Google Shape;846;p26"/>
          <p:cNvSpPr/>
          <p:nvPr/>
        </p:nvSpPr>
        <p:spPr>
          <a:xfrm>
            <a:off x="6400800" y="1783080"/>
            <a:ext cx="5330952" cy="44348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7" name="Google Shape;847;p26"/>
          <p:cNvSpPr/>
          <p:nvPr/>
        </p:nvSpPr>
        <p:spPr>
          <a:xfrm>
            <a:off x="6400800" y="1783080"/>
            <a:ext cx="91440" cy="443484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8" name="Google Shape;848;p26"/>
          <p:cNvSpPr/>
          <p:nvPr/>
        </p:nvSpPr>
        <p:spPr>
          <a:xfrm>
            <a:off x="6675120" y="2011680"/>
            <a:ext cx="822960" cy="822960"/>
          </a:xfrm>
          <a:prstGeom prst="ellipse">
            <a:avLst/>
          </a:prstGeom>
          <a:solidFill>
            <a:srgbClr val="0F3B2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49" name="Google Shape;849;p26" descr="preencoded.png"/>
          <p:cNvPicPr preferRelativeResize="0"/>
          <p:nvPr/>
        </p:nvPicPr>
        <p:blipFill rotWithShape="1">
          <a:blip r:embed="rId3">
            <a:alphaModFix/>
          </a:blip>
          <a:srcRect/>
          <a:stretch/>
        </p:blipFill>
        <p:spPr>
          <a:xfrm>
            <a:off x="6858000" y="2194560"/>
            <a:ext cx="457200" cy="457200"/>
          </a:xfrm>
          <a:prstGeom prst="rect">
            <a:avLst/>
          </a:prstGeom>
          <a:noFill/>
          <a:ln>
            <a:noFill/>
          </a:ln>
        </p:spPr>
      </p:pic>
      <p:sp>
        <p:nvSpPr>
          <p:cNvPr id="850" name="Google Shape;850;p26"/>
          <p:cNvSpPr/>
          <p:nvPr/>
        </p:nvSpPr>
        <p:spPr>
          <a:xfrm>
            <a:off x="7635240" y="2057400"/>
            <a:ext cx="402336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200"/>
              <a:buFont typeface="Calibri"/>
              <a:buNone/>
            </a:pPr>
            <a:r>
              <a:rPr lang="en-US" sz="1200" b="1">
                <a:solidFill>
                  <a:srgbClr val="2D6A4F"/>
                </a:solidFill>
                <a:latin typeface="Calibri"/>
                <a:ea typeface="Calibri"/>
                <a:cs typeface="Calibri"/>
                <a:sym typeface="Calibri"/>
              </a:rPr>
              <a:t>CORREO DE ACEPTACIÓN</a:t>
            </a:r>
            <a:endParaRPr sz="1200">
              <a:solidFill>
                <a:schemeClr val="dk1"/>
              </a:solidFill>
              <a:latin typeface="Calibri"/>
              <a:ea typeface="Calibri"/>
              <a:cs typeface="Calibri"/>
              <a:sym typeface="Calibri"/>
            </a:endParaRPr>
          </a:p>
        </p:txBody>
      </p:sp>
      <p:sp>
        <p:nvSpPr>
          <p:cNvPr id="851" name="Google Shape;851;p26"/>
          <p:cNvSpPr/>
          <p:nvPr/>
        </p:nvSpPr>
        <p:spPr>
          <a:xfrm>
            <a:off x="7635240" y="2377440"/>
            <a:ext cx="40233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1300"/>
              <a:buFont typeface="Georgia"/>
              <a:buNone/>
            </a:pPr>
            <a:r>
              <a:rPr lang="en-US" sz="1300" i="1">
                <a:solidFill>
                  <a:srgbClr val="6B7785"/>
                </a:solidFill>
                <a:latin typeface="Georgia"/>
                <a:ea typeface="Georgia"/>
                <a:cs typeface="Georgia"/>
                <a:sym typeface="Georgia"/>
              </a:rPr>
              <a:t>Aceptación formal de los requisitos</a:t>
            </a:r>
            <a:endParaRPr sz="1300">
              <a:solidFill>
                <a:schemeClr val="dk1"/>
              </a:solidFill>
              <a:latin typeface="Calibri"/>
              <a:ea typeface="Calibri"/>
              <a:cs typeface="Calibri"/>
              <a:sym typeface="Calibri"/>
            </a:endParaRPr>
          </a:p>
        </p:txBody>
      </p:sp>
      <p:sp>
        <p:nvSpPr>
          <p:cNvPr id="852" name="Google Shape;852;p26"/>
          <p:cNvSpPr/>
          <p:nvPr/>
        </p:nvSpPr>
        <p:spPr>
          <a:xfrm>
            <a:off x="6675120" y="310896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000"/>
              <a:buFont typeface="Calibri"/>
              <a:buNone/>
            </a:pPr>
            <a:r>
              <a:rPr lang="en-US" sz="1000" b="1">
                <a:solidFill>
                  <a:srgbClr val="2D6A4F"/>
                </a:solidFill>
                <a:latin typeface="Calibri"/>
                <a:ea typeface="Calibri"/>
                <a:cs typeface="Calibri"/>
                <a:sym typeface="Calibri"/>
              </a:rPr>
              <a:t>REPRESENTANTE DEL CLIENTE</a:t>
            </a:r>
            <a:endParaRPr sz="1000">
              <a:solidFill>
                <a:schemeClr val="dk1"/>
              </a:solidFill>
              <a:latin typeface="Calibri"/>
              <a:ea typeface="Calibri"/>
              <a:cs typeface="Calibri"/>
              <a:sym typeface="Calibri"/>
            </a:endParaRPr>
          </a:p>
        </p:txBody>
      </p:sp>
      <p:sp>
        <p:nvSpPr>
          <p:cNvPr id="853" name="Google Shape;853;p26"/>
          <p:cNvSpPr/>
          <p:nvPr/>
        </p:nvSpPr>
        <p:spPr>
          <a:xfrm>
            <a:off x="6675120" y="3383280"/>
            <a:ext cx="45720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500"/>
              <a:buFont typeface="Calibri"/>
              <a:buNone/>
            </a:pPr>
            <a:r>
              <a:rPr lang="en-US" sz="1500" b="1">
                <a:solidFill>
                  <a:srgbClr val="1F2A26"/>
                </a:solidFill>
                <a:latin typeface="Calibri"/>
                <a:ea typeface="Calibri"/>
                <a:cs typeface="Calibri"/>
                <a:sym typeface="Calibri"/>
              </a:rPr>
              <a:t>Sr. Guido de Lapeyra Úbeda</a:t>
            </a:r>
            <a:endParaRPr sz="1500">
              <a:solidFill>
                <a:schemeClr val="dk1"/>
              </a:solidFill>
              <a:latin typeface="Calibri"/>
              <a:ea typeface="Calibri"/>
              <a:cs typeface="Calibri"/>
              <a:sym typeface="Calibri"/>
            </a:endParaRPr>
          </a:p>
        </p:txBody>
      </p:sp>
      <p:sp>
        <p:nvSpPr>
          <p:cNvPr id="854" name="Google Shape;854;p26"/>
          <p:cNvSpPr/>
          <p:nvPr/>
        </p:nvSpPr>
        <p:spPr>
          <a:xfrm>
            <a:off x="6675120" y="370332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1200"/>
              <a:buFont typeface="Georgia"/>
              <a:buNone/>
            </a:pPr>
            <a:r>
              <a:rPr lang="en-US" sz="1200" i="1">
                <a:solidFill>
                  <a:srgbClr val="6B7785"/>
                </a:solidFill>
                <a:latin typeface="Georgia"/>
                <a:ea typeface="Georgia"/>
                <a:cs typeface="Georgia"/>
                <a:sym typeface="Georgia"/>
              </a:rPr>
              <a:t>Minimarket Antucayen</a:t>
            </a:r>
            <a:endParaRPr sz="1200">
              <a:solidFill>
                <a:schemeClr val="dk1"/>
              </a:solidFill>
              <a:latin typeface="Calibri"/>
              <a:ea typeface="Calibri"/>
              <a:cs typeface="Calibri"/>
              <a:sym typeface="Calibri"/>
            </a:endParaRPr>
          </a:p>
        </p:txBody>
      </p:sp>
      <p:sp>
        <p:nvSpPr>
          <p:cNvPr id="855" name="Google Shape;855;p26"/>
          <p:cNvSpPr/>
          <p:nvPr/>
        </p:nvSpPr>
        <p:spPr>
          <a:xfrm>
            <a:off x="6675120" y="416052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000"/>
              <a:buFont typeface="Calibri"/>
              <a:buNone/>
            </a:pPr>
            <a:r>
              <a:rPr lang="en-US" sz="1000" b="1">
                <a:solidFill>
                  <a:srgbClr val="E8963C"/>
                </a:solidFill>
                <a:latin typeface="Calibri"/>
                <a:ea typeface="Calibri"/>
                <a:cs typeface="Calibri"/>
                <a:sym typeface="Calibri"/>
              </a:rPr>
              <a:t>ESTADO</a:t>
            </a:r>
            <a:endParaRPr sz="1000">
              <a:solidFill>
                <a:schemeClr val="dk1"/>
              </a:solidFill>
              <a:latin typeface="Calibri"/>
              <a:ea typeface="Calibri"/>
              <a:cs typeface="Calibri"/>
              <a:sym typeface="Calibri"/>
            </a:endParaRPr>
          </a:p>
        </p:txBody>
      </p:sp>
      <p:sp>
        <p:nvSpPr>
          <p:cNvPr id="856" name="Google Shape;856;p26"/>
          <p:cNvSpPr/>
          <p:nvPr/>
        </p:nvSpPr>
        <p:spPr>
          <a:xfrm>
            <a:off x="6675120" y="4434840"/>
            <a:ext cx="49377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D6A4F"/>
              </a:buClr>
              <a:buSzPts val="1300"/>
              <a:buFont typeface="Calibri"/>
              <a:buNone/>
            </a:pPr>
            <a:r>
              <a:rPr lang="en-US" sz="1300" b="1">
                <a:solidFill>
                  <a:srgbClr val="2D6A4F"/>
                </a:solidFill>
                <a:latin typeface="Calibri"/>
                <a:ea typeface="Calibri"/>
                <a:cs typeface="Calibri"/>
                <a:sym typeface="Calibri"/>
              </a:rPr>
              <a:t>✓  Confirmado — requisitos aceptados</a:t>
            </a:r>
            <a:endParaRPr sz="1300">
              <a:solidFill>
                <a:schemeClr val="dk1"/>
              </a:solidFill>
              <a:latin typeface="Calibri"/>
              <a:ea typeface="Calibri"/>
              <a:cs typeface="Calibri"/>
              <a:sym typeface="Calibri"/>
            </a:endParaRPr>
          </a:p>
        </p:txBody>
      </p:sp>
      <p:sp>
        <p:nvSpPr>
          <p:cNvPr id="857" name="Google Shape;857;p26"/>
          <p:cNvSpPr/>
          <p:nvPr/>
        </p:nvSpPr>
        <p:spPr>
          <a:xfrm>
            <a:off x="6675120" y="4846320"/>
            <a:ext cx="45720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963C"/>
              </a:buClr>
              <a:buSzPts val="1000"/>
              <a:buFont typeface="Calibri"/>
              <a:buNone/>
            </a:pPr>
            <a:r>
              <a:rPr lang="en-US" sz="1000" b="1">
                <a:solidFill>
                  <a:srgbClr val="E8963C"/>
                </a:solidFill>
                <a:latin typeface="Calibri"/>
                <a:ea typeface="Calibri"/>
                <a:cs typeface="Calibri"/>
                <a:sym typeface="Calibri"/>
              </a:rPr>
              <a:t>ALCANCE</a:t>
            </a:r>
            <a:endParaRPr sz="1000">
              <a:solidFill>
                <a:schemeClr val="dk1"/>
              </a:solidFill>
              <a:latin typeface="Calibri"/>
              <a:ea typeface="Calibri"/>
              <a:cs typeface="Calibri"/>
              <a:sym typeface="Calibri"/>
            </a:endParaRPr>
          </a:p>
        </p:txBody>
      </p:sp>
      <p:sp>
        <p:nvSpPr>
          <p:cNvPr id="858" name="Google Shape;858;p26"/>
          <p:cNvSpPr/>
          <p:nvPr/>
        </p:nvSpPr>
        <p:spPr>
          <a:xfrm>
            <a:off x="6675120" y="5120640"/>
            <a:ext cx="4937760" cy="10058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2A26"/>
              </a:buClr>
              <a:buSzPts val="1200"/>
              <a:buFont typeface="Calibri"/>
              <a:buNone/>
            </a:pPr>
            <a:r>
              <a:rPr lang="en-US" sz="1200">
                <a:solidFill>
                  <a:srgbClr val="1F2A26"/>
                </a:solidFill>
                <a:latin typeface="Calibri"/>
                <a:ea typeface="Calibri"/>
                <a:cs typeface="Calibri"/>
                <a:sym typeface="Calibri"/>
              </a:rPr>
              <a:t>Sistema de gestión de inventario y facturas para Minimarket Antucayen.</a:t>
            </a:r>
            <a:endParaRPr sz="1200">
              <a:solidFill>
                <a:schemeClr val="dk1"/>
              </a:solidFill>
              <a:latin typeface="Calibri"/>
              <a:ea typeface="Calibri"/>
              <a:cs typeface="Calibri"/>
              <a:sym typeface="Calibri"/>
            </a:endParaRPr>
          </a:p>
        </p:txBody>
      </p:sp>
      <p:cxnSp>
        <p:nvCxnSpPr>
          <p:cNvPr id="859" name="Google Shape;859;p26"/>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860" name="Google Shape;860;p26"/>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861" name="Google Shape;861;p26"/>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26 / 28</a:t>
            </a:r>
            <a:endParaRPr sz="9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6"/>
        <p:cNvGrpSpPr/>
        <p:nvPr/>
      </p:nvGrpSpPr>
      <p:grpSpPr>
        <a:xfrm>
          <a:off x="0" y="0"/>
          <a:ext cx="0" cy="0"/>
          <a:chOff x="0" y="0"/>
          <a:chExt cx="0" cy="0"/>
        </a:xfrm>
      </p:grpSpPr>
      <p:sp>
        <p:nvSpPr>
          <p:cNvPr id="867" name="Google Shape;867;p27"/>
          <p:cNvSpPr/>
          <p:nvPr/>
        </p:nvSpPr>
        <p:spPr>
          <a:xfrm>
            <a:off x="457200" y="274320"/>
            <a:ext cx="11274552"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3B2E"/>
              </a:buClr>
              <a:buSzPts val="3400"/>
              <a:buFont typeface="Georgia"/>
              <a:buNone/>
            </a:pPr>
            <a:r>
              <a:rPr lang="en-US" sz="3400" b="1">
                <a:solidFill>
                  <a:srgbClr val="0F3B2E"/>
                </a:solidFill>
                <a:latin typeface="Georgia"/>
                <a:ea typeface="Georgia"/>
                <a:cs typeface="Georgia"/>
                <a:sym typeface="Georgia"/>
              </a:rPr>
              <a:t>11.1 Planificación – Carta Gantt</a:t>
            </a:r>
            <a:endParaRPr sz="3400">
              <a:solidFill>
                <a:schemeClr val="dk1"/>
              </a:solidFill>
              <a:latin typeface="Calibri"/>
              <a:ea typeface="Calibri"/>
              <a:cs typeface="Calibri"/>
              <a:sym typeface="Calibri"/>
            </a:endParaRPr>
          </a:p>
        </p:txBody>
      </p:sp>
      <p:sp>
        <p:nvSpPr>
          <p:cNvPr id="868" name="Google Shape;868;p27"/>
          <p:cNvSpPr/>
          <p:nvPr/>
        </p:nvSpPr>
        <p:spPr>
          <a:xfrm>
            <a:off x="502920" y="1051560"/>
            <a:ext cx="11274552"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D6A4F"/>
              </a:buClr>
              <a:buSzPts val="1300"/>
              <a:buFont typeface="Georgia"/>
              <a:buNone/>
            </a:pPr>
            <a:r>
              <a:rPr lang="en-US" sz="1300" i="1">
                <a:solidFill>
                  <a:srgbClr val="2D6A4F"/>
                </a:solidFill>
                <a:latin typeface="Georgia"/>
                <a:ea typeface="Georgia"/>
                <a:cs typeface="Georgia"/>
                <a:sym typeface="Georgia"/>
              </a:rPr>
              <a:t>Desarrollo del Documento 0 · 14 marzo – 19 abril 2026</a:t>
            </a:r>
            <a:endParaRPr sz="1300">
              <a:solidFill>
                <a:schemeClr val="dk1"/>
              </a:solidFill>
              <a:latin typeface="Calibri"/>
              <a:ea typeface="Calibri"/>
              <a:cs typeface="Calibri"/>
              <a:sym typeface="Calibri"/>
            </a:endParaRPr>
          </a:p>
        </p:txBody>
      </p:sp>
      <p:graphicFrame>
        <p:nvGraphicFramePr>
          <p:cNvPr id="869" name="Google Shape;869;p27"/>
          <p:cNvGraphicFramePr/>
          <p:nvPr>
            <p:extLst>
              <p:ext uri="{D42A27DB-BD31-4B8C-83A1-F6EECF244321}">
                <p14:modId xmlns:p14="http://schemas.microsoft.com/office/powerpoint/2010/main" val="2235536304"/>
              </p:ext>
            </p:extLst>
          </p:nvPr>
        </p:nvGraphicFramePr>
        <p:xfrm>
          <a:off x="457200" y="1783080"/>
          <a:ext cx="11274500" cy="3816165"/>
        </p:xfrm>
        <a:graphic>
          <a:graphicData uri="http://schemas.openxmlformats.org/drawingml/2006/table">
            <a:tbl>
              <a:tblPr>
                <a:noFill/>
                <a:tableStyleId>{41871B0C-AF7D-4192-89DD-12DB13C66A15}</a:tableStyleId>
              </a:tblPr>
              <a:tblGrid>
                <a:gridCol w="2743200">
                  <a:extLst>
                    <a:ext uri="{9D8B030D-6E8A-4147-A177-3AD203B41FA5}">
                      <a16:colId xmlns:a16="http://schemas.microsoft.com/office/drawing/2014/main" val="20000"/>
                    </a:ext>
                  </a:extLst>
                </a:gridCol>
                <a:gridCol w="1280150">
                  <a:extLst>
                    <a:ext uri="{9D8B030D-6E8A-4147-A177-3AD203B41FA5}">
                      <a16:colId xmlns:a16="http://schemas.microsoft.com/office/drawing/2014/main" val="20001"/>
                    </a:ext>
                  </a:extLst>
                </a:gridCol>
                <a:gridCol w="1280150">
                  <a:extLst>
                    <a:ext uri="{9D8B030D-6E8A-4147-A177-3AD203B41FA5}">
                      <a16:colId xmlns:a16="http://schemas.microsoft.com/office/drawing/2014/main" val="20002"/>
                    </a:ext>
                  </a:extLst>
                </a:gridCol>
                <a:gridCol w="1280150">
                  <a:extLst>
                    <a:ext uri="{9D8B030D-6E8A-4147-A177-3AD203B41FA5}">
                      <a16:colId xmlns:a16="http://schemas.microsoft.com/office/drawing/2014/main" val="20003"/>
                    </a:ext>
                  </a:extLst>
                </a:gridCol>
                <a:gridCol w="1280150">
                  <a:extLst>
                    <a:ext uri="{9D8B030D-6E8A-4147-A177-3AD203B41FA5}">
                      <a16:colId xmlns:a16="http://schemas.microsoft.com/office/drawing/2014/main" val="20004"/>
                    </a:ext>
                  </a:extLst>
                </a:gridCol>
                <a:gridCol w="1280150">
                  <a:extLst>
                    <a:ext uri="{9D8B030D-6E8A-4147-A177-3AD203B41FA5}">
                      <a16:colId xmlns:a16="http://schemas.microsoft.com/office/drawing/2014/main" val="20005"/>
                    </a:ext>
                  </a:extLst>
                </a:gridCol>
                <a:gridCol w="2130550">
                  <a:extLst>
                    <a:ext uri="{9D8B030D-6E8A-4147-A177-3AD203B41FA5}">
                      <a16:colId xmlns:a16="http://schemas.microsoft.com/office/drawing/2014/main" val="20006"/>
                    </a:ext>
                  </a:extLst>
                </a:gridCol>
              </a:tblGrid>
              <a:tr h="402325">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FASE DEL PROYECTO</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S1</a:t>
                      </a:r>
                      <a:endParaRPr sz="950" u="none" strike="noStrike" cap="none">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14-21 mar</a:t>
                      </a:r>
                      <a:endParaRPr sz="9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S2</a:t>
                      </a:r>
                      <a:endParaRPr sz="950" u="none" strike="noStrike" cap="none">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22-28 mar</a:t>
                      </a:r>
                      <a:endParaRPr sz="9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S3</a:t>
                      </a:r>
                      <a:endParaRPr lang="en-US" sz="950" u="none" strike="noStrike" cap="none">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29 mar - 4 </a:t>
                      </a:r>
                      <a:r>
                        <a:rPr lang="en-US" sz="950" b="1" u="none" strike="noStrike" cap="none" err="1">
                          <a:solidFill>
                            <a:srgbClr val="FFFFFF"/>
                          </a:solidFill>
                          <a:latin typeface="Calibri"/>
                          <a:ea typeface="Calibri"/>
                          <a:cs typeface="Calibri"/>
                          <a:sym typeface="Calibri"/>
                        </a:rPr>
                        <a:t>abr</a:t>
                      </a:r>
                      <a:endParaRPr lang="en-US" sz="95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S4</a:t>
                      </a:r>
                      <a:endParaRPr lang="en-US" sz="950" u="none" strike="noStrike" cap="none">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5-11 </a:t>
                      </a:r>
                      <a:r>
                        <a:rPr lang="en-US" sz="950" b="1" u="none" strike="noStrike" cap="none" err="1">
                          <a:solidFill>
                            <a:srgbClr val="FFFFFF"/>
                          </a:solidFill>
                          <a:latin typeface="Calibri"/>
                          <a:ea typeface="Calibri"/>
                          <a:cs typeface="Calibri"/>
                          <a:sym typeface="Calibri"/>
                        </a:rPr>
                        <a:t>abr</a:t>
                      </a:r>
                      <a:endParaRPr lang="en-US" sz="95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S5</a:t>
                      </a:r>
                      <a:endParaRPr lang="en-US" sz="950" u="none" strike="noStrike" cap="none">
                        <a:latin typeface="Calibri"/>
                        <a:ea typeface="Calibri"/>
                        <a:cs typeface="Calibri"/>
                        <a:sym typeface="Calibri"/>
                      </a:endParaRPr>
                    </a:p>
                    <a:p>
                      <a:pPr marL="0" marR="0" lvl="0" indent="0" algn="ctr" rtl="0">
                        <a:spcBef>
                          <a:spcPts val="0"/>
                        </a:spcBef>
                        <a:spcAft>
                          <a:spcPts val="0"/>
                        </a:spcAft>
                        <a:buClr>
                          <a:srgbClr val="FFFFFF"/>
                        </a:buClr>
                        <a:buSzPts val="950"/>
                        <a:buFont typeface="Calibri"/>
                        <a:buNone/>
                      </a:pPr>
                      <a:r>
                        <a:rPr lang="en-US" sz="950" b="1" u="none" strike="noStrike" cap="none">
                          <a:solidFill>
                            <a:srgbClr val="FFFFFF"/>
                          </a:solidFill>
                          <a:latin typeface="Calibri"/>
                          <a:ea typeface="Calibri"/>
                          <a:cs typeface="Calibri"/>
                          <a:sym typeface="Calibri"/>
                        </a:rPr>
                        <a:t>12-19 </a:t>
                      </a:r>
                      <a:r>
                        <a:rPr lang="en-US" sz="950" b="1" u="none" strike="noStrike" cap="none" err="1">
                          <a:solidFill>
                            <a:srgbClr val="FFFFFF"/>
                          </a:solidFill>
                          <a:latin typeface="Calibri"/>
                          <a:ea typeface="Calibri"/>
                          <a:cs typeface="Calibri"/>
                          <a:sym typeface="Calibri"/>
                        </a:rPr>
                        <a:t>abr</a:t>
                      </a:r>
                      <a:endParaRPr lang="en-US" sz="95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RESPONSABLES</a:t>
                      </a:r>
                      <a:endParaRPr sz="10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0F3B2E"/>
                    </a:solidFill>
                  </a:tcPr>
                </a:tc>
                <a:extLst>
                  <a:ext uri="{0D108BD9-81ED-4DB2-BD59-A6C34878D82A}">
                    <a16:rowId xmlns:a16="http://schemas.microsoft.com/office/drawing/2014/main" val="10000"/>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err="1">
                          <a:solidFill>
                            <a:srgbClr val="1F2A26"/>
                          </a:solidFill>
                          <a:latin typeface="Calibri"/>
                          <a:ea typeface="Calibri"/>
                          <a:cs typeface="Calibri"/>
                          <a:sym typeface="Calibri"/>
                        </a:rPr>
                        <a:t>Contexto</a:t>
                      </a:r>
                      <a:r>
                        <a:rPr lang="en-US" sz="1100" b="1" u="none" strike="noStrike" cap="none">
                          <a:solidFill>
                            <a:srgbClr val="1F2A26"/>
                          </a:solidFill>
                          <a:latin typeface="Calibri"/>
                          <a:ea typeface="Calibri"/>
                          <a:cs typeface="Calibri"/>
                          <a:sym typeface="Calibri"/>
                        </a:rPr>
                        <a:t> </a:t>
                      </a:r>
                      <a:r>
                        <a:rPr lang="en-US" sz="1100" b="1" u="none" strike="noStrike" cap="none" err="1">
                          <a:solidFill>
                            <a:srgbClr val="1F2A26"/>
                          </a:solidFill>
                          <a:latin typeface="Calibri"/>
                          <a:ea typeface="Calibri"/>
                          <a:cs typeface="Calibri"/>
                          <a:sym typeface="Calibri"/>
                        </a:rPr>
                        <a:t>organizacional</a:t>
                      </a:r>
                      <a:endParaRPr lang="en-US" sz="110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rPr>
                        <a:t>Matias </a:t>
                      </a:r>
                      <a:r>
                        <a:rPr lang="en-US" sz="1050" i="1" u="none" strike="noStrike" cap="none" err="1">
                          <a:solidFill>
                            <a:srgbClr val="6B7785"/>
                          </a:solidFill>
                          <a:latin typeface="Calibri"/>
                          <a:ea typeface="Calibri"/>
                          <a:cs typeface="Calibri"/>
                        </a:rPr>
                        <a:t>Ale</a:t>
                      </a:r>
                      <a:r>
                        <a:rPr lang="en-US" sz="1050" i="1" u="none" strike="noStrike" cap="none" err="1">
                          <a:solidFill>
                            <a:srgbClr val="6B7785"/>
                          </a:solidFill>
                          <a:latin typeface="Calibri"/>
                          <a:ea typeface="Calibri"/>
                          <a:cs typeface="Calibri"/>
                          <a:sym typeface="Calibri"/>
                        </a:rPr>
                        <a:t>,</a:t>
                      </a:r>
                      <a:r>
                        <a:rPr lang="en-US" sz="1050" i="1" u="none" strike="noStrike" cap="none" err="1">
                          <a:solidFill>
                            <a:srgbClr val="6B7785"/>
                          </a:solidFill>
                          <a:latin typeface="Calibri"/>
                          <a:ea typeface="Calibri"/>
                          <a:cs typeface="Calibri"/>
                        </a:rPr>
                        <a:t>Fabian</a:t>
                      </a:r>
                      <a:r>
                        <a:rPr lang="en-US" sz="1050" i="1" u="none" strike="noStrike" cap="none">
                          <a:solidFill>
                            <a:srgbClr val="6B7785"/>
                          </a:solidFill>
                          <a:latin typeface="Calibri"/>
                          <a:ea typeface="Calibri"/>
                          <a:cs typeface="Calibri"/>
                          <a:sym typeface="Calibri"/>
                        </a:rPr>
                        <a:t> Gómez, </a:t>
                      </a:r>
                      <a:r>
                        <a:rPr lang="en-US" sz="1050" i="1" u="none" strike="noStrike" cap="none">
                          <a:solidFill>
                            <a:srgbClr val="6B7785"/>
                          </a:solidFill>
                          <a:latin typeface="Calibri"/>
                          <a:ea typeface="Calibri"/>
                          <a:cs typeface="Calibri"/>
                        </a:rPr>
                        <a:t>Erick Hernández</a:t>
                      </a:r>
                      <a:endParaRPr sz="10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err="1">
                          <a:solidFill>
                            <a:srgbClr val="1F2A26"/>
                          </a:solidFill>
                          <a:latin typeface="Calibri"/>
                          <a:ea typeface="Calibri"/>
                          <a:cs typeface="Calibri"/>
                          <a:sym typeface="Calibri"/>
                        </a:rPr>
                        <a:t>Levantamiento</a:t>
                      </a:r>
                      <a:r>
                        <a:rPr lang="en-US" sz="1100" b="1" u="none" strike="noStrike" cap="none">
                          <a:solidFill>
                            <a:srgbClr val="1F2A26"/>
                          </a:solidFill>
                          <a:latin typeface="Calibri"/>
                          <a:ea typeface="Calibri"/>
                          <a:cs typeface="Calibri"/>
                          <a:sym typeface="Calibri"/>
                        </a:rPr>
                        <a:t> BPMN</a:t>
                      </a:r>
                      <a:endParaRPr lang="en-US"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rPr>
                        <a:t>Nicolas López</a:t>
                      </a:r>
                      <a:r>
                        <a:rPr lang="en-US" sz="1050" i="1" u="none" strike="noStrike" cap="none">
                          <a:solidFill>
                            <a:srgbClr val="6B7785"/>
                          </a:solidFill>
                          <a:latin typeface="Calibri"/>
                          <a:ea typeface="Calibri"/>
                          <a:cs typeface="Calibri"/>
                          <a:sym typeface="Calibri"/>
                        </a:rPr>
                        <a:t>, </a:t>
                      </a:r>
                      <a:r>
                        <a:rPr lang="en-US" sz="1050" i="1" u="none" strike="noStrike" cap="none">
                          <a:solidFill>
                            <a:srgbClr val="6B7785"/>
                          </a:solidFill>
                          <a:latin typeface="Calibri"/>
                          <a:ea typeface="Calibri"/>
                          <a:cs typeface="Calibri"/>
                        </a:rPr>
                        <a:t>Cristobal Osorio</a:t>
                      </a:r>
                      <a:endParaRPr sz="10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2"/>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err="1">
                          <a:solidFill>
                            <a:srgbClr val="1F2A26"/>
                          </a:solidFill>
                          <a:latin typeface="Calibri"/>
                          <a:ea typeface="Calibri"/>
                          <a:cs typeface="Calibri"/>
                          <a:sym typeface="Calibri"/>
                        </a:rPr>
                        <a:t>Análisis</a:t>
                      </a:r>
                      <a:r>
                        <a:rPr lang="en-US" sz="1100" b="1" u="none" strike="noStrike" cap="none">
                          <a:solidFill>
                            <a:srgbClr val="1F2A26"/>
                          </a:solidFill>
                          <a:latin typeface="Calibri"/>
                          <a:ea typeface="Calibri"/>
                          <a:cs typeface="Calibri"/>
                          <a:sym typeface="Calibri"/>
                        </a:rPr>
                        <a:t> </a:t>
                      </a:r>
                      <a:r>
                        <a:rPr lang="en-US" sz="1100" b="1" u="none" strike="noStrike" cap="none" err="1">
                          <a:solidFill>
                            <a:srgbClr val="1F2A26"/>
                          </a:solidFill>
                          <a:latin typeface="Calibri"/>
                          <a:ea typeface="Calibri"/>
                          <a:cs typeface="Calibri"/>
                          <a:sym typeface="Calibri"/>
                        </a:rPr>
                        <a:t>estratégico</a:t>
                      </a:r>
                      <a:endParaRPr lang="en-US" sz="110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rPr>
                        <a:t>Felipe Salas</a:t>
                      </a:r>
                      <a:r>
                        <a:rPr lang="en-US" sz="1050" i="1" u="none" strike="noStrike" cap="none">
                          <a:solidFill>
                            <a:srgbClr val="6B7785"/>
                          </a:solidFill>
                          <a:latin typeface="Calibri"/>
                          <a:ea typeface="Calibri"/>
                          <a:cs typeface="Calibri"/>
                          <a:sym typeface="Calibri"/>
                        </a:rPr>
                        <a:t>, </a:t>
                      </a:r>
                      <a:r>
                        <a:rPr lang="en-US" sz="1050" i="1" u="none" strike="noStrike" cap="none">
                          <a:solidFill>
                            <a:srgbClr val="6B7785"/>
                          </a:solidFill>
                          <a:latin typeface="Calibri"/>
                          <a:ea typeface="Calibri"/>
                          <a:cs typeface="Calibri"/>
                        </a:rPr>
                        <a:t>Diego Lobos</a:t>
                      </a:r>
                      <a:endParaRPr sz="10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err="1">
                          <a:solidFill>
                            <a:srgbClr val="1F2A26"/>
                          </a:solidFill>
                          <a:latin typeface="Calibri"/>
                          <a:ea typeface="Calibri"/>
                          <a:cs typeface="Calibri"/>
                          <a:sym typeface="Calibri"/>
                        </a:rPr>
                        <a:t>Problemática</a:t>
                      </a:r>
                      <a:r>
                        <a:rPr lang="en-US" sz="1100" b="1" u="none" strike="noStrike" cap="none">
                          <a:solidFill>
                            <a:srgbClr val="1F2A26"/>
                          </a:solidFill>
                          <a:latin typeface="Calibri"/>
                          <a:ea typeface="Calibri"/>
                          <a:cs typeface="Calibri"/>
                          <a:sym typeface="Calibri"/>
                        </a:rPr>
                        <a:t> (Ishikawa)</a:t>
                      </a:r>
                      <a:endParaRPr lang="en-US"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sym typeface="Calibri"/>
                        </a:rPr>
                        <a:t>Equipo</a:t>
                      </a:r>
                      <a:endParaRPr sz="10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4"/>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err="1">
                          <a:solidFill>
                            <a:srgbClr val="1F2A26"/>
                          </a:solidFill>
                          <a:latin typeface="Calibri"/>
                          <a:ea typeface="Calibri"/>
                          <a:cs typeface="Calibri"/>
                          <a:sym typeface="Calibri"/>
                        </a:rPr>
                        <a:t>Requerimientos</a:t>
                      </a:r>
                      <a:r>
                        <a:rPr lang="en-US" sz="1100" b="1" u="none" strike="noStrike" cap="none">
                          <a:solidFill>
                            <a:srgbClr val="1F2A26"/>
                          </a:solidFill>
                          <a:latin typeface="Calibri"/>
                          <a:ea typeface="Calibri"/>
                          <a:cs typeface="Calibri"/>
                          <a:sym typeface="Calibri"/>
                        </a:rPr>
                        <a:t> y ESA</a:t>
                      </a:r>
                      <a:endParaRPr lang="en-US" sz="11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rPr>
                        <a:t>Fabian Gómez</a:t>
                      </a:r>
                      <a:r>
                        <a:rPr lang="en-US" sz="1050" i="1" u="none" strike="noStrike" cap="none">
                          <a:solidFill>
                            <a:srgbClr val="6B7785"/>
                          </a:solidFill>
                          <a:latin typeface="Calibri"/>
                          <a:ea typeface="Calibri"/>
                          <a:cs typeface="Calibri"/>
                          <a:sym typeface="Calibri"/>
                        </a:rPr>
                        <a:t>, </a:t>
                      </a:r>
                      <a:r>
                        <a:rPr lang="en-US" sz="1050" i="1" u="none" strike="noStrike" cap="none">
                          <a:solidFill>
                            <a:srgbClr val="6B7785"/>
                          </a:solidFill>
                          <a:latin typeface="Calibri"/>
                          <a:ea typeface="Calibri"/>
                          <a:cs typeface="Calibri"/>
                        </a:rPr>
                        <a:t>Nicolas López</a:t>
                      </a:r>
                      <a:r>
                        <a:rPr lang="en-US" sz="1050" i="1" u="none" strike="noStrike" cap="none">
                          <a:solidFill>
                            <a:srgbClr val="6B7785"/>
                          </a:solidFill>
                          <a:latin typeface="Calibri"/>
                          <a:ea typeface="Calibri"/>
                          <a:cs typeface="Calibri"/>
                          <a:sym typeface="Calibri"/>
                        </a:rPr>
                        <a:t>,</a:t>
                      </a:r>
                      <a:r>
                        <a:rPr lang="en-US" sz="1050" i="1" u="none" strike="noStrike" cap="none">
                          <a:solidFill>
                            <a:srgbClr val="6B7785"/>
                          </a:solidFill>
                          <a:latin typeface="Calibri"/>
                          <a:ea typeface="Calibri"/>
                          <a:cs typeface="Calibri"/>
                        </a:rPr>
                        <a:t> Matias</a:t>
                      </a:r>
                      <a:r>
                        <a:rPr lang="en-US" sz="1050" i="1" u="none" strike="noStrike" cap="none">
                          <a:solidFill>
                            <a:srgbClr val="6B7785"/>
                          </a:solidFill>
                          <a:latin typeface="Calibri"/>
                          <a:ea typeface="Calibri"/>
                          <a:cs typeface="Calibri"/>
                          <a:sym typeface="Calibri"/>
                        </a:rPr>
                        <a:t> Ale</a:t>
                      </a:r>
                      <a:endParaRPr sz="10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a:solidFill>
                            <a:srgbClr val="1F2A26"/>
                          </a:solidFill>
                          <a:latin typeface="Calibri"/>
                          <a:ea typeface="Calibri"/>
                          <a:cs typeface="Calibri"/>
                          <a:sym typeface="Calibri"/>
                        </a:rPr>
                        <a:t>Casos de </a:t>
                      </a:r>
                      <a:r>
                        <a:rPr lang="en-US" sz="1100" b="1" u="none" strike="noStrike" cap="none" err="1">
                          <a:solidFill>
                            <a:srgbClr val="1F2A26"/>
                          </a:solidFill>
                          <a:latin typeface="Calibri"/>
                          <a:ea typeface="Calibri"/>
                          <a:cs typeface="Calibri"/>
                          <a:sym typeface="Calibri"/>
                        </a:rPr>
                        <a:t>uso</a:t>
                      </a:r>
                      <a:r>
                        <a:rPr lang="en-US" sz="1100" b="1" u="none" strike="noStrike" cap="none">
                          <a:solidFill>
                            <a:srgbClr val="1F2A26"/>
                          </a:solidFill>
                          <a:latin typeface="Calibri"/>
                          <a:ea typeface="Calibri"/>
                          <a:cs typeface="Calibri"/>
                          <a:sym typeface="Calibri"/>
                        </a:rPr>
                        <a:t> y </a:t>
                      </a:r>
                      <a:r>
                        <a:rPr lang="en-US" sz="1100" b="1" u="none" strike="noStrike" cap="none" err="1">
                          <a:solidFill>
                            <a:srgbClr val="1F2A26"/>
                          </a:solidFill>
                          <a:latin typeface="Calibri"/>
                          <a:ea typeface="Calibri"/>
                          <a:cs typeface="Calibri"/>
                          <a:sym typeface="Calibri"/>
                        </a:rPr>
                        <a:t>matriz</a:t>
                      </a:r>
                      <a:endParaRPr lang="en-US" sz="110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rPr>
                        <a:t>Felipe Salas</a:t>
                      </a:r>
                      <a:r>
                        <a:rPr lang="en-US" sz="1050" i="1" u="none" strike="noStrike" cap="none">
                          <a:solidFill>
                            <a:srgbClr val="6B7785"/>
                          </a:solidFill>
                          <a:latin typeface="Calibri"/>
                          <a:ea typeface="Calibri"/>
                          <a:cs typeface="Calibri"/>
                          <a:sym typeface="Calibri"/>
                        </a:rPr>
                        <a:t>, </a:t>
                      </a:r>
                      <a:r>
                        <a:rPr lang="en-US" sz="1050" i="1" u="none" strike="noStrike" cap="none">
                          <a:solidFill>
                            <a:srgbClr val="6B7785"/>
                          </a:solidFill>
                          <a:latin typeface="Calibri"/>
                          <a:ea typeface="Calibri"/>
                          <a:cs typeface="Calibri"/>
                        </a:rPr>
                        <a:t>Diego Lobos</a:t>
                      </a:r>
                      <a:r>
                        <a:rPr lang="en-US" sz="1050" i="1" u="none" strike="noStrike" cap="none">
                          <a:solidFill>
                            <a:srgbClr val="6B7785"/>
                          </a:solidFill>
                          <a:latin typeface="Calibri"/>
                          <a:ea typeface="Calibri"/>
                          <a:cs typeface="Calibri"/>
                          <a:sym typeface="Calibri"/>
                        </a:rPr>
                        <a:t>, </a:t>
                      </a:r>
                      <a:r>
                        <a:rPr lang="en-US" sz="1050" i="1" u="none" strike="noStrike" cap="none">
                          <a:solidFill>
                            <a:srgbClr val="6B7785"/>
                          </a:solidFill>
                          <a:latin typeface="Calibri"/>
                          <a:ea typeface="Calibri"/>
                          <a:cs typeface="Calibri"/>
                        </a:rPr>
                        <a:t>Matias Ale</a:t>
                      </a:r>
                      <a:endParaRPr sz="105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6"/>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a:solidFill>
                            <a:srgbClr val="1F2A26"/>
                          </a:solidFill>
                          <a:latin typeface="Calibri"/>
                          <a:ea typeface="Calibri"/>
                          <a:cs typeface="Calibri"/>
                          <a:sym typeface="Calibri"/>
                        </a:rPr>
                        <a:t>Costos y </a:t>
                      </a:r>
                      <a:r>
                        <a:rPr lang="en-US" sz="1100" b="1" u="none" strike="noStrike" cap="none" err="1">
                          <a:solidFill>
                            <a:srgbClr val="1F2A26"/>
                          </a:solidFill>
                          <a:latin typeface="Calibri"/>
                          <a:ea typeface="Calibri"/>
                          <a:cs typeface="Calibri"/>
                          <a:sym typeface="Calibri"/>
                        </a:rPr>
                        <a:t>beneficios</a:t>
                      </a:r>
                      <a:endParaRPr lang="en-US" sz="110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rPr>
                        <a:t>Erick Hernández</a:t>
                      </a:r>
                      <a:r>
                        <a:rPr lang="en-US" sz="1050" i="1" u="none" strike="noStrike" cap="none">
                          <a:solidFill>
                            <a:srgbClr val="6B7785"/>
                          </a:solidFill>
                          <a:latin typeface="Calibri"/>
                          <a:ea typeface="Calibri"/>
                          <a:cs typeface="Calibri"/>
                          <a:sym typeface="Calibri"/>
                        </a:rPr>
                        <a:t>, </a:t>
                      </a:r>
                      <a:r>
                        <a:rPr lang="en-US" sz="1050" i="1" u="none" strike="noStrike" cap="none">
                          <a:solidFill>
                            <a:srgbClr val="6B7785"/>
                          </a:solidFill>
                          <a:latin typeface="Calibri"/>
                          <a:ea typeface="Calibri"/>
                          <a:cs typeface="Calibri"/>
                        </a:rPr>
                        <a:t>Cristobal Osorio</a:t>
                      </a:r>
                      <a:endParaRPr lang="en-US" sz="1050" i="1" u="none" strike="noStrike" cap="none">
                        <a:solidFill>
                          <a:srgbClr val="6B7785"/>
                        </a:solidFill>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02325">
                <a:tc>
                  <a:txBody>
                    <a:bodyPr/>
                    <a:lstStyle/>
                    <a:p>
                      <a:pPr marL="0" marR="0" lvl="0" indent="0" algn="l" rtl="0">
                        <a:spcBef>
                          <a:spcPts val="0"/>
                        </a:spcBef>
                        <a:spcAft>
                          <a:spcPts val="0"/>
                        </a:spcAft>
                        <a:buClr>
                          <a:srgbClr val="1F2A26"/>
                        </a:buClr>
                        <a:buSzPts val="1100"/>
                        <a:buFont typeface="Calibri"/>
                        <a:buNone/>
                      </a:pPr>
                      <a:r>
                        <a:rPr lang="en-US" sz="1100" b="1" u="none" strike="noStrike" cap="none" err="1">
                          <a:solidFill>
                            <a:srgbClr val="1F2A26"/>
                          </a:solidFill>
                          <a:latin typeface="Calibri"/>
                          <a:ea typeface="Calibri"/>
                          <a:cs typeface="Calibri"/>
                          <a:sym typeface="Calibri"/>
                        </a:rPr>
                        <a:t>Consolidación</a:t>
                      </a:r>
                      <a:r>
                        <a:rPr lang="en-US" sz="1100" b="1" u="none" strike="noStrike" cap="none">
                          <a:solidFill>
                            <a:srgbClr val="1F2A26"/>
                          </a:solidFill>
                          <a:latin typeface="Calibri"/>
                          <a:ea typeface="Calibri"/>
                          <a:cs typeface="Calibri"/>
                          <a:sym typeface="Calibri"/>
                        </a:rPr>
                        <a:t> y </a:t>
                      </a:r>
                      <a:r>
                        <a:rPr lang="en-US" sz="1100" b="1" u="none" strike="noStrike" cap="none" err="1">
                          <a:solidFill>
                            <a:srgbClr val="1F2A26"/>
                          </a:solidFill>
                          <a:latin typeface="Calibri"/>
                          <a:ea typeface="Calibri"/>
                          <a:cs typeface="Calibri"/>
                          <a:sym typeface="Calibri"/>
                        </a:rPr>
                        <a:t>revisión</a:t>
                      </a:r>
                      <a:endParaRPr lang="en-US" sz="110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chemeClr val="dk1"/>
                        </a:buClr>
                        <a:buSzPts val="2200"/>
                        <a:buFont typeface="Calibri"/>
                        <a:buNone/>
                      </a:pP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2D6A4F"/>
                        </a:buClr>
                        <a:buSzPts val="2200"/>
                        <a:buFont typeface="Calibri"/>
                        <a:buNone/>
                      </a:pPr>
                      <a:r>
                        <a:rPr lang="en-US" sz="2200" b="1" u="none" strike="noStrike" cap="none">
                          <a:solidFill>
                            <a:srgbClr val="2D6A4F"/>
                          </a:solidFill>
                          <a:latin typeface="Calibri"/>
                          <a:ea typeface="Calibri"/>
                          <a:cs typeface="Calibri"/>
                          <a:sym typeface="Calibri"/>
                        </a:rPr>
                        <a:t>■</a:t>
                      </a:r>
                      <a:endParaRPr sz="2200" u="none" strike="noStrike" cap="none">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tc>
                  <a:txBody>
                    <a:bodyPr/>
                    <a:lstStyle/>
                    <a:p>
                      <a:pPr marL="0" marR="0" lvl="0" indent="0" algn="ctr" rtl="0">
                        <a:spcBef>
                          <a:spcPts val="0"/>
                        </a:spcBef>
                        <a:spcAft>
                          <a:spcPts val="0"/>
                        </a:spcAft>
                        <a:buClr>
                          <a:srgbClr val="6B7785"/>
                        </a:buClr>
                        <a:buSzPts val="1050"/>
                        <a:buFont typeface="Calibri"/>
                        <a:buNone/>
                      </a:pPr>
                      <a:r>
                        <a:rPr lang="en-US" sz="1050" i="1" u="none" strike="noStrike" cap="none">
                          <a:solidFill>
                            <a:srgbClr val="6B7785"/>
                          </a:solidFill>
                          <a:latin typeface="Calibri"/>
                          <a:ea typeface="Calibri"/>
                          <a:cs typeface="Calibri"/>
                          <a:sym typeface="Calibri"/>
                        </a:rPr>
                        <a:t>Equipo </a:t>
                      </a:r>
                      <a:r>
                        <a:rPr lang="en-US" sz="1050" i="1" u="none" strike="noStrike" cap="none" err="1">
                          <a:solidFill>
                            <a:srgbClr val="6B7785"/>
                          </a:solidFill>
                          <a:latin typeface="Calibri"/>
                          <a:ea typeface="Calibri"/>
                          <a:cs typeface="Calibri"/>
                          <a:sym typeface="Calibri"/>
                        </a:rPr>
                        <a:t>completo</a:t>
                      </a:r>
                      <a:endParaRPr lang="en-US" sz="1050" u="none" strike="noStrike" cap="none" err="1">
                        <a:latin typeface="Calibri"/>
                        <a:ea typeface="Calibri"/>
                        <a:cs typeface="Calibri"/>
                        <a:sym typeface="Calibri"/>
                      </a:endParaRPr>
                    </a:p>
                  </a:txBody>
                  <a:tcPr marL="91450" marR="91450" marT="45725" marB="45725" anchor="ctr">
                    <a:lnL w="9525" cap="flat" cmpd="sng">
                      <a:solidFill>
                        <a:srgbClr val="E5E5E5"/>
                      </a:solidFill>
                      <a:prstDash val="solid"/>
                      <a:round/>
                      <a:headEnd type="none" w="sm" len="sm"/>
                      <a:tailEnd type="none" w="sm" len="sm"/>
                    </a:lnL>
                    <a:lnR w="9525" cap="flat" cmpd="sng">
                      <a:solidFill>
                        <a:srgbClr val="E5E5E5"/>
                      </a:solidFill>
                      <a:prstDash val="solid"/>
                      <a:round/>
                      <a:headEnd type="none" w="sm" len="sm"/>
                      <a:tailEnd type="none" w="sm" len="sm"/>
                    </a:lnR>
                    <a:lnT w="9525" cap="flat" cmpd="sng">
                      <a:solidFill>
                        <a:srgbClr val="E5E5E5"/>
                      </a:solidFill>
                      <a:prstDash val="solid"/>
                      <a:round/>
                      <a:headEnd type="none" w="sm" len="sm"/>
                      <a:tailEnd type="none" w="sm" len="sm"/>
                    </a:lnT>
                    <a:lnB w="9525" cap="flat" cmpd="sng">
                      <a:solidFill>
                        <a:srgbClr val="E5E5E5"/>
                      </a:solidFill>
                      <a:prstDash val="solid"/>
                      <a:round/>
                      <a:headEnd type="none" w="sm" len="sm"/>
                      <a:tailEnd type="none" w="sm" len="sm"/>
                    </a:lnB>
                    <a:solidFill>
                      <a:srgbClr val="FAF8F3"/>
                    </a:solidFill>
                  </a:tcPr>
                </a:tc>
                <a:extLst>
                  <a:ext uri="{0D108BD9-81ED-4DB2-BD59-A6C34878D82A}">
                    <a16:rowId xmlns:a16="http://schemas.microsoft.com/office/drawing/2014/main" val="10008"/>
                  </a:ext>
                </a:extLst>
              </a:tr>
            </a:tbl>
          </a:graphicData>
        </a:graphic>
      </p:graphicFrame>
      <p:sp>
        <p:nvSpPr>
          <p:cNvPr id="870" name="Google Shape;870;p27"/>
          <p:cNvSpPr/>
          <p:nvPr/>
        </p:nvSpPr>
        <p:spPr>
          <a:xfrm>
            <a:off x="457200" y="5669280"/>
            <a:ext cx="11274552" cy="548640"/>
          </a:xfrm>
          <a:prstGeom prst="rect">
            <a:avLst/>
          </a:prstGeom>
          <a:solidFill>
            <a:srgbClr val="FAF8F3"/>
          </a:solidFill>
          <a:ln w="9525" cap="flat" cmpd="sng">
            <a:solidFill>
              <a:srgbClr val="E5E5E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1" name="Google Shape;871;p27"/>
          <p:cNvSpPr/>
          <p:nvPr/>
        </p:nvSpPr>
        <p:spPr>
          <a:xfrm>
            <a:off x="457200" y="5669280"/>
            <a:ext cx="91440" cy="548640"/>
          </a:xfrm>
          <a:prstGeom prst="rect">
            <a:avLst/>
          </a:prstGeom>
          <a:solidFill>
            <a:srgbClr val="E8963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2" name="Google Shape;872;p27"/>
          <p:cNvSpPr/>
          <p:nvPr/>
        </p:nvSpPr>
        <p:spPr>
          <a:xfrm>
            <a:off x="731520" y="5669280"/>
            <a:ext cx="107899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1100"/>
              <a:buFont typeface="Georgia"/>
              <a:buNone/>
            </a:pPr>
            <a:r>
              <a:rPr lang="en-US" sz="1100" i="1">
                <a:solidFill>
                  <a:srgbClr val="6B7785"/>
                </a:solidFill>
                <a:latin typeface="Georgia"/>
                <a:ea typeface="Georgia"/>
                <a:cs typeface="Georgia"/>
                <a:sym typeface="Georgia"/>
              </a:rPr>
              <a:t>Planificación organizada por responsables según matriz de organización del trabajo (archivo complementario del proyecto).</a:t>
            </a:r>
            <a:endParaRPr sz="1100">
              <a:solidFill>
                <a:schemeClr val="dk1"/>
              </a:solidFill>
              <a:latin typeface="Calibri"/>
              <a:ea typeface="Calibri"/>
              <a:cs typeface="Calibri"/>
              <a:sym typeface="Calibri"/>
            </a:endParaRPr>
          </a:p>
        </p:txBody>
      </p:sp>
      <p:cxnSp>
        <p:nvCxnSpPr>
          <p:cNvPr id="873" name="Google Shape;873;p27"/>
          <p:cNvCxnSpPr/>
          <p:nvPr/>
        </p:nvCxnSpPr>
        <p:spPr>
          <a:xfrm>
            <a:off x="457200" y="6400800"/>
            <a:ext cx="11274552" cy="0"/>
          </a:xfrm>
          <a:prstGeom prst="straightConnector1">
            <a:avLst/>
          </a:prstGeom>
          <a:noFill/>
          <a:ln w="9525" cap="flat" cmpd="sng">
            <a:solidFill>
              <a:srgbClr val="E5E5E5"/>
            </a:solidFill>
            <a:prstDash val="solid"/>
            <a:round/>
            <a:headEnd type="none" w="sm" len="sm"/>
            <a:tailEnd type="none" w="sm" len="sm"/>
          </a:ln>
        </p:spPr>
      </p:cxnSp>
      <p:sp>
        <p:nvSpPr>
          <p:cNvPr id="874" name="Google Shape;874;p27"/>
          <p:cNvSpPr/>
          <p:nvPr/>
        </p:nvSpPr>
        <p:spPr>
          <a:xfrm>
            <a:off x="457200" y="6492240"/>
            <a:ext cx="82296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7785"/>
              </a:buClr>
              <a:buSzPts val="900"/>
              <a:buFont typeface="Calibri"/>
              <a:buNone/>
            </a:pPr>
            <a:r>
              <a:rPr lang="en-US" sz="900">
                <a:solidFill>
                  <a:srgbClr val="6B7785"/>
                </a:solidFill>
                <a:latin typeface="Calibri"/>
                <a:ea typeface="Calibri"/>
                <a:cs typeface="Calibri"/>
                <a:sym typeface="Calibri"/>
              </a:rPr>
              <a:t>Proyecto Ingeniería de Software I   •   Grupo 20   •   Minimarket Antucayen</a:t>
            </a:r>
            <a:endParaRPr sz="900">
              <a:solidFill>
                <a:schemeClr val="dk1"/>
              </a:solidFill>
              <a:latin typeface="Calibri"/>
              <a:ea typeface="Calibri"/>
              <a:cs typeface="Calibri"/>
              <a:sym typeface="Calibri"/>
            </a:endParaRPr>
          </a:p>
        </p:txBody>
      </p:sp>
      <p:sp>
        <p:nvSpPr>
          <p:cNvPr id="875" name="Google Shape;875;p27"/>
          <p:cNvSpPr/>
          <p:nvPr/>
        </p:nvSpPr>
        <p:spPr>
          <a:xfrm>
            <a:off x="10817352" y="6492240"/>
            <a:ext cx="9144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7785"/>
              </a:buClr>
              <a:buSzPts val="900"/>
              <a:buFont typeface="Calibri"/>
              <a:buNone/>
            </a:pPr>
            <a:r>
              <a:rPr lang="en-US" sz="900" b="1">
                <a:solidFill>
                  <a:srgbClr val="6B7785"/>
                </a:solidFill>
                <a:latin typeface="Calibri"/>
                <a:ea typeface="Calibri"/>
                <a:cs typeface="Calibri"/>
                <a:sym typeface="Calibri"/>
              </a:rPr>
              <a:t>27 / 28</a:t>
            </a:r>
            <a:endParaRPr sz="9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3B2E"/>
        </a:solidFill>
        <a:effectLst/>
      </p:bgPr>
    </p:bg>
    <p:spTree>
      <p:nvGrpSpPr>
        <p:cNvPr id="1" name="Shape 880"/>
        <p:cNvGrpSpPr/>
        <p:nvPr/>
      </p:nvGrpSpPr>
      <p:grpSpPr>
        <a:xfrm>
          <a:off x="0" y="0"/>
          <a:ext cx="0" cy="0"/>
          <a:chOff x="0" y="0"/>
          <a:chExt cx="0" cy="0"/>
        </a:xfrm>
      </p:grpSpPr>
      <p:sp>
        <p:nvSpPr>
          <p:cNvPr id="881" name="Google Shape;881;p28"/>
          <p:cNvSpPr/>
          <p:nvPr/>
        </p:nvSpPr>
        <p:spPr>
          <a:xfrm>
            <a:off x="-2743200" y="-1828800"/>
            <a:ext cx="6400800" cy="6400800"/>
          </a:xfrm>
          <a:prstGeom prst="ellipse">
            <a:avLst/>
          </a:prstGeom>
          <a:solidFill>
            <a:srgbClr val="2D6A4F">
              <a:alpha val="54902"/>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28"/>
          <p:cNvSpPr/>
          <p:nvPr/>
        </p:nvSpPr>
        <p:spPr>
          <a:xfrm>
            <a:off x="9144000" y="3657600"/>
            <a:ext cx="5486400" cy="5486400"/>
          </a:xfrm>
          <a:prstGeom prst="ellipse">
            <a:avLst/>
          </a:prstGeom>
          <a:solidFill>
            <a:srgbClr val="E8963C">
              <a:alpha val="54902"/>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28"/>
          <p:cNvSpPr/>
          <p:nvPr/>
        </p:nvSpPr>
        <p:spPr>
          <a:xfrm>
            <a:off x="457200" y="2194560"/>
            <a:ext cx="11274552" cy="1463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0"/>
              <a:buFont typeface="Georgia"/>
              <a:buNone/>
            </a:pPr>
            <a:r>
              <a:rPr lang="en-US" sz="10000" b="1">
                <a:solidFill>
                  <a:srgbClr val="FFFFFF"/>
                </a:solidFill>
                <a:latin typeface="Georgia"/>
                <a:ea typeface="Georgia"/>
                <a:cs typeface="Georgia"/>
                <a:sym typeface="Georgia"/>
              </a:rPr>
              <a:t>GRACIAS</a:t>
            </a:r>
            <a:endParaRPr sz="10000">
              <a:solidFill>
                <a:schemeClr val="dk1"/>
              </a:solidFill>
              <a:latin typeface="Calibri"/>
              <a:ea typeface="Calibri"/>
              <a:cs typeface="Calibri"/>
              <a:sym typeface="Calibri"/>
            </a:endParaRPr>
          </a:p>
        </p:txBody>
      </p:sp>
      <p:cxnSp>
        <p:nvCxnSpPr>
          <p:cNvPr id="884" name="Google Shape;884;p28"/>
          <p:cNvCxnSpPr/>
          <p:nvPr/>
        </p:nvCxnSpPr>
        <p:spPr>
          <a:xfrm>
            <a:off x="5532120" y="3749040"/>
            <a:ext cx="1097280" cy="0"/>
          </a:xfrm>
          <a:prstGeom prst="straightConnector1">
            <a:avLst/>
          </a:prstGeom>
          <a:noFill/>
          <a:ln w="38100" cap="flat" cmpd="sng">
            <a:solidFill>
              <a:srgbClr val="E8963C"/>
            </a:solidFill>
            <a:prstDash val="solid"/>
            <a:round/>
            <a:headEnd type="none" w="sm" len="sm"/>
            <a:tailEnd type="none" w="sm" len="sm"/>
          </a:ln>
        </p:spPr>
      </p:cxnSp>
      <p:sp>
        <p:nvSpPr>
          <p:cNvPr id="885" name="Google Shape;885;p28"/>
          <p:cNvSpPr/>
          <p:nvPr/>
        </p:nvSpPr>
        <p:spPr>
          <a:xfrm>
            <a:off x="457200" y="3840480"/>
            <a:ext cx="1127455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8963C"/>
              </a:buClr>
              <a:buSzPts val="2600"/>
              <a:buFont typeface="Georgia"/>
              <a:buNone/>
            </a:pPr>
            <a:r>
              <a:rPr lang="en-US" sz="2600" i="1">
                <a:solidFill>
                  <a:srgbClr val="E8963C"/>
                </a:solidFill>
                <a:latin typeface="Georgia"/>
                <a:ea typeface="Georgia"/>
                <a:cs typeface="Georgia"/>
                <a:sym typeface="Georgia"/>
              </a:rPr>
              <a:t>¿Preguntas?</a:t>
            </a:r>
            <a:endParaRPr sz="2600">
              <a:solidFill>
                <a:schemeClr val="dk1"/>
              </a:solidFill>
              <a:latin typeface="Calibri"/>
              <a:ea typeface="Calibri"/>
              <a:cs typeface="Calibri"/>
              <a:sym typeface="Calibri"/>
            </a:endParaRPr>
          </a:p>
        </p:txBody>
      </p:sp>
      <p:sp>
        <p:nvSpPr>
          <p:cNvPr id="886" name="Google Shape;886;p28"/>
          <p:cNvSpPr/>
          <p:nvPr/>
        </p:nvSpPr>
        <p:spPr>
          <a:xfrm>
            <a:off x="457200" y="5029200"/>
            <a:ext cx="11274552"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a:solidFill>
                  <a:srgbClr val="FFFFFF"/>
                </a:solidFill>
                <a:latin typeface="Calibri"/>
                <a:ea typeface="Calibri"/>
                <a:cs typeface="Calibri"/>
                <a:sym typeface="Calibri"/>
              </a:rPr>
              <a:t>Sistema de Gestión de Inventario y Facturas   •   Minimarket Antucayen</a:t>
            </a:r>
            <a:endParaRPr sz="1400">
              <a:solidFill>
                <a:schemeClr val="dk1"/>
              </a:solidFill>
              <a:latin typeface="Calibri"/>
              <a:ea typeface="Calibri"/>
              <a:cs typeface="Calibri"/>
              <a:sym typeface="Calibri"/>
            </a:endParaRPr>
          </a:p>
        </p:txBody>
      </p:sp>
      <p:sp>
        <p:nvSpPr>
          <p:cNvPr id="887" name="Google Shape;887;p28"/>
          <p:cNvSpPr/>
          <p:nvPr/>
        </p:nvSpPr>
        <p:spPr>
          <a:xfrm>
            <a:off x="457200" y="5394960"/>
            <a:ext cx="11274552"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9D6D0"/>
              </a:buClr>
              <a:buSzPts val="1200"/>
              <a:buFont typeface="Calibri"/>
              <a:buNone/>
            </a:pPr>
            <a:r>
              <a:rPr lang="en-US" sz="1200">
                <a:solidFill>
                  <a:srgbClr val="C9D6D0"/>
                </a:solidFill>
                <a:latin typeface="Calibri"/>
                <a:ea typeface="Calibri"/>
                <a:cs typeface="Calibri"/>
                <a:sym typeface="Calibri"/>
              </a:rPr>
              <a:t>Grupo 20   •   Ingeniería de Software I   •   Universidad Andrés Bello   •   2026</a:t>
            </a:r>
            <a:endParaRPr sz="1200">
              <a:solidFill>
                <a:schemeClr val="dk1"/>
              </a:solidFill>
              <a:latin typeface="Calibri"/>
              <a:ea typeface="Calibri"/>
              <a:cs typeface="Calibri"/>
              <a:sym typeface="Calibri"/>
            </a:endParaRPr>
          </a:p>
        </p:txBody>
      </p:sp>
      <p:sp>
        <p:nvSpPr>
          <p:cNvPr id="888" name="Google Shape;888;p28"/>
          <p:cNvSpPr/>
          <p:nvPr/>
        </p:nvSpPr>
        <p:spPr>
          <a:xfrm>
            <a:off x="457200" y="6035040"/>
            <a:ext cx="11274552" cy="320040"/>
          </a:xfrm>
          <a:prstGeom prst="rect">
            <a:avLst/>
          </a:prstGeom>
          <a:noFill/>
          <a:ln>
            <a:noFill/>
          </a:ln>
        </p:spPr>
        <p:txBody>
          <a:bodyPr spcFirstLastPara="1" wrap="square" lIns="91425" tIns="45700" rIns="91425" bIns="45700" anchor="ctr" anchorCtr="0">
            <a:noAutofit/>
          </a:bodyPr>
          <a:lstStyle/>
          <a:p>
            <a:pPr algn="ctr">
              <a:buClr>
                <a:srgbClr val="C9D6D0"/>
              </a:buClr>
              <a:buSzPts val="1100"/>
            </a:pPr>
            <a:r>
              <a:rPr lang="en-US" sz="1100" i="1">
                <a:solidFill>
                  <a:srgbClr val="C9D6D0"/>
                </a:solidFill>
                <a:latin typeface="Georgia"/>
                <a:ea typeface="Georgia"/>
                <a:cs typeface="Georgia"/>
                <a:sym typeface="Georgia"/>
              </a:rPr>
              <a:t>Felipe Salas (JP)  ·  Matías Ale  ·  Fabián Gómez  ·  Erick Hernández  ·  Nicolás López  · Cristobal Osorio ·  Diego Lobos</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28</Slides>
  <Notes>28</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Grupo 20</dc:creator>
  <cp:revision>4</cp:revision>
  <dcterms:created xsi:type="dcterms:W3CDTF">2026-04-26T00:25:09Z</dcterms:created>
  <dcterms:modified xsi:type="dcterms:W3CDTF">2026-09-25T04:10:34Z</dcterms:modified>
</cp:coreProperties>
</file>