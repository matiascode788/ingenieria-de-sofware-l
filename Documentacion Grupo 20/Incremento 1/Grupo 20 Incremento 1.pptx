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hmjyo9NTnBVXNix6CK0lPO2zSV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190D1-C94E-1DD5-5CEE-0448DC5E64E2}" v="5" dt="2026-09-23T23:53:48.270"/>
    <p1510:client id="{C0191220-CEAF-E3A6-AD3C-EEAE5B1702DE}" v="18" dt="2026-09-25T04:16:31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ORIO RIQUELME CRISTOBAL A" userId="S::c.osorioriquelme@uandresbello.edu::8825b92d-bffb-4c70-9f71-df0b4be0989f" providerId="AD" clId="Web-{0A2190D1-C94E-1DD5-5CEE-0448DC5E64E2}"/>
    <pc:docChg chg="modSld">
      <pc:chgData name="OSORIO RIQUELME CRISTOBAL A" userId="S::c.osorioriquelme@uandresbello.edu::8825b92d-bffb-4c70-9f71-df0b4be0989f" providerId="AD" clId="Web-{0A2190D1-C94E-1DD5-5CEE-0448DC5E64E2}" dt="2026-09-23T23:53:47.552" v="2" actId="20577"/>
      <pc:docMkLst>
        <pc:docMk/>
      </pc:docMkLst>
      <pc:sldChg chg="modSp">
        <pc:chgData name="OSORIO RIQUELME CRISTOBAL A" userId="S::c.osorioriquelme@uandresbello.edu::8825b92d-bffb-4c70-9f71-df0b4be0989f" providerId="AD" clId="Web-{0A2190D1-C94E-1DD5-5CEE-0448DC5E64E2}" dt="2026-09-23T23:53:47.552" v="2" actId="20577"/>
        <pc:sldMkLst>
          <pc:docMk/>
          <pc:sldMk cId="0" sldId="260"/>
        </pc:sldMkLst>
        <pc:spChg chg="mod">
          <ac:chgData name="OSORIO RIQUELME CRISTOBAL A" userId="S::c.osorioriquelme@uandresbello.edu::8825b92d-bffb-4c70-9f71-df0b4be0989f" providerId="AD" clId="Web-{0A2190D1-C94E-1DD5-5CEE-0448DC5E64E2}" dt="2026-09-23T23:53:33.426" v="0" actId="20577"/>
          <ac:spMkLst>
            <pc:docMk/>
            <pc:sldMk cId="0" sldId="260"/>
            <ac:spMk id="173" creationId="{00000000-0000-0000-0000-000000000000}"/>
          </ac:spMkLst>
        </pc:spChg>
        <pc:spChg chg="mod">
          <ac:chgData name="OSORIO RIQUELME CRISTOBAL A" userId="S::c.osorioriquelme@uandresbello.edu::8825b92d-bffb-4c70-9f71-df0b4be0989f" providerId="AD" clId="Web-{0A2190D1-C94E-1DD5-5CEE-0448DC5E64E2}" dt="2026-09-23T23:53:47.552" v="2" actId="20577"/>
          <ac:spMkLst>
            <pc:docMk/>
            <pc:sldMk cId="0" sldId="260"/>
            <ac:spMk id="183" creationId="{00000000-0000-0000-0000-000000000000}"/>
          </ac:spMkLst>
        </pc:spChg>
      </pc:sldChg>
    </pc:docChg>
  </pc:docChgLst>
  <pc:docChgLst>
    <pc:chgData name="OSORIO RIQUELME CRISTOBAL A" userId="S::c.osorioriquelme@uandresbello.edu::8825b92d-bffb-4c70-9f71-df0b4be0989f" providerId="AD" clId="Web-{B221A9BD-FCE5-5675-4611-D0D93358185A}"/>
    <pc:docChg chg="modSld">
      <pc:chgData name="OSORIO RIQUELME CRISTOBAL A" userId="S::c.osorioriquelme@uandresbello.edu::8825b92d-bffb-4c70-9f71-df0b4be0989f" providerId="AD" clId="Web-{B221A9BD-FCE5-5675-4611-D0D93358185A}" dt="2026-09-12T21:39:11.043" v="23" actId="20577"/>
      <pc:docMkLst>
        <pc:docMk/>
      </pc:docMkLst>
      <pc:sldChg chg="modSp">
        <pc:chgData name="OSORIO RIQUELME CRISTOBAL A" userId="S::c.osorioriquelme@uandresbello.edu::8825b92d-bffb-4c70-9f71-df0b4be0989f" providerId="AD" clId="Web-{B221A9BD-FCE5-5675-4611-D0D93358185A}" dt="2026-09-12T21:39:11.043" v="23" actId="20577"/>
        <pc:sldMkLst>
          <pc:docMk/>
          <pc:sldMk cId="0" sldId="263"/>
        </pc:sldMkLst>
        <pc:spChg chg="mod">
          <ac:chgData name="OSORIO RIQUELME CRISTOBAL A" userId="S::c.osorioriquelme@uandresbello.edu::8825b92d-bffb-4c70-9f71-df0b4be0989f" providerId="AD" clId="Web-{B221A9BD-FCE5-5675-4611-D0D93358185A}" dt="2026-09-12T21:39:11.043" v="23" actId="20577"/>
          <ac:spMkLst>
            <pc:docMk/>
            <pc:sldMk cId="0" sldId="263"/>
            <ac:spMk id="306" creationId="{00000000-0000-0000-0000-000000000000}"/>
          </ac:spMkLst>
        </pc:spChg>
      </pc:sldChg>
    </pc:docChg>
  </pc:docChgLst>
  <pc:docChgLst>
    <pc:chgData name="HERNÁNDEZ LEIVA ERICK D" userId="S::e.hernndezleiva@uandresbello.edu::9c5b8259-4361-4a22-8228-673ea94f99ad" providerId="AD" clId="Web-{C0191220-CEAF-E3A6-AD3C-EEAE5B1702DE}"/>
    <pc:docChg chg="modSld">
      <pc:chgData name="HERNÁNDEZ LEIVA ERICK D" userId="S::e.hernndezleiva@uandresbello.edu::9c5b8259-4361-4a22-8228-673ea94f99ad" providerId="AD" clId="Web-{C0191220-CEAF-E3A6-AD3C-EEAE5B1702DE}" dt="2026-09-25T04:16:29.739" v="14" actId="20577"/>
      <pc:docMkLst>
        <pc:docMk/>
      </pc:docMkLst>
      <pc:sldChg chg="modSp">
        <pc:chgData name="HERNÁNDEZ LEIVA ERICK D" userId="S::e.hernndezleiva@uandresbello.edu::9c5b8259-4361-4a22-8228-673ea94f99ad" providerId="AD" clId="Web-{C0191220-CEAF-E3A6-AD3C-EEAE5B1702DE}" dt="2026-09-25T04:15:35.221" v="3" actId="20577"/>
        <pc:sldMkLst>
          <pc:docMk/>
          <pc:sldMk cId="0" sldId="258"/>
        </pc:sldMkLst>
        <pc:spChg chg="mod">
          <ac:chgData name="HERNÁNDEZ LEIVA ERICK D" userId="S::e.hernndezleiva@uandresbello.edu::9c5b8259-4361-4a22-8228-673ea94f99ad" providerId="AD" clId="Web-{C0191220-CEAF-E3A6-AD3C-EEAE5B1702DE}" dt="2026-09-25T04:15:35.221" v="3" actId="20577"/>
          <ac:spMkLst>
            <pc:docMk/>
            <pc:sldMk cId="0" sldId="258"/>
            <ac:spMk id="104" creationId="{00000000-0000-0000-0000-000000000000}"/>
          </ac:spMkLst>
        </pc:spChg>
      </pc:sldChg>
      <pc:sldChg chg="modSp">
        <pc:chgData name="HERNÁNDEZ LEIVA ERICK D" userId="S::e.hernndezleiva@uandresbello.edu::9c5b8259-4361-4a22-8228-673ea94f99ad" providerId="AD" clId="Web-{C0191220-CEAF-E3A6-AD3C-EEAE5B1702DE}" dt="2026-09-25T04:16:29.739" v="14" actId="20577"/>
        <pc:sldMkLst>
          <pc:docMk/>
          <pc:sldMk cId="0" sldId="260"/>
        </pc:sldMkLst>
        <pc:spChg chg="mod">
          <ac:chgData name="HERNÁNDEZ LEIVA ERICK D" userId="S::e.hernndezleiva@uandresbello.edu::9c5b8259-4361-4a22-8228-673ea94f99ad" providerId="AD" clId="Web-{C0191220-CEAF-E3A6-AD3C-EEAE5B1702DE}" dt="2026-09-25T04:16:11.066" v="8" actId="20577"/>
          <ac:spMkLst>
            <pc:docMk/>
            <pc:sldMk cId="0" sldId="260"/>
            <ac:spMk id="170" creationId="{00000000-0000-0000-0000-000000000000}"/>
          </ac:spMkLst>
        </pc:spChg>
        <pc:spChg chg="mod">
          <ac:chgData name="HERNÁNDEZ LEIVA ERICK D" userId="S::e.hernndezleiva@uandresbello.edu::9c5b8259-4361-4a22-8228-673ea94f99ad" providerId="AD" clId="Web-{C0191220-CEAF-E3A6-AD3C-EEAE5B1702DE}" dt="2026-09-25T04:16:16.957" v="11" actId="20577"/>
          <ac:spMkLst>
            <pc:docMk/>
            <pc:sldMk cId="0" sldId="260"/>
            <ac:spMk id="176" creationId="{00000000-0000-0000-0000-000000000000}"/>
          </ac:spMkLst>
        </pc:spChg>
        <pc:spChg chg="mod">
          <ac:chgData name="HERNÁNDEZ LEIVA ERICK D" userId="S::e.hernndezleiva@uandresbello.edu::9c5b8259-4361-4a22-8228-673ea94f99ad" providerId="AD" clId="Web-{C0191220-CEAF-E3A6-AD3C-EEAE5B1702DE}" dt="2026-09-25T04:16:29.739" v="14" actId="20577"/>
          <ac:spMkLst>
            <pc:docMk/>
            <pc:sldMk cId="0" sldId="260"/>
            <ac:spMk id="18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Backlog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A0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8A-457B-BDA0-E6C4F9C5C468}"/>
              </c:ext>
            </c:extLst>
          </c:dPt>
          <c:dPt>
            <c:idx val="1"/>
            <c:bubble3D val="0"/>
            <c:spPr>
              <a:solidFill>
                <a:srgbClr val="E5E7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8A-457B-BDA0-E6C4F9C5C468}"/>
              </c:ext>
            </c:extLst>
          </c:dPt>
          <c:cat>
            <c:strRef>
              <c:f>Sheet1!$A$2:$A$3</c:f>
              <c:strCache>
                <c:ptCount val="2"/>
                <c:pt idx="0">
                  <c:v>Incremento 1</c:v>
                </c:pt>
                <c:pt idx="1">
                  <c:v>Restantes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8A-457B-BDA0-E6C4F9C5C4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7" name="Google Shape;54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9" name="Google Shape;55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5" name="Google Shape;64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5" name="Google Shape;68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7" name="Google Shape;72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2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686800" y="-1828800"/>
            <a:ext cx="6858000" cy="6858000"/>
          </a:xfrm>
          <a:prstGeom prst="ellipse">
            <a:avLst/>
          </a:prstGeom>
          <a:solidFill>
            <a:srgbClr val="143025"/>
          </a:solidFill>
          <a:ln w="12700" cap="flat" cmpd="sng">
            <a:solidFill>
              <a:srgbClr val="1430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601200" y="3200400"/>
            <a:ext cx="5029200" cy="5029200"/>
          </a:xfrm>
          <a:prstGeom prst="ellipse">
            <a:avLst/>
          </a:prstGeom>
          <a:solidFill>
            <a:srgbClr val="A88444"/>
          </a:solidFill>
          <a:ln w="12700" cap="flat" cmpd="sng">
            <a:solidFill>
              <a:srgbClr val="A88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1" descr="/home/claude/inc1_build/unab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4114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554480" y="5029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UNIVERSIDAD ANDRÉS BELLO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554480" y="8686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Facultad de Ingeniería   •   Ingeniería de Software 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1874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INCREMENTO 1   •   ENTREGA SCRUM++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23317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Georgia"/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Sistema de Gestión de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30632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Georgia"/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Inventario y Facturas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3931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3200"/>
              <a:buFont typeface="Georgia"/>
              <a:buNone/>
            </a:pPr>
            <a:r>
              <a:rPr lang="en-US" sz="3200" b="0" i="1" u="none" strike="noStrike" cap="none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Minimarket Antucayen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0080" y="4800600"/>
            <a:ext cx="45720" cy="137160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22960" y="4800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22955" y="5120650"/>
            <a:ext cx="17487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Matías Ale Guajardo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Fabián Gómez Díaz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Erick Hernández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Diego Lobos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708797" y="5120650"/>
            <a:ext cx="180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Nicolás Isaac López Tapia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Cristóbal Osorio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Felipe Salas Ortiz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132320" y="5120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Profesor:  Paulo Quinsacara Jofré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132320" y="5440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Asignatura:  Ingeniería de Software II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132320" y="5760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Fecha de entrega:  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de 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agosto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132320" y="61264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Santiago, Chile   •   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400"/>
              <a:buFont typeface="Georgia"/>
              <a:buNone/>
            </a:pPr>
            <a:r>
              <a:rPr lang="en-US" sz="4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Contenidos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Recorrido de la presentación del Primer Incremento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182880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85800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85800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Contexto del proyecto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85800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Problemática · Doc 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770632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770632" y="182880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999232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999232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Propuesta de solución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999232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Arquitectura MVC · Java + Spring Boot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084064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084064" y="182880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312664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312664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Alcance del Incremento 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312664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Cobertura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% · 24 URs </a:t>
            </a:r>
            <a:r>
              <a:rPr lang="en-US" sz="1000" b="0" i="0" u="none" strike="noStrike" cap="none" dirty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prioridad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397496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397496" y="182880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626096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626096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Casos de uso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626096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CU-01 · CU-04 · CU-05 en gerundio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710928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710928" y="182880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9939528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9939528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Vistas arquitectónicas 4+1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9939528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Externa · Lógica · Procesos · Desarrollo · Física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57200" y="416052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85800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85800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Matriz de trazabilidad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85800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UR ↔ CU ↔ Diagrama ↔ Prueba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2770632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2770632" y="416052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999232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2999232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Diagrama de secuencia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2999232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Vista de Procesos · Figura 4.4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084064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084064" y="416052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312664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312664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Pruebas unitarias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312664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20 PASS · 0 FAIL · Tablas 5.1-5.3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7397496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7397496" y="416052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626096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7626096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Traza Scrum++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7626096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Daily · Review · Retrospective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9710928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9710928" y="416052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9939528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9939528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Demostración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9939528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Sistema funcional en vivo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Minimarket Antucayen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1. Contexto del proyecto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n-US" sz="1600" b="0" i="1" u="none" strike="noStrike" cap="none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Problemática diagnosticada en el Documento 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Doc 0 · §1-§2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7200" y="1828800"/>
            <a:ext cx="5943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Minimarket Antucayen opera con dotación reducida. Sus procesos administrativos se gestionan con planillas físicas y archivos Excel no estructurados.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57200" y="2788920"/>
            <a:ext cx="5943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Esto genera pérdidas de tiempo, errores en la cuadratura de inventario y ausencia de trazabilidad de los movimientos de mercadería.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57200" y="4023360"/>
            <a:ext cx="1874520" cy="14630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57200" y="41148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5200"/>
              <a:buFont typeface="Georgia"/>
              <a:buNone/>
            </a:pPr>
            <a:r>
              <a:rPr lang="en-US" sz="5200" b="1" dirty="0">
                <a:solidFill>
                  <a:srgbClr val="C2A063"/>
                </a:solidFill>
                <a:latin typeface="Georgia"/>
                <a:ea typeface="Calibri"/>
                <a:cs typeface="Calibri"/>
                <a:sym typeface="Georgia"/>
              </a:rPr>
              <a:t>72</a:t>
            </a:r>
            <a:endParaRPr lang="en-US" sz="5200" b="1" i="0" u="none" strike="noStrike" cap="none" dirty="0">
              <a:solidFill>
                <a:srgbClr val="C2A063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57200" y="48920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funcionales totales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2468880" y="4023360"/>
            <a:ext cx="1874520" cy="14630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468880" y="41148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5200"/>
              <a:buFont typeface="Georgia"/>
              <a:buNone/>
            </a:pPr>
            <a:r>
              <a:rPr lang="en-US" sz="5200" b="1" i="0" u="none" strike="noStrike" cap="none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24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468880" y="48920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URs prioridad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el Incremento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480560" y="4023360"/>
            <a:ext cx="1874520" cy="14630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480560" y="41148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5200"/>
              <a:buFont typeface="Georgia"/>
              <a:buNone/>
            </a:pPr>
            <a:r>
              <a:rPr lang="en-US" sz="5200" b="1" i="0" u="none" strike="noStrike" cap="none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480560" y="48920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Actores definidos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el sistema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Minimarket Antucayen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2. Propuesta de solución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n-US" sz="1600" b="0" i="1" u="none" strike="noStrike" cap="none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Arquitectura MVC desacoplada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 1 · §2.1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Aplicación de escritorio Java Swing sobre patrón MVC con tres capas. Backend Spring Boot 3.x con Spring Data JPA y base de datos MySQL 8.0 local.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2377440"/>
            <a:ext cx="3703320" cy="365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2377440"/>
            <a:ext cx="3703320" cy="118872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31520" y="256032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CAPA DE PRESENTACIÓN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31520" y="283464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Vista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31520" y="32918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B8D4C7"/>
                </a:solidFill>
                <a:latin typeface="Georgia"/>
                <a:ea typeface="Georgia"/>
                <a:cs typeface="Georgia"/>
                <a:sym typeface="Georgia"/>
              </a:rPr>
              <a:t>Java Swing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77240" y="384048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143000" y="379476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JFrame y JDialog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777240" y="448056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143000" y="443484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Validación mínima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77240" y="512064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143000" y="5074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Eventos delegados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279392" y="2377440"/>
            <a:ext cx="3703320" cy="365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279392" y="2377440"/>
            <a:ext cx="3703320" cy="118872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553712" y="256032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CAPA DE NEGOCIO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553712" y="283464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Controlador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553712" y="32918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B8D4C7"/>
                </a:solidFill>
                <a:latin typeface="Georgia"/>
                <a:ea typeface="Georgia"/>
                <a:cs typeface="Georgia"/>
                <a:sym typeface="Georgia"/>
              </a:rPr>
              <a:t>Spring Boot 3.x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599432" y="384048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965192" y="379476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Endpoints REST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599432" y="448056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965192" y="443484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Servicios de negocio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599432" y="512064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965192" y="5074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Spring Data JPA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8101584" y="2377440"/>
            <a:ext cx="3703320" cy="365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8101584" y="2377440"/>
            <a:ext cx="3703320" cy="118872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8375904" y="256032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CAPA DE DATOS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8375904" y="283464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Modelo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8375904" y="32918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B8D4C7"/>
                </a:solidFill>
                <a:latin typeface="Georgia"/>
                <a:ea typeface="Georgia"/>
                <a:cs typeface="Georgia"/>
                <a:sym typeface="Georgia"/>
              </a:rPr>
              <a:t>MySQL 8.0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8421624" y="384048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8787384" y="379476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11 entidades persistentes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8421624" y="448056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8787384" y="443484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Integridad referencial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8421624" y="512064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8787384" y="5074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Respaldo diario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Minimarket Antucayen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3. Alcance del Incremento 1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n-US" sz="1600" b="0" i="1" u="none" strike="noStrike" cap="none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Cobertura sobre el backlog total del proyecto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 1 · §2.2-§2.3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40080" y="20574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COBERTURA DEL BACKLOG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32619" y="2606040"/>
            <a:ext cx="522810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4000"/>
            </a:pPr>
            <a:r>
              <a:rPr lang="en-US" sz="9600" b="1" dirty="0">
                <a:solidFill>
                  <a:srgbClr val="FFFFFF"/>
                </a:solidFill>
                <a:latin typeface="Georgia"/>
                <a:ea typeface="Calibri"/>
                <a:cs typeface="Calibri"/>
                <a:sym typeface="Georgia"/>
              </a:rPr>
              <a:t>33,3</a:t>
            </a:r>
            <a:r>
              <a:rPr lang="en-US" sz="9600" b="1" i="0" u="none" strike="noStrike" cap="none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%</a:t>
            </a:r>
            <a:endParaRPr lang="en-US" sz="9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>
            <a:off x="1828800" y="4617720"/>
            <a:ext cx="2743200" cy="0"/>
          </a:xfrm>
          <a:prstGeom prst="straightConnector1">
            <a:avLst/>
          </a:prstGeom>
          <a:noFill/>
          <a:ln w="1905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5"/>
          <p:cNvSpPr/>
          <p:nvPr/>
        </p:nvSpPr>
        <p:spPr>
          <a:xfrm>
            <a:off x="640080" y="480060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B8D4C7"/>
                </a:solidFill>
                <a:latin typeface="Georgia"/>
                <a:ea typeface="Georgia"/>
                <a:cs typeface="Georgia"/>
                <a:sym typeface="Georgia"/>
              </a:rPr>
              <a:t>Sobre el mínimo del 30 % exigido por la rúbrica para el primer incremento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40080" y="5669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de 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63 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URs · 1 al 14 de </a:t>
            </a:r>
            <a:r>
              <a:rPr lang="en-US" sz="12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junio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2026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Desglose por incremento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5"/>
          <p:cNvGraphicFramePr/>
          <p:nvPr/>
        </p:nvGraphicFramePr>
        <p:xfrm>
          <a:off x="6126480" y="2194560"/>
          <a:ext cx="3383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6" name="Google Shape;176;p5"/>
          <p:cNvSpPr/>
          <p:nvPr/>
        </p:nvSpPr>
        <p:spPr>
          <a:xfrm>
            <a:off x="6949440" y="329184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2800"/>
              <a:buFont typeface="Georgia"/>
              <a:buNone/>
            </a:pPr>
            <a:r>
              <a:rPr lang="en-US" sz="2800" b="1" dirty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33,3</a:t>
            </a:r>
            <a:r>
              <a:rPr lang="en-US" sz="2800" b="1" i="0" u="none" strike="noStrike" cap="none" dirty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 %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949440" y="37947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Inc.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309360" y="5586984"/>
            <a:ext cx="228600" cy="228600"/>
          </a:xfrm>
          <a:prstGeom prst="ellipse">
            <a:avLst/>
          </a:prstGeom>
          <a:solidFill>
            <a:srgbClr val="C2A063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629400" y="55321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Incremento 1 (actual)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9784080" y="5532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1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24 URs · </a:t>
            </a:r>
            <a:r>
              <a:rPr lang="en-US" sz="1100" i="1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r>
              <a:rPr lang="en-US" sz="1100" b="0" i="1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309360" y="5952744"/>
            <a:ext cx="228600" cy="228600"/>
          </a:xfrm>
          <a:prstGeom prst="ellipse">
            <a:avLst/>
          </a:prstGeom>
          <a:solidFill>
            <a:srgbClr val="E5E7E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629400" y="5897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Próximos incrementos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9784080" y="58978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i="1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r>
              <a:rPr lang="en-US" sz="1100" b="0" i="1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URs · 66 %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309360" y="6080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CU-01 </a:t>
            </a: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Productos     </a:t>
            </a:r>
            <a:r>
              <a:rPr lang="en-US" sz="1100" b="0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lang="en-US" sz="1100" b="1" i="0" u="none" strike="noStrike" cap="none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CU-04 </a:t>
            </a: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Autenticación     </a:t>
            </a:r>
            <a:r>
              <a:rPr lang="en-US" sz="1100" b="0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lang="en-US" sz="1100" b="1" i="0" u="none" strike="noStrike" cap="none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CU-05 </a:t>
            </a: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Ajuste Inventario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Minimarket Antucayen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4. Casos de uso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n-US" sz="1600" b="0" i="1" u="none" strike="noStrike" cap="none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Tres casos extendidos · 24 URs del Incremento 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 1 · §2.4 · Tabla 2.3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57200" y="1783080"/>
            <a:ext cx="11247120" cy="1325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57200" y="1783080"/>
            <a:ext cx="109728" cy="1325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777240" y="19202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CU-01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286000" y="196596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Registrando Productos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9692640" y="198424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RF-01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77240" y="2468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Crea el catálogo unificado de productos con SKU único, código de barras, unidad de medida y stock inicial. 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9692640" y="25603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Actor: Administrador y Bodeguero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57200" y="3291840"/>
            <a:ext cx="11247120" cy="1325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3291840"/>
            <a:ext cx="109728" cy="1325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777240" y="34290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CU-27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2286000" y="347472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Importando Archivo Excel de Ajuste de Inventario</a:t>
            </a:r>
            <a:endParaRPr sz="1800" b="1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9683496" y="3532293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RF-31-RF-33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RF-38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RF-40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RF-42-RF43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RF-48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777240" y="397764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Permite importar un archivo Excel, validar su estructura, previsualizar los cambios, confirmar el ajuste, actualizar el stock y registrar el historial de modificaciones.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9692640" y="40690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Actor: Administrador y Bodeguero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57200" y="4800600"/>
            <a:ext cx="11247120" cy="1325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57200" y="4800600"/>
            <a:ext cx="109728" cy="1325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777240" y="4937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CU-35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2286000" y="498348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Controlando Acceso Mediante Credenciales </a:t>
            </a:r>
            <a:endParaRPr sz="1800" b="1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9692613" y="4901161"/>
            <a:ext cx="1920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RF-62-RF-63</a:t>
            </a:r>
            <a:endParaRPr sz="1100" b="0" i="1" u="none" strike="noStrike" cap="non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endParaRPr sz="1100" b="0" i="1" u="none" strike="noStrike" cap="non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777240" y="54864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Autentica a los usuarios y restringe las funcionalidades según su perfil, asegurando que solo el personal autorizado pueda realizar acciones críticas dentro del sistema.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9692640" y="55778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Actor: Administrador, Bodeguero y Cajero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Minimarket Antucayen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5. Vistas arquitectónicas 4+1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n-US" sz="1600" b="0" i="1" u="none" strike="noStrike" cap="none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Modelo de Kruchten · cinco vistas complementarias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 1 · §4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57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57200" y="1783080"/>
            <a:ext cx="73152" cy="2468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85800" y="19659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§4.1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143000" y="2423160"/>
            <a:ext cx="777240" cy="777240"/>
          </a:xfrm>
          <a:prstGeom prst="ellipse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1143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U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94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Vista Externa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94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94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 4.1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2743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2743200" y="1783080"/>
            <a:ext cx="73152" cy="2468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971800" y="19659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§4.2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3429000" y="2423160"/>
            <a:ext cx="777240" cy="777240"/>
          </a:xfrm>
          <a:prstGeom prst="ellipse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429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2880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Vista Lógica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880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Clases + MERE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2880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Figuras 4.2 y 4.3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029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029200" y="1783080"/>
            <a:ext cx="73152" cy="2468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257800" y="19659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§4.3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715000" y="2423160"/>
            <a:ext cx="777240" cy="777240"/>
          </a:xfrm>
          <a:prstGeom prst="ellipse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715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166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Vista de Procesos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5166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Diagrama de Secuencia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166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 4.4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7315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7315200" y="1783080"/>
            <a:ext cx="73152" cy="2468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7543800" y="19659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§4.4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8001000" y="2423160"/>
            <a:ext cx="777240" cy="777240"/>
          </a:xfrm>
          <a:prstGeom prst="ellipse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8001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7452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Vista de Desarrollo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7452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7452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 4.5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9601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9601200" y="1783080"/>
            <a:ext cx="73152" cy="2468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9829800" y="19659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§4.5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10287000" y="2423160"/>
            <a:ext cx="777240" cy="777240"/>
          </a:xfrm>
          <a:prstGeom prst="ellipse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10287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9738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Vista Física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9738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9738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 4.6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57200" y="4434840"/>
            <a:ext cx="11247120" cy="17830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57200" y="4434840"/>
            <a:ext cx="109728" cy="178308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777240" y="45720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FOCO DE ESTA PRESENTACIÓN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777240" y="49377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Vista de Procesos · §4.3 · Figura 4.4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777240" y="54864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Los tres diagramas de secuencia (DS-01, DS-27 y DS-35) muestran cómo los objetos colaboran a través de las capas MVC para los tres bloques funcionales del incremento.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Minimarket Antucayen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5"/>
          <p:cNvSpPr txBox="1"/>
          <p:nvPr/>
        </p:nvSpPr>
        <p:spPr>
          <a:xfrm>
            <a:off x="502920" y="27432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1F4133"/>
                </a:solidFill>
                <a:latin typeface="Georgia"/>
                <a:ea typeface="Georgia"/>
                <a:cs typeface="Georgia"/>
                <a:sym typeface="Georgia"/>
              </a:rPr>
              <a:t>5.1. Vista Externa · Casos de Uso</a:t>
            </a:r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502920" y="96012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u="none" strike="noStrike" cap="none">
                <a:solidFill>
                  <a:srgbClr val="3C4640"/>
                </a:solidFill>
                <a:latin typeface="Georgia"/>
                <a:ea typeface="Georgia"/>
                <a:cs typeface="Georgia"/>
                <a:sym typeface="Georgia"/>
              </a:rPr>
              <a:t>Figura 4.1 · 3 actores · 35 CUs atómicos · representativos del Incremento 1</a:t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9921240" y="320040"/>
            <a:ext cx="1920240" cy="502920"/>
          </a:xfrm>
          <a:prstGeom prst="rect">
            <a:avLst/>
          </a:prstGeom>
          <a:solidFill>
            <a:srgbClr val="F5F0E1"/>
          </a:solidFill>
          <a:ln w="12700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5"/>
          <p:cNvSpPr txBox="1"/>
          <p:nvPr/>
        </p:nvSpPr>
        <p:spPr>
          <a:xfrm>
            <a:off x="9921240" y="3200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Inc 1 · §4.1</a:t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3840480" y="1691640"/>
            <a:ext cx="6858000" cy="4206240"/>
          </a:xfrm>
          <a:prstGeom prst="rect">
            <a:avLst/>
          </a:prstGeom>
          <a:solidFill>
            <a:srgbClr val="FEFEFD"/>
          </a:solidFill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3840480" y="164592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F4133"/>
                </a:solidFill>
                <a:latin typeface="Georgia"/>
                <a:ea typeface="Georgia"/>
                <a:cs typeface="Georgia"/>
                <a:sym typeface="Georgia"/>
              </a:rPr>
              <a:t>Sistema de Gestión de Inventario y Facturas</a:t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5303520" y="2168487"/>
            <a:ext cx="2011680" cy="777240"/>
          </a:xfrm>
          <a:prstGeom prst="ellipse">
            <a:avLst/>
          </a:prstGeom>
          <a:solidFill>
            <a:srgbClr val="2E5530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6028032" y="2288065"/>
            <a:ext cx="562655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CU-01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Registrando</a:t>
            </a:r>
            <a:b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Productos</a:t>
            </a:r>
            <a:endParaRPr/>
          </a:p>
        </p:txBody>
      </p:sp>
      <p:sp>
        <p:nvSpPr>
          <p:cNvPr id="288" name="Google Shape;288;p15"/>
          <p:cNvSpPr txBox="1"/>
          <p:nvPr/>
        </p:nvSpPr>
        <p:spPr>
          <a:xfrm>
            <a:off x="7406640" y="2333005"/>
            <a:ext cx="13716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RF-01 </a:t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5303520" y="3082887"/>
            <a:ext cx="2011680" cy="777240"/>
          </a:xfrm>
          <a:prstGeom prst="ellipse">
            <a:avLst/>
          </a:prstGeom>
          <a:solidFill>
            <a:srgbClr val="2E5530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5623275" y="3211646"/>
            <a:ext cx="1372171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CU-27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Importando Archico Excel de </a:t>
            </a:r>
            <a:b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Ajuste Inventario</a:t>
            </a:r>
            <a:endParaRPr sz="9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7149580" y="3128056"/>
            <a:ext cx="13716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B58A2C"/>
                </a:solidFill>
                <a:latin typeface="Arial"/>
                <a:ea typeface="Arial"/>
                <a:cs typeface="Arial"/>
                <a:sym typeface="Arial"/>
              </a:rPr>
              <a:t>RF-31-RF-33</a:t>
            </a:r>
            <a:endParaRPr sz="900" b="0" i="0" u="none" strike="noStrike" cap="none">
              <a:solidFill>
                <a:srgbClr val="B58A2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B58A2C"/>
                </a:solidFill>
                <a:latin typeface="Arial"/>
                <a:ea typeface="Arial"/>
                <a:cs typeface="Arial"/>
                <a:sym typeface="Arial"/>
              </a:rPr>
              <a:t>RF-38</a:t>
            </a:r>
            <a:endParaRPr sz="900" b="0" i="0" u="none" strike="noStrike" cap="none">
              <a:solidFill>
                <a:srgbClr val="B58A2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B58A2C"/>
                </a:solidFill>
                <a:latin typeface="Arial"/>
                <a:ea typeface="Arial"/>
                <a:cs typeface="Arial"/>
                <a:sym typeface="Arial"/>
              </a:rPr>
              <a:t>RF-40</a:t>
            </a:r>
            <a:endParaRPr sz="900" b="0" i="0" u="none" strike="noStrike" cap="none">
              <a:solidFill>
                <a:srgbClr val="B58A2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B58A2C"/>
                </a:solidFill>
                <a:latin typeface="Arial"/>
                <a:ea typeface="Arial"/>
                <a:cs typeface="Arial"/>
                <a:sym typeface="Arial"/>
              </a:rPr>
              <a:t>RF-42-RF43</a:t>
            </a:r>
            <a:endParaRPr sz="900" b="0" i="0" u="none" strike="noStrike" cap="none">
              <a:solidFill>
                <a:srgbClr val="B58A2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B58A2C"/>
                </a:solidFill>
                <a:latin typeface="Arial"/>
                <a:ea typeface="Arial"/>
                <a:cs typeface="Arial"/>
                <a:sym typeface="Arial"/>
              </a:rPr>
              <a:t>RF-48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5257616" y="4190082"/>
            <a:ext cx="2011680" cy="777240"/>
          </a:xfrm>
          <a:prstGeom prst="ellipse">
            <a:avLst/>
          </a:prstGeom>
          <a:solidFill>
            <a:srgbClr val="2E5530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5602437" y="4300480"/>
            <a:ext cx="14138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CU-35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Controlando</a:t>
            </a:r>
            <a:b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Acceso mediante credenciales</a:t>
            </a:r>
            <a:endParaRPr sz="9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7406640" y="4336239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RF-62, RF-63</a:t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1805940" y="1783080"/>
            <a:ext cx="411480" cy="411480"/>
          </a:xfrm>
          <a:prstGeom prst="ellipse">
            <a:avLst/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1714500" y="2214560"/>
            <a:ext cx="594360" cy="502920"/>
          </a:xfrm>
          <a:prstGeom prst="triangle">
            <a:avLst>
              <a:gd name="adj" fmla="val 50000"/>
            </a:avLst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1097280" y="27632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/>
          </a:p>
        </p:txBody>
      </p:sp>
      <p:sp>
        <p:nvSpPr>
          <p:cNvPr id="298" name="Google Shape;298;p15"/>
          <p:cNvSpPr txBox="1"/>
          <p:nvPr/>
        </p:nvSpPr>
        <p:spPr>
          <a:xfrm>
            <a:off x="1097280" y="29918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Acceso total</a:t>
            </a:r>
            <a:endParaRPr/>
          </a:p>
        </p:txBody>
      </p:sp>
      <p:sp>
        <p:nvSpPr>
          <p:cNvPr id="299" name="Google Shape;299;p15"/>
          <p:cNvSpPr/>
          <p:nvPr/>
        </p:nvSpPr>
        <p:spPr>
          <a:xfrm>
            <a:off x="1805940" y="3108960"/>
            <a:ext cx="411480" cy="411480"/>
          </a:xfrm>
          <a:prstGeom prst="ellipse">
            <a:avLst/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1714500" y="3540440"/>
            <a:ext cx="594360" cy="502920"/>
          </a:xfrm>
          <a:prstGeom prst="triangle">
            <a:avLst>
              <a:gd name="adj" fmla="val 50000"/>
            </a:avLst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1097280" y="40890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Bodeguero</a:t>
            </a:r>
            <a:endParaRPr/>
          </a:p>
        </p:txBody>
      </p:sp>
      <p:sp>
        <p:nvSpPr>
          <p:cNvPr id="302" name="Google Shape;302;p15"/>
          <p:cNvSpPr txBox="1"/>
          <p:nvPr/>
        </p:nvSpPr>
        <p:spPr>
          <a:xfrm>
            <a:off x="1097280" y="43176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1805940" y="4434840"/>
            <a:ext cx="411480" cy="411480"/>
          </a:xfrm>
          <a:prstGeom prst="ellipse">
            <a:avLst/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1714500" y="4866320"/>
            <a:ext cx="594360" cy="502920"/>
          </a:xfrm>
          <a:prstGeom prst="triangle">
            <a:avLst>
              <a:gd name="adj" fmla="val 50000"/>
            </a:avLst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5"/>
          <p:cNvSpPr txBox="1"/>
          <p:nvPr/>
        </p:nvSpPr>
        <p:spPr>
          <a:xfrm>
            <a:off x="1097280" y="54149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Cajero</a:t>
            </a:r>
            <a:endParaRPr/>
          </a:p>
        </p:txBody>
      </p:sp>
      <p:sp>
        <p:nvSpPr>
          <p:cNvPr id="306" name="Google Shape;306;p15"/>
          <p:cNvSpPr txBox="1"/>
          <p:nvPr/>
        </p:nvSpPr>
        <p:spPr>
          <a:xfrm>
            <a:off x="1097280" y="5643560"/>
            <a:ext cx="18288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800" i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Ventas</a:t>
            </a:r>
            <a:endParaRPr lang="en-US">
              <a:ea typeface="Calibri"/>
              <a:sym typeface="Calibri"/>
            </a:endParaRPr>
          </a:p>
        </p:txBody>
      </p:sp>
      <p:cxnSp>
        <p:nvCxnSpPr>
          <p:cNvPr id="307" name="Google Shape;307;p15"/>
          <p:cNvCxnSpPr/>
          <p:nvPr/>
        </p:nvCxnSpPr>
        <p:spPr>
          <a:xfrm>
            <a:off x="2011680" y="2475200"/>
            <a:ext cx="3310201" cy="45183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08" name="Google Shape;308;p15"/>
          <p:cNvCxnSpPr/>
          <p:nvPr/>
        </p:nvCxnSpPr>
        <p:spPr>
          <a:xfrm>
            <a:off x="2011680" y="2466020"/>
            <a:ext cx="3301020" cy="913679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09" name="Google Shape;309;p15"/>
          <p:cNvCxnSpPr/>
          <p:nvPr/>
        </p:nvCxnSpPr>
        <p:spPr>
          <a:xfrm>
            <a:off x="2011680" y="2466020"/>
            <a:ext cx="3374466" cy="1910706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10" name="Google Shape;310;p15"/>
          <p:cNvCxnSpPr/>
          <p:nvPr/>
        </p:nvCxnSpPr>
        <p:spPr>
          <a:xfrm rot="10800000" flipH="1">
            <a:off x="2103487" y="2700327"/>
            <a:ext cx="3291840" cy="1091573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11" name="Google Shape;311;p15"/>
          <p:cNvCxnSpPr/>
          <p:nvPr/>
        </p:nvCxnSpPr>
        <p:spPr>
          <a:xfrm rot="10800000" flipH="1">
            <a:off x="1993318" y="4560340"/>
            <a:ext cx="3301021" cy="640067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12" name="Google Shape;312;p15"/>
          <p:cNvSpPr/>
          <p:nvPr/>
        </p:nvSpPr>
        <p:spPr>
          <a:xfrm>
            <a:off x="502920" y="5852160"/>
            <a:ext cx="11338560" cy="502920"/>
          </a:xfrm>
          <a:prstGeom prst="rect">
            <a:avLst/>
          </a:prstGeom>
          <a:solidFill>
            <a:srgbClr val="1432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502920" y="5852160"/>
            <a:ext cx="73152" cy="502920"/>
          </a:xfrm>
          <a:prstGeom prst="rect">
            <a:avLst/>
          </a:prstGeom>
          <a:solidFill>
            <a:srgbClr val="B58A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5"/>
          <p:cNvSpPr txBox="1"/>
          <p:nvPr/>
        </p:nvSpPr>
        <p:spPr>
          <a:xfrm>
            <a:off x="777240" y="58521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Trazabilidad — 3 actores · 3 CUs representativos · 24 URs prioridad 1 cubiertos en Inc.1</a:t>
            </a:r>
            <a:endParaRPr/>
          </a:p>
        </p:txBody>
      </p:sp>
      <p:cxnSp>
        <p:nvCxnSpPr>
          <p:cNvPr id="315" name="Google Shape;315;p15"/>
          <p:cNvCxnSpPr/>
          <p:nvPr/>
        </p:nvCxnSpPr>
        <p:spPr>
          <a:xfrm rot="10800000" flipH="1">
            <a:off x="2094306" y="3449473"/>
            <a:ext cx="3227575" cy="356931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16" name="Google Shape;316;p15"/>
          <p:cNvCxnSpPr/>
          <p:nvPr/>
        </p:nvCxnSpPr>
        <p:spPr>
          <a:xfrm>
            <a:off x="2222835" y="3833945"/>
            <a:ext cx="3099046" cy="561142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502920" y="27432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1F4133"/>
                </a:solidFill>
                <a:latin typeface="Georgia"/>
                <a:ea typeface="Georgia"/>
                <a:cs typeface="Georgia"/>
                <a:sym typeface="Georgia"/>
              </a:rPr>
              <a:t>5.2. Vista Lógica · Entidad-Relación</a:t>
            </a:r>
            <a:endParaRPr/>
          </a:p>
        </p:txBody>
      </p:sp>
      <p:sp>
        <p:nvSpPr>
          <p:cNvPr id="323" name="Google Shape;323;p16"/>
          <p:cNvSpPr txBox="1"/>
          <p:nvPr/>
        </p:nvSpPr>
        <p:spPr>
          <a:xfrm>
            <a:off x="502920" y="96012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u="none" strike="noStrike" cap="none">
                <a:solidFill>
                  <a:srgbClr val="3C4640"/>
                </a:solidFill>
                <a:latin typeface="Georgia"/>
                <a:ea typeface="Georgia"/>
                <a:cs typeface="Georgia"/>
                <a:sym typeface="Georgia"/>
              </a:rPr>
              <a:t>Figura 4.3 · base de datos minimarket_db · 11 entidades persistentes</a:t>
            </a:r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9921240" y="320040"/>
            <a:ext cx="1920240" cy="502920"/>
          </a:xfrm>
          <a:prstGeom prst="rect">
            <a:avLst/>
          </a:prstGeom>
          <a:solidFill>
            <a:srgbClr val="F5F0E1"/>
          </a:solidFill>
          <a:ln w="12700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6"/>
          <p:cNvSpPr txBox="1"/>
          <p:nvPr/>
        </p:nvSpPr>
        <p:spPr>
          <a:xfrm>
            <a:off x="9921240" y="3200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Inc 1 · §4.2</a:t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502920" y="1691640"/>
            <a:ext cx="1874519" cy="292608"/>
          </a:xfrm>
          <a:prstGeom prst="rect">
            <a:avLst/>
          </a:prstGeom>
          <a:solidFill>
            <a:srgbClr val="2E5530"/>
          </a:solidFill>
          <a:ln w="9525" cap="flat" cmpd="sng">
            <a:solidFill>
              <a:srgbClr val="2E55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502920" y="169164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</a:t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502920" y="1984248"/>
            <a:ext cx="1874519" cy="5760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2E55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576072" y="2029968"/>
            <a:ext cx="1728215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id_perfil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nombre_perfil</a:t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502920" y="2743200"/>
            <a:ext cx="1874519" cy="292608"/>
          </a:xfrm>
          <a:prstGeom prst="rect">
            <a:avLst/>
          </a:prstGeom>
          <a:solidFill>
            <a:srgbClr val="2E5530"/>
          </a:solidFill>
          <a:ln w="9525" cap="flat" cmpd="sng">
            <a:solidFill>
              <a:srgbClr val="2E55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502920" y="274320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502920" y="303580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2E55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576072" y="308152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id_usuario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id_perfil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username, password_hash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estado_activo</a:t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2834640" y="1691640"/>
            <a:ext cx="1874519" cy="292608"/>
          </a:xfrm>
          <a:prstGeom prst="rect">
            <a:avLst/>
          </a:prstGeom>
          <a:solidFill>
            <a:srgbClr val="35704A"/>
          </a:solidFill>
          <a:ln w="9525" cap="flat" cmpd="sng">
            <a:solidFill>
              <a:srgbClr val="357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2834640" y="169164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producto</a:t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2834640" y="198424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357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2907792" y="202996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id_producto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sku, codigo_barras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nombre, stock, estado</a:t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5120640" y="1691640"/>
            <a:ext cx="1874519" cy="292608"/>
          </a:xfrm>
          <a:prstGeom prst="rect">
            <a:avLst/>
          </a:prstGeom>
          <a:solidFill>
            <a:srgbClr val="35704A"/>
          </a:solidFill>
          <a:ln w="9525" cap="flat" cmpd="sng">
            <a:solidFill>
              <a:srgbClr val="357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5120640" y="169164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proveedor</a:t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5120640" y="198424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357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5193792" y="202996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id_proveedor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rut, nombre, contacto</a:t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7406640" y="1691640"/>
            <a:ext cx="1874519" cy="292608"/>
          </a:xfrm>
          <a:prstGeom prst="rect">
            <a:avLst/>
          </a:prstGeom>
          <a:solidFill>
            <a:srgbClr val="35704A"/>
          </a:solidFill>
          <a:ln w="9525" cap="flat" cmpd="sng">
            <a:solidFill>
              <a:srgbClr val="357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6"/>
          <p:cNvSpPr txBox="1"/>
          <p:nvPr/>
        </p:nvSpPr>
        <p:spPr>
          <a:xfrm>
            <a:off x="7406640" y="169164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equivalencia</a:t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7406640" y="198424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357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7479792" y="202996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id_equivalencia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id_producto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id_proveedor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codigo_interno</a:t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2834640" y="2926080"/>
            <a:ext cx="1874519" cy="292608"/>
          </a:xfrm>
          <a:prstGeom prst="rect">
            <a:avLst/>
          </a:prstGeom>
          <a:solidFill>
            <a:srgbClr val="655216"/>
          </a:solidFill>
          <a:ln w="9525" cap="flat" cmpd="sng">
            <a:solidFill>
              <a:srgbClr val="655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2834640" y="292608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factura</a:t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2834640" y="321868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655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2907792" y="326440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id_factura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id_proveedor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numero, fecha</a:t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5120640" y="2926080"/>
            <a:ext cx="1874519" cy="292608"/>
          </a:xfrm>
          <a:prstGeom prst="rect">
            <a:avLst/>
          </a:prstGeom>
          <a:solidFill>
            <a:srgbClr val="655216"/>
          </a:solidFill>
          <a:ln w="9525" cap="flat" cmpd="sng">
            <a:solidFill>
              <a:srgbClr val="655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6"/>
          <p:cNvSpPr txBox="1"/>
          <p:nvPr/>
        </p:nvSpPr>
        <p:spPr>
          <a:xfrm>
            <a:off x="5120640" y="292608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item_factura</a:t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5120640" y="321868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655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6"/>
          <p:cNvSpPr txBox="1"/>
          <p:nvPr/>
        </p:nvSpPr>
        <p:spPr>
          <a:xfrm>
            <a:off x="5193792" y="326440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id_item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id_factura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id_producto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cantidad, precio</a:t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7406640" y="2926080"/>
            <a:ext cx="1874519" cy="292608"/>
          </a:xfrm>
          <a:prstGeom prst="rect">
            <a:avLst/>
          </a:prstGeom>
          <a:solidFill>
            <a:srgbClr val="1E553D"/>
          </a:solidFill>
          <a:ln w="9525" cap="flat" cmpd="sng">
            <a:solidFill>
              <a:srgbClr val="1E55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7406640" y="292608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movimiento_inventario</a:t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7406640" y="3218688"/>
            <a:ext cx="1874519" cy="10332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1E55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7479792" y="3264408"/>
            <a:ext cx="1728215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id_movimiento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id_producto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id_usuario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tipo, cantidad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fecha_hora, motivo</a:t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2834640" y="4160520"/>
            <a:ext cx="1874519" cy="292608"/>
          </a:xfrm>
          <a:prstGeom prst="rect">
            <a:avLst/>
          </a:prstGeom>
          <a:solidFill>
            <a:srgbClr val="B56A1E"/>
          </a:solidFill>
          <a:ln w="9525" cap="flat" cmpd="sng">
            <a:solidFill>
              <a:srgbClr val="B56A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6"/>
          <p:cNvSpPr txBox="1"/>
          <p:nvPr/>
        </p:nvSpPr>
        <p:spPr>
          <a:xfrm>
            <a:off x="2834640" y="416052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ajuste_inventario  ★</a:t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2834640" y="445312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B56A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2907792" y="449884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id_ajuste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id_usuario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modalidad, fecha_hora</a:t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5120640" y="4160520"/>
            <a:ext cx="1874519" cy="292608"/>
          </a:xfrm>
          <a:prstGeom prst="rect">
            <a:avLst/>
          </a:prstGeom>
          <a:solidFill>
            <a:srgbClr val="B56A1E"/>
          </a:solidFill>
          <a:ln w="9525" cap="flat" cmpd="sng">
            <a:solidFill>
              <a:srgbClr val="B56A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5120640" y="416052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item_ajuste  ★</a:t>
            </a:r>
            <a:endParaRPr/>
          </a:p>
        </p:txBody>
      </p:sp>
      <p:sp>
        <p:nvSpPr>
          <p:cNvPr id="364" name="Google Shape;364;p16"/>
          <p:cNvSpPr/>
          <p:nvPr/>
        </p:nvSpPr>
        <p:spPr>
          <a:xfrm>
            <a:off x="5120640" y="445312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B56A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6"/>
          <p:cNvSpPr txBox="1"/>
          <p:nvPr/>
        </p:nvSpPr>
        <p:spPr>
          <a:xfrm>
            <a:off x="5193792" y="449884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id_item_ajuste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id_ajuste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id_producto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stock_ant, stock_new</a:t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7406640" y="4160520"/>
            <a:ext cx="1874519" cy="292608"/>
          </a:xfrm>
          <a:prstGeom prst="rect">
            <a:avLst/>
          </a:prstGeom>
          <a:solidFill>
            <a:srgbClr val="B56A1E"/>
          </a:solidFill>
          <a:ln w="9525" cap="flat" cmpd="sng">
            <a:solidFill>
              <a:srgbClr val="B56A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6"/>
          <p:cNvSpPr txBox="1"/>
          <p:nvPr/>
        </p:nvSpPr>
        <p:spPr>
          <a:xfrm>
            <a:off x="7406640" y="416052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log_archivo  ★</a:t>
            </a:r>
            <a:endParaRPr/>
          </a:p>
        </p:txBody>
      </p:sp>
      <p:sp>
        <p:nvSpPr>
          <p:cNvPr id="368" name="Google Shape;368;p16"/>
          <p:cNvSpPr/>
          <p:nvPr/>
        </p:nvSpPr>
        <p:spPr>
          <a:xfrm>
            <a:off x="7406640" y="445312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B56A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6"/>
          <p:cNvSpPr txBox="1"/>
          <p:nvPr/>
        </p:nvSpPr>
        <p:spPr>
          <a:xfrm>
            <a:off x="7479792" y="449884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id_log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id_usuario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nombre_archivo, tamanio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800" b="0" i="0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fecha_hora</a:t>
            </a:r>
            <a:endParaRPr/>
          </a:p>
        </p:txBody>
      </p:sp>
      <p:cxnSp>
        <p:nvCxnSpPr>
          <p:cNvPr id="370" name="Google Shape;370;p16"/>
          <p:cNvCxnSpPr/>
          <p:nvPr/>
        </p:nvCxnSpPr>
        <p:spPr>
          <a:xfrm>
            <a:off x="1440179" y="2560320"/>
            <a:ext cx="0" cy="18288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1" name="Google Shape;371;p16"/>
          <p:cNvCxnSpPr/>
          <p:nvPr/>
        </p:nvCxnSpPr>
        <p:spPr>
          <a:xfrm>
            <a:off x="4709159" y="2240280"/>
            <a:ext cx="411481" cy="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2" name="Google Shape;372;p16"/>
          <p:cNvCxnSpPr/>
          <p:nvPr/>
        </p:nvCxnSpPr>
        <p:spPr>
          <a:xfrm>
            <a:off x="6995159" y="2240280"/>
            <a:ext cx="411481" cy="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3" name="Google Shape;373;p16"/>
          <p:cNvCxnSpPr/>
          <p:nvPr/>
        </p:nvCxnSpPr>
        <p:spPr>
          <a:xfrm flipH="1">
            <a:off x="3771899" y="2788920"/>
            <a:ext cx="2286000" cy="13716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4" name="Google Shape;374;p16"/>
          <p:cNvCxnSpPr/>
          <p:nvPr/>
        </p:nvCxnSpPr>
        <p:spPr>
          <a:xfrm>
            <a:off x="4709159" y="3474720"/>
            <a:ext cx="411481" cy="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5" name="Google Shape;375;p16"/>
          <p:cNvCxnSpPr/>
          <p:nvPr/>
        </p:nvCxnSpPr>
        <p:spPr>
          <a:xfrm>
            <a:off x="8343899" y="2788920"/>
            <a:ext cx="0" cy="13716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6" name="Google Shape;376;p16"/>
          <p:cNvCxnSpPr/>
          <p:nvPr/>
        </p:nvCxnSpPr>
        <p:spPr>
          <a:xfrm>
            <a:off x="4709159" y="4709160"/>
            <a:ext cx="411481" cy="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7" name="Google Shape;377;p16"/>
          <p:cNvCxnSpPr/>
          <p:nvPr/>
        </p:nvCxnSpPr>
        <p:spPr>
          <a:xfrm>
            <a:off x="6995159" y="4709160"/>
            <a:ext cx="411481" cy="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8" name="Google Shape;378;p16"/>
          <p:cNvCxnSpPr/>
          <p:nvPr/>
        </p:nvCxnSpPr>
        <p:spPr>
          <a:xfrm>
            <a:off x="1440179" y="3840480"/>
            <a:ext cx="1394461" cy="86868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79" name="Google Shape;379;p16"/>
          <p:cNvSpPr/>
          <p:nvPr/>
        </p:nvSpPr>
        <p:spPr>
          <a:xfrm>
            <a:off x="502920" y="5852160"/>
            <a:ext cx="11338560" cy="502920"/>
          </a:xfrm>
          <a:prstGeom prst="rect">
            <a:avLst/>
          </a:prstGeom>
          <a:solidFill>
            <a:srgbClr val="1432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502920" y="5852160"/>
            <a:ext cx="73152" cy="502920"/>
          </a:xfrm>
          <a:prstGeom prst="rect">
            <a:avLst/>
          </a:prstGeom>
          <a:solidFill>
            <a:srgbClr val="B58A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6"/>
          <p:cNvSpPr txBox="1"/>
          <p:nvPr/>
        </p:nvSpPr>
        <p:spPr>
          <a:xfrm>
            <a:off x="777240" y="58521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entidades   ·   ★ Nuevas en Inc.1: ajuste_inventario, item_ajuste, log_archivo   ·   ON UPDATE CASCADE / ON DELETE RESTRICT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5.3. Vista de Procesos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n-US" sz="1600" b="0" i="1" u="none" strike="noStrike" cap="none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Vista de Procesos · interacción entre objetos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 1 · §4.3 · Figura 4.4(a)(b)(c)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9" descr="/home/claude/diagramas/DS_Incremento1_Unificad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691640"/>
            <a:ext cx="7863840" cy="2617598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9"/>
          <p:cNvSpPr/>
          <p:nvPr/>
        </p:nvSpPr>
        <p:spPr>
          <a:xfrm>
            <a:off x="8412480" y="1691640"/>
            <a:ext cx="3383280" cy="45720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8412480" y="1691640"/>
            <a:ext cx="109728" cy="457200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8595360" y="18288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TRES DIAGRAMAS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8595360" y="21488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DS-01 · DS-27 · DS-35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8595360" y="269748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Notación UML 2 con líneas de vida y mensajes síncronos/retorno. Tres diagramas representativos, uno por bloque funcional del incremento.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8595360" y="3611880"/>
            <a:ext cx="256032" cy="256032"/>
          </a:xfrm>
          <a:prstGeom prst="ellipse">
            <a:avLst/>
          </a:prstGeom>
          <a:solidFill>
            <a:srgbClr val="5B9BD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8942832" y="356616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8942832" y="373075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Java Swing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8595360" y="4023360"/>
            <a:ext cx="256032" cy="256032"/>
          </a:xfrm>
          <a:prstGeom prst="ellipse">
            <a:avLst/>
          </a:prstGeom>
          <a:solidFill>
            <a:srgbClr val="D6B65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8942832" y="397764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Controlador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8942832" y="414223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8595360" y="4434840"/>
            <a:ext cx="256032" cy="256032"/>
          </a:xfrm>
          <a:prstGeom prst="ellipse">
            <a:avLst/>
          </a:prstGeom>
          <a:solidFill>
            <a:srgbClr val="82B36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8942832" y="438912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Repositorio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8942832" y="455371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JPA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8595360" y="4846320"/>
            <a:ext cx="256032" cy="256032"/>
          </a:xfrm>
          <a:prstGeom prst="ellipse">
            <a:avLst/>
          </a:prstGeom>
          <a:solidFill>
            <a:srgbClr val="B854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8942832" y="480060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8942832" y="496519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MySQL 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8595360" y="5349240"/>
            <a:ext cx="3108960" cy="777240"/>
          </a:xfrm>
          <a:prstGeom prst="rect">
            <a:avLst/>
          </a:prstGeom>
          <a:solidFill>
            <a:srgbClr val="143025"/>
          </a:solidFill>
          <a:ln w="9525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8686800" y="539496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Cubre 3 bloques: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8686800" y="562356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DS-35 · CU-35 · RF-62, RF-63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DS-01 · CU-01 · RF-01 a RF-15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DS-27 · CU-27 · RF-31 a RF-48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Minimarket Antucayen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 txBox="1"/>
          <p:nvPr/>
        </p:nvSpPr>
        <p:spPr>
          <a:xfrm>
            <a:off x="502920" y="27432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1F4133"/>
                </a:solidFill>
                <a:latin typeface="Georgia"/>
                <a:ea typeface="Georgia"/>
                <a:cs typeface="Georgia"/>
                <a:sym typeface="Georgia"/>
              </a:rPr>
              <a:t>5.4. Vista de Desarrollo · Componentes</a:t>
            </a:r>
            <a:endParaRPr/>
          </a:p>
        </p:txBody>
      </p:sp>
      <p:sp>
        <p:nvSpPr>
          <p:cNvPr id="420" name="Google Shape;420;p17"/>
          <p:cNvSpPr txBox="1"/>
          <p:nvPr/>
        </p:nvSpPr>
        <p:spPr>
          <a:xfrm>
            <a:off x="502920" y="96012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u="none" strike="noStrike" cap="none">
                <a:solidFill>
                  <a:srgbClr val="3C4640"/>
                </a:solidFill>
                <a:latin typeface="Georgia"/>
                <a:ea typeface="Georgia"/>
                <a:cs typeface="Georgia"/>
                <a:sym typeface="Georgia"/>
              </a:rPr>
              <a:t>Figura 4.5 · 3 subsistemas · 1 Vista + 5 Servicios + 11 DAOs</a:t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9921240" y="320040"/>
            <a:ext cx="1920240" cy="502920"/>
          </a:xfrm>
          <a:prstGeom prst="rect">
            <a:avLst/>
          </a:prstGeom>
          <a:solidFill>
            <a:srgbClr val="F5F0E1"/>
          </a:solidFill>
          <a:ln w="12700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7"/>
          <p:cNvSpPr txBox="1"/>
          <p:nvPr/>
        </p:nvSpPr>
        <p:spPr>
          <a:xfrm>
            <a:off x="9921240" y="3200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Inc 1 · §4.4</a:t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502920" y="1691640"/>
            <a:ext cx="11338560" cy="1280160"/>
          </a:xfrm>
          <a:prstGeom prst="rect">
            <a:avLst/>
          </a:prstGeom>
          <a:solidFill>
            <a:srgbClr val="FEFEFD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502920" y="1691640"/>
            <a:ext cx="73152" cy="1280160"/>
          </a:xfrm>
          <a:prstGeom prst="rect">
            <a:avLst/>
          </a:prstGeom>
          <a:solidFill>
            <a:srgbClr val="1F41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685800" y="17830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CAPA DE PRESENTACIÓN</a:t>
            </a:r>
            <a:endParaRPr/>
          </a:p>
        </p:txBody>
      </p:sp>
      <p:sp>
        <p:nvSpPr>
          <p:cNvPr id="426" name="Google Shape;426;p17"/>
          <p:cNvSpPr txBox="1"/>
          <p:nvPr/>
        </p:nvSpPr>
        <p:spPr>
          <a:xfrm>
            <a:off x="685800" y="20391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Java Swing — JFrame / JDialog</a:t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4572000" y="1874520"/>
            <a:ext cx="2926080" cy="868680"/>
          </a:xfrm>
          <a:prstGeom prst="rect">
            <a:avLst/>
          </a:prstGeom>
          <a:solidFill>
            <a:srgbClr val="D4E2D4"/>
          </a:solidFill>
          <a:ln w="1270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"/>
          <p:cNvSpPr txBox="1"/>
          <p:nvPr/>
        </p:nvSpPr>
        <p:spPr>
          <a:xfrm>
            <a:off x="4572000" y="18745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«component»</a:t>
            </a:r>
            <a:endParaRPr/>
          </a:p>
        </p:txBody>
      </p:sp>
      <p:sp>
        <p:nvSpPr>
          <p:cNvPr id="429" name="Google Shape;429;p17"/>
          <p:cNvSpPr txBox="1"/>
          <p:nvPr/>
        </p:nvSpPr>
        <p:spPr>
          <a:xfrm>
            <a:off x="4572000" y="21031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InterfazDesktop</a:t>
            </a:r>
            <a:endParaRPr/>
          </a:p>
        </p:txBody>
      </p:sp>
      <p:sp>
        <p:nvSpPr>
          <p:cNvPr id="430" name="Google Shape;430;p17"/>
          <p:cNvSpPr txBox="1"/>
          <p:nvPr/>
        </p:nvSpPr>
        <p:spPr>
          <a:xfrm>
            <a:off x="4572000" y="23774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VLogin · VProductos · VAjuste · VUsuarios</a:t>
            </a:r>
            <a:endParaRPr/>
          </a:p>
        </p:txBody>
      </p:sp>
      <p:sp>
        <p:nvSpPr>
          <p:cNvPr id="431" name="Google Shape;431;p17"/>
          <p:cNvSpPr txBox="1"/>
          <p:nvPr/>
        </p:nvSpPr>
        <p:spPr>
          <a:xfrm>
            <a:off x="8046720" y="2103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CU-01 · CU-27 · CU-35</a:t>
            </a:r>
            <a:endParaRPr/>
          </a:p>
        </p:txBody>
      </p:sp>
      <p:sp>
        <p:nvSpPr>
          <p:cNvPr id="432" name="Google Shape;432;p17"/>
          <p:cNvSpPr txBox="1"/>
          <p:nvPr/>
        </p:nvSpPr>
        <p:spPr>
          <a:xfrm>
            <a:off x="8046720" y="2377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Trazabilidad: todas las URs vía vistas</a:t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502920" y="3108960"/>
            <a:ext cx="11338560" cy="1280160"/>
          </a:xfrm>
          <a:prstGeom prst="rect">
            <a:avLst/>
          </a:prstGeom>
          <a:solidFill>
            <a:srgbClr val="FEFEFD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502920" y="3108960"/>
            <a:ext cx="73152" cy="1280160"/>
          </a:xfrm>
          <a:prstGeom prst="rect">
            <a:avLst/>
          </a:prstGeom>
          <a:solidFill>
            <a:srgbClr val="1F41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 txBox="1"/>
          <p:nvPr/>
        </p:nvSpPr>
        <p:spPr>
          <a:xfrm>
            <a:off x="685800" y="3200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CAPA DE NEGOCIO</a:t>
            </a:r>
            <a:endParaRPr/>
          </a:p>
        </p:txBody>
      </p:sp>
      <p:sp>
        <p:nvSpPr>
          <p:cNvPr id="436" name="Google Shape;436;p17"/>
          <p:cNvSpPr txBox="1"/>
          <p:nvPr/>
        </p:nvSpPr>
        <p:spPr>
          <a:xfrm>
            <a:off x="685800" y="34564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Spring Boot 3.x — Servicios + endpoints REST</a:t>
            </a:r>
            <a:endParaRPr/>
          </a:p>
        </p:txBody>
      </p:sp>
      <p:sp>
        <p:nvSpPr>
          <p:cNvPr id="437" name="Google Shape;437;p17"/>
          <p:cNvSpPr/>
          <p:nvPr/>
        </p:nvSpPr>
        <p:spPr>
          <a:xfrm>
            <a:off x="3886200" y="3383280"/>
            <a:ext cx="1508760" cy="777240"/>
          </a:xfrm>
          <a:prstGeom prst="rect">
            <a:avLst/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7"/>
          <p:cNvSpPr txBox="1"/>
          <p:nvPr/>
        </p:nvSpPr>
        <p:spPr>
          <a:xfrm>
            <a:off x="3886200" y="338328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«service»</a:t>
            </a:r>
            <a:endParaRPr/>
          </a:p>
        </p:txBody>
      </p:sp>
      <p:sp>
        <p:nvSpPr>
          <p:cNvPr id="439" name="Google Shape;439;p17"/>
          <p:cNvSpPr txBox="1"/>
          <p:nvPr/>
        </p:nvSpPr>
        <p:spPr>
          <a:xfrm>
            <a:off x="3886200" y="35661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ProductoService</a:t>
            </a:r>
            <a:endParaRPr/>
          </a:p>
        </p:txBody>
      </p:sp>
      <p:sp>
        <p:nvSpPr>
          <p:cNvPr id="440" name="Google Shape;440;p17"/>
          <p:cNvSpPr txBox="1"/>
          <p:nvPr/>
        </p:nvSpPr>
        <p:spPr>
          <a:xfrm>
            <a:off x="3886200" y="38862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CU-01 · RF-01 a 15</a:t>
            </a:r>
            <a:endParaRPr/>
          </a:p>
        </p:txBody>
      </p:sp>
      <p:sp>
        <p:nvSpPr>
          <p:cNvPr id="441" name="Google Shape;441;p17"/>
          <p:cNvSpPr/>
          <p:nvPr/>
        </p:nvSpPr>
        <p:spPr>
          <a:xfrm>
            <a:off x="5486400" y="3383280"/>
            <a:ext cx="1508760" cy="777240"/>
          </a:xfrm>
          <a:prstGeom prst="rect">
            <a:avLst/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7"/>
          <p:cNvSpPr txBox="1"/>
          <p:nvPr/>
        </p:nvSpPr>
        <p:spPr>
          <a:xfrm>
            <a:off x="5486400" y="338328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«service»</a:t>
            </a:r>
            <a:endParaRPr/>
          </a:p>
        </p:txBody>
      </p:sp>
      <p:sp>
        <p:nvSpPr>
          <p:cNvPr id="443" name="Google Shape;443;p17"/>
          <p:cNvSpPr txBox="1"/>
          <p:nvPr/>
        </p:nvSpPr>
        <p:spPr>
          <a:xfrm>
            <a:off x="5486400" y="35661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ProveedorService</a:t>
            </a:r>
            <a:endParaRPr/>
          </a:p>
        </p:txBody>
      </p:sp>
      <p:sp>
        <p:nvSpPr>
          <p:cNvPr id="444" name="Google Shape;444;p17"/>
          <p:cNvSpPr txBox="1"/>
          <p:nvPr/>
        </p:nvSpPr>
        <p:spPr>
          <a:xfrm>
            <a:off x="5486400" y="38862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CU-09 · RF-09 a 15</a:t>
            </a:r>
            <a:endParaRPr/>
          </a:p>
        </p:txBody>
      </p:sp>
      <p:sp>
        <p:nvSpPr>
          <p:cNvPr id="445" name="Google Shape;445;p17"/>
          <p:cNvSpPr/>
          <p:nvPr/>
        </p:nvSpPr>
        <p:spPr>
          <a:xfrm>
            <a:off x="7086600" y="3383280"/>
            <a:ext cx="1508760" cy="777240"/>
          </a:xfrm>
          <a:prstGeom prst="rect">
            <a:avLst/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7"/>
          <p:cNvSpPr txBox="1"/>
          <p:nvPr/>
        </p:nvSpPr>
        <p:spPr>
          <a:xfrm>
            <a:off x="7086600" y="338328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«service»</a:t>
            </a:r>
            <a:endParaRPr/>
          </a:p>
        </p:txBody>
      </p:sp>
      <p:sp>
        <p:nvSpPr>
          <p:cNvPr id="447" name="Google Shape;447;p17"/>
          <p:cNvSpPr txBox="1"/>
          <p:nvPr/>
        </p:nvSpPr>
        <p:spPr>
          <a:xfrm>
            <a:off x="7086600" y="35661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AjusteInventarioService</a:t>
            </a:r>
            <a:endParaRPr/>
          </a:p>
        </p:txBody>
      </p:sp>
      <p:sp>
        <p:nvSpPr>
          <p:cNvPr id="448" name="Google Shape;448;p17"/>
          <p:cNvSpPr txBox="1"/>
          <p:nvPr/>
        </p:nvSpPr>
        <p:spPr>
          <a:xfrm>
            <a:off x="7086600" y="38862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CU-27 · RF-31 a 48</a:t>
            </a:r>
            <a:endParaRPr/>
          </a:p>
        </p:txBody>
      </p:sp>
      <p:sp>
        <p:nvSpPr>
          <p:cNvPr id="449" name="Google Shape;449;p17"/>
          <p:cNvSpPr/>
          <p:nvPr/>
        </p:nvSpPr>
        <p:spPr>
          <a:xfrm>
            <a:off x="8686800" y="3383280"/>
            <a:ext cx="1508760" cy="777240"/>
          </a:xfrm>
          <a:prstGeom prst="rect">
            <a:avLst/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7"/>
          <p:cNvSpPr txBox="1"/>
          <p:nvPr/>
        </p:nvSpPr>
        <p:spPr>
          <a:xfrm>
            <a:off x="8686800" y="338328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«service»</a:t>
            </a:r>
            <a:endParaRPr/>
          </a:p>
        </p:txBody>
      </p:sp>
      <p:sp>
        <p:nvSpPr>
          <p:cNvPr id="451" name="Google Shape;451;p17"/>
          <p:cNvSpPr txBox="1"/>
          <p:nvPr/>
        </p:nvSpPr>
        <p:spPr>
          <a:xfrm>
            <a:off x="8686800" y="35661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MovimientoInvService</a:t>
            </a:r>
            <a:endParaRPr/>
          </a:p>
        </p:txBody>
      </p:sp>
      <p:sp>
        <p:nvSpPr>
          <p:cNvPr id="452" name="Google Shape;452;p17"/>
          <p:cNvSpPr txBox="1"/>
          <p:nvPr/>
        </p:nvSpPr>
        <p:spPr>
          <a:xfrm>
            <a:off x="8686800" y="38862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CU-32 · RF-42, 43</a:t>
            </a:r>
            <a:endParaRPr/>
          </a:p>
        </p:txBody>
      </p:sp>
      <p:sp>
        <p:nvSpPr>
          <p:cNvPr id="453" name="Google Shape;453;p17"/>
          <p:cNvSpPr/>
          <p:nvPr/>
        </p:nvSpPr>
        <p:spPr>
          <a:xfrm>
            <a:off x="10287000" y="3383280"/>
            <a:ext cx="1508760" cy="777240"/>
          </a:xfrm>
          <a:prstGeom prst="rect">
            <a:avLst/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7"/>
          <p:cNvSpPr txBox="1"/>
          <p:nvPr/>
        </p:nvSpPr>
        <p:spPr>
          <a:xfrm>
            <a:off x="10287000" y="338328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«service»</a:t>
            </a:r>
            <a:endParaRPr/>
          </a:p>
        </p:txBody>
      </p:sp>
      <p:sp>
        <p:nvSpPr>
          <p:cNvPr id="455" name="Google Shape;455;p17"/>
          <p:cNvSpPr txBox="1"/>
          <p:nvPr/>
        </p:nvSpPr>
        <p:spPr>
          <a:xfrm>
            <a:off x="10287000" y="35661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UsuarioService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10287000" y="38862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CU-35 · RF-62, 63</a:t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502920" y="4526280"/>
            <a:ext cx="11338560" cy="1280160"/>
          </a:xfrm>
          <a:prstGeom prst="rect">
            <a:avLst/>
          </a:prstGeom>
          <a:solidFill>
            <a:srgbClr val="FEFEFD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502920" y="4526280"/>
            <a:ext cx="73152" cy="1280160"/>
          </a:xfrm>
          <a:prstGeom prst="rect">
            <a:avLst/>
          </a:prstGeom>
          <a:solidFill>
            <a:srgbClr val="1F41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7"/>
          <p:cNvSpPr txBox="1"/>
          <p:nvPr/>
        </p:nvSpPr>
        <p:spPr>
          <a:xfrm>
            <a:off x="685800" y="46177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CAPA DE ACCESO A DATOS</a:t>
            </a:r>
            <a:endParaRPr/>
          </a:p>
        </p:txBody>
      </p:sp>
      <p:sp>
        <p:nvSpPr>
          <p:cNvPr id="460" name="Google Shape;460;p17"/>
          <p:cNvSpPr txBox="1"/>
          <p:nvPr/>
        </p:nvSpPr>
        <p:spPr>
          <a:xfrm>
            <a:off x="685800" y="48737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Spring Data JPA — 11 repositorios DAO</a:t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3474720" y="480060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7"/>
          <p:cNvSpPr txBox="1"/>
          <p:nvPr/>
        </p:nvSpPr>
        <p:spPr>
          <a:xfrm>
            <a:off x="3474720" y="48006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PerfilDAO</a:t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4645152" y="480060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7"/>
          <p:cNvSpPr txBox="1"/>
          <p:nvPr/>
        </p:nvSpPr>
        <p:spPr>
          <a:xfrm>
            <a:off x="4645152" y="48006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UsuarioDAO</a:t>
            </a:r>
            <a:endParaRPr/>
          </a:p>
        </p:txBody>
      </p:sp>
      <p:sp>
        <p:nvSpPr>
          <p:cNvPr id="465" name="Google Shape;465;p17"/>
          <p:cNvSpPr/>
          <p:nvPr/>
        </p:nvSpPr>
        <p:spPr>
          <a:xfrm>
            <a:off x="5815584" y="480060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7"/>
          <p:cNvSpPr txBox="1"/>
          <p:nvPr/>
        </p:nvSpPr>
        <p:spPr>
          <a:xfrm>
            <a:off x="5815584" y="48006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ProductoDAO</a:t>
            </a:r>
            <a:endParaRPr/>
          </a:p>
        </p:txBody>
      </p:sp>
      <p:sp>
        <p:nvSpPr>
          <p:cNvPr id="467" name="Google Shape;467;p17"/>
          <p:cNvSpPr/>
          <p:nvPr/>
        </p:nvSpPr>
        <p:spPr>
          <a:xfrm>
            <a:off x="6986016" y="480060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7"/>
          <p:cNvSpPr txBox="1"/>
          <p:nvPr/>
        </p:nvSpPr>
        <p:spPr>
          <a:xfrm>
            <a:off x="6986016" y="48006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ProveedorDAO</a:t>
            </a:r>
            <a:endParaRPr/>
          </a:p>
        </p:txBody>
      </p:sp>
      <p:sp>
        <p:nvSpPr>
          <p:cNvPr id="469" name="Google Shape;469;p17"/>
          <p:cNvSpPr/>
          <p:nvPr/>
        </p:nvSpPr>
        <p:spPr>
          <a:xfrm>
            <a:off x="8156448" y="480060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7"/>
          <p:cNvSpPr txBox="1"/>
          <p:nvPr/>
        </p:nvSpPr>
        <p:spPr>
          <a:xfrm>
            <a:off x="8156448" y="48006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EquivalenciaDAO</a:t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9326880" y="480060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9326880" y="48006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FacturaDAO</a:t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3474720" y="521208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3474720" y="5212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ItemFacturaDAO</a:t>
            </a:r>
            <a:endParaRPr/>
          </a:p>
        </p:txBody>
      </p:sp>
      <p:sp>
        <p:nvSpPr>
          <p:cNvPr id="475" name="Google Shape;475;p17"/>
          <p:cNvSpPr/>
          <p:nvPr/>
        </p:nvSpPr>
        <p:spPr>
          <a:xfrm>
            <a:off x="4645152" y="521208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7"/>
          <p:cNvSpPr txBox="1"/>
          <p:nvPr/>
        </p:nvSpPr>
        <p:spPr>
          <a:xfrm>
            <a:off x="4645152" y="5212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AjusteInvDAO</a:t>
            </a:r>
            <a:endParaRPr/>
          </a:p>
        </p:txBody>
      </p:sp>
      <p:sp>
        <p:nvSpPr>
          <p:cNvPr id="477" name="Google Shape;477;p17"/>
          <p:cNvSpPr/>
          <p:nvPr/>
        </p:nvSpPr>
        <p:spPr>
          <a:xfrm>
            <a:off x="5815584" y="521208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7"/>
          <p:cNvSpPr txBox="1"/>
          <p:nvPr/>
        </p:nvSpPr>
        <p:spPr>
          <a:xfrm>
            <a:off x="5815584" y="5212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ItemAjusteDAO</a:t>
            </a:r>
            <a:endParaRPr/>
          </a:p>
        </p:txBody>
      </p:sp>
      <p:sp>
        <p:nvSpPr>
          <p:cNvPr id="479" name="Google Shape;479;p17"/>
          <p:cNvSpPr/>
          <p:nvPr/>
        </p:nvSpPr>
        <p:spPr>
          <a:xfrm>
            <a:off x="6986016" y="521208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7"/>
          <p:cNvSpPr txBox="1"/>
          <p:nvPr/>
        </p:nvSpPr>
        <p:spPr>
          <a:xfrm>
            <a:off x="6986016" y="5212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MovInvDAO</a:t>
            </a:r>
            <a:endParaRPr/>
          </a:p>
        </p:txBody>
      </p:sp>
      <p:sp>
        <p:nvSpPr>
          <p:cNvPr id="481" name="Google Shape;481;p17"/>
          <p:cNvSpPr/>
          <p:nvPr/>
        </p:nvSpPr>
        <p:spPr>
          <a:xfrm>
            <a:off x="8156448" y="521208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7"/>
          <p:cNvSpPr txBox="1"/>
          <p:nvPr/>
        </p:nvSpPr>
        <p:spPr>
          <a:xfrm>
            <a:off x="8156448" y="5212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LogArchivoDAO</a:t>
            </a:r>
            <a:endParaRPr/>
          </a:p>
        </p:txBody>
      </p:sp>
      <p:sp>
        <p:nvSpPr>
          <p:cNvPr id="483" name="Google Shape;483;p17"/>
          <p:cNvSpPr/>
          <p:nvPr/>
        </p:nvSpPr>
        <p:spPr>
          <a:xfrm>
            <a:off x="10652760" y="4754880"/>
            <a:ext cx="1143000" cy="868680"/>
          </a:xfrm>
          <a:prstGeom prst="can">
            <a:avLst>
              <a:gd name="adj" fmla="val 25000"/>
            </a:avLst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7"/>
          <p:cNvSpPr txBox="1"/>
          <p:nvPr/>
        </p:nvSpPr>
        <p:spPr>
          <a:xfrm>
            <a:off x="10652760" y="50292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minimarket_db</a:t>
            </a:r>
            <a:endParaRPr/>
          </a:p>
        </p:txBody>
      </p:sp>
      <p:sp>
        <p:nvSpPr>
          <p:cNvPr id="485" name="Google Shape;485;p17"/>
          <p:cNvSpPr txBox="1"/>
          <p:nvPr/>
        </p:nvSpPr>
        <p:spPr>
          <a:xfrm>
            <a:off x="10652760" y="52578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MySQL 8.0</a:t>
            </a:r>
            <a:endParaRPr/>
          </a:p>
        </p:txBody>
      </p:sp>
      <p:cxnSp>
        <p:nvCxnSpPr>
          <p:cNvPr id="486" name="Google Shape;486;p17"/>
          <p:cNvCxnSpPr/>
          <p:nvPr/>
        </p:nvCxnSpPr>
        <p:spPr>
          <a:xfrm>
            <a:off x="6035040" y="2971800"/>
            <a:ext cx="0" cy="137160"/>
          </a:xfrm>
          <a:prstGeom prst="straightConnector1">
            <a:avLst/>
          </a:prstGeom>
          <a:noFill/>
          <a:ln w="19050" cap="flat" cmpd="sng">
            <a:solidFill>
              <a:srgbClr val="B58A2C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487" name="Google Shape;487;p17"/>
          <p:cNvCxnSpPr/>
          <p:nvPr/>
        </p:nvCxnSpPr>
        <p:spPr>
          <a:xfrm>
            <a:off x="6035040" y="4389120"/>
            <a:ext cx="0" cy="137160"/>
          </a:xfrm>
          <a:prstGeom prst="straightConnector1">
            <a:avLst/>
          </a:prstGeom>
          <a:noFill/>
          <a:ln w="19050" cap="flat" cmpd="sng">
            <a:solidFill>
              <a:srgbClr val="B58A2C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488" name="Google Shape;488;p17"/>
          <p:cNvSpPr/>
          <p:nvPr/>
        </p:nvSpPr>
        <p:spPr>
          <a:xfrm>
            <a:off x="502920" y="5852160"/>
            <a:ext cx="11338560" cy="502920"/>
          </a:xfrm>
          <a:prstGeom prst="rect">
            <a:avLst/>
          </a:prstGeom>
          <a:solidFill>
            <a:srgbClr val="1432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502920" y="5852160"/>
            <a:ext cx="73152" cy="502920"/>
          </a:xfrm>
          <a:prstGeom prst="rect">
            <a:avLst/>
          </a:prstGeom>
          <a:solidFill>
            <a:srgbClr val="B58A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"/>
          <p:cNvSpPr txBox="1"/>
          <p:nvPr/>
        </p:nvSpPr>
        <p:spPr>
          <a:xfrm>
            <a:off x="777240" y="58521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Dependencias: Presentación → Negocio → Datos   ·   Traza: cada CU del Inc.1 atraviesa las 3 capas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8"/>
          <p:cNvSpPr txBox="1"/>
          <p:nvPr/>
        </p:nvSpPr>
        <p:spPr>
          <a:xfrm>
            <a:off x="502920" y="27432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1F4133"/>
                </a:solidFill>
                <a:latin typeface="Georgia"/>
                <a:ea typeface="Georgia"/>
                <a:cs typeface="Georgia"/>
                <a:sym typeface="Georgia"/>
              </a:rPr>
              <a:t>5.5. Vista Física · Despliegue</a:t>
            </a:r>
            <a:endParaRPr/>
          </a:p>
        </p:txBody>
      </p:sp>
      <p:sp>
        <p:nvSpPr>
          <p:cNvPr id="497" name="Google Shape;497;p18"/>
          <p:cNvSpPr txBox="1"/>
          <p:nvPr/>
        </p:nvSpPr>
        <p:spPr>
          <a:xfrm>
            <a:off x="502920" y="96012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u="none" strike="noStrike" cap="none">
                <a:solidFill>
                  <a:srgbClr val="3C4640"/>
                </a:solidFill>
                <a:latin typeface="Georgia"/>
                <a:ea typeface="Georgia"/>
                <a:cs typeface="Georgia"/>
                <a:sym typeface="Georgia"/>
              </a:rPr>
              <a:t>Figura 4.6 · LAN local · 3 nodos cliente/servidor + 1 NAS de respaldo</a:t>
            </a:r>
            <a:endParaRPr/>
          </a:p>
        </p:txBody>
      </p:sp>
      <p:sp>
        <p:nvSpPr>
          <p:cNvPr id="498" name="Google Shape;498;p18"/>
          <p:cNvSpPr/>
          <p:nvPr/>
        </p:nvSpPr>
        <p:spPr>
          <a:xfrm>
            <a:off x="9921240" y="320040"/>
            <a:ext cx="1920240" cy="502920"/>
          </a:xfrm>
          <a:prstGeom prst="rect">
            <a:avLst/>
          </a:prstGeom>
          <a:solidFill>
            <a:srgbClr val="F5F0E1"/>
          </a:solidFill>
          <a:ln w="12700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8"/>
          <p:cNvSpPr txBox="1"/>
          <p:nvPr/>
        </p:nvSpPr>
        <p:spPr>
          <a:xfrm>
            <a:off x="9921240" y="3200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Inc 1 · §4.5</a:t>
            </a:r>
            <a:endParaRPr/>
          </a:p>
        </p:txBody>
      </p:sp>
      <p:sp>
        <p:nvSpPr>
          <p:cNvPr id="500" name="Google Shape;500;p18"/>
          <p:cNvSpPr/>
          <p:nvPr/>
        </p:nvSpPr>
        <p:spPr>
          <a:xfrm>
            <a:off x="502920" y="1645920"/>
            <a:ext cx="11338560" cy="416052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19050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8"/>
          <p:cNvSpPr txBox="1"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RED LAN LOCAL — Minimarket Antucayen</a:t>
            </a:r>
            <a:endParaRPr/>
          </a:p>
        </p:txBody>
      </p:sp>
      <p:sp>
        <p:nvSpPr>
          <p:cNvPr id="502" name="Google Shape;502;p18"/>
          <p:cNvSpPr/>
          <p:nvPr/>
        </p:nvSpPr>
        <p:spPr>
          <a:xfrm>
            <a:off x="868680" y="2103120"/>
            <a:ext cx="3108960" cy="3337560"/>
          </a:xfrm>
          <a:prstGeom prst="rect">
            <a:avLst/>
          </a:prstGeom>
          <a:solidFill>
            <a:srgbClr val="FEFEFD"/>
          </a:solidFill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868680" y="2103120"/>
            <a:ext cx="3108960" cy="292608"/>
          </a:xfrm>
          <a:prstGeom prst="rect">
            <a:avLst/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8"/>
          <p:cNvSpPr txBox="1"/>
          <p:nvPr/>
        </p:nvSpPr>
        <p:spPr>
          <a:xfrm>
            <a:off x="868680" y="210312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«device»</a:t>
            </a:r>
            <a:endParaRPr/>
          </a:p>
        </p:txBody>
      </p:sp>
      <p:sp>
        <p:nvSpPr>
          <p:cNvPr id="505" name="Google Shape;505;p18"/>
          <p:cNvSpPr txBox="1"/>
          <p:nvPr/>
        </p:nvSpPr>
        <p:spPr>
          <a:xfrm>
            <a:off x="868680" y="2395728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PC Administrador  (Servidor)</a:t>
            </a:r>
            <a:endParaRPr/>
          </a:p>
        </p:txBody>
      </p:sp>
      <p:sp>
        <p:nvSpPr>
          <p:cNvPr id="506" name="Google Shape;506;p18"/>
          <p:cNvSpPr/>
          <p:nvPr/>
        </p:nvSpPr>
        <p:spPr>
          <a:xfrm>
            <a:off x="960120" y="2761488"/>
            <a:ext cx="2926080" cy="274320"/>
          </a:xfrm>
          <a:prstGeom prst="roundRect">
            <a:avLst>
              <a:gd name="adj" fmla="val 16667"/>
            </a:avLst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8"/>
          <p:cNvSpPr txBox="1"/>
          <p:nvPr/>
        </p:nvSpPr>
        <p:spPr>
          <a:xfrm>
            <a:off x="960120" y="276148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«artifact»  api-rest.jar</a:t>
            </a:r>
            <a:endParaRPr/>
          </a:p>
        </p:txBody>
      </p:sp>
      <p:sp>
        <p:nvSpPr>
          <p:cNvPr id="508" name="Google Shape;508;p18"/>
          <p:cNvSpPr txBox="1"/>
          <p:nvPr/>
        </p:nvSpPr>
        <p:spPr>
          <a:xfrm>
            <a:off x="960120" y="303580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Spring Boot 3.x · JVM 17</a:t>
            </a:r>
            <a:endParaRPr/>
          </a:p>
        </p:txBody>
      </p:sp>
      <p:sp>
        <p:nvSpPr>
          <p:cNvPr id="509" name="Google Shape;509;p18"/>
          <p:cNvSpPr/>
          <p:nvPr/>
        </p:nvSpPr>
        <p:spPr>
          <a:xfrm>
            <a:off x="960120" y="3264408"/>
            <a:ext cx="2926080" cy="274320"/>
          </a:xfrm>
          <a:prstGeom prst="roundRect">
            <a:avLst>
              <a:gd name="adj" fmla="val 16667"/>
            </a:avLst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8"/>
          <p:cNvSpPr txBox="1"/>
          <p:nvPr/>
        </p:nvSpPr>
        <p:spPr>
          <a:xfrm>
            <a:off x="960120" y="326440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«artifact»  minimarket_db</a:t>
            </a:r>
            <a:endParaRPr/>
          </a:p>
        </p:txBody>
      </p:sp>
      <p:sp>
        <p:nvSpPr>
          <p:cNvPr id="511" name="Google Shape;511;p18"/>
          <p:cNvSpPr txBox="1"/>
          <p:nvPr/>
        </p:nvSpPr>
        <p:spPr>
          <a:xfrm>
            <a:off x="960120" y="3538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MySQL Server 8.0</a:t>
            </a:r>
            <a:endParaRPr/>
          </a:p>
        </p:txBody>
      </p:sp>
      <p:sp>
        <p:nvSpPr>
          <p:cNvPr id="512" name="Google Shape;512;p18"/>
          <p:cNvSpPr/>
          <p:nvPr/>
        </p:nvSpPr>
        <p:spPr>
          <a:xfrm>
            <a:off x="960120" y="3767328"/>
            <a:ext cx="2926080" cy="274320"/>
          </a:xfrm>
          <a:prstGeom prst="roundRect">
            <a:avLst>
              <a:gd name="adj" fmla="val 16667"/>
            </a:avLst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8"/>
          <p:cNvSpPr txBox="1"/>
          <p:nvPr/>
        </p:nvSpPr>
        <p:spPr>
          <a:xfrm>
            <a:off x="960120" y="37673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«artifact»  Endpoints REST</a:t>
            </a:r>
            <a:endParaRPr/>
          </a:p>
        </p:txBody>
      </p:sp>
      <p:sp>
        <p:nvSpPr>
          <p:cNvPr id="514" name="Google Shape;514;p18"/>
          <p:cNvSpPr txBox="1"/>
          <p:nvPr/>
        </p:nvSpPr>
        <p:spPr>
          <a:xfrm>
            <a:off x="960120" y="404164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HTTP · JSON</a:t>
            </a:r>
            <a:endParaRPr/>
          </a:p>
        </p:txBody>
      </p:sp>
      <p:sp>
        <p:nvSpPr>
          <p:cNvPr id="515" name="Google Shape;515;p18"/>
          <p:cNvSpPr/>
          <p:nvPr/>
        </p:nvSpPr>
        <p:spPr>
          <a:xfrm>
            <a:off x="4572000" y="2286000"/>
            <a:ext cx="2834640" cy="2697480"/>
          </a:xfrm>
          <a:prstGeom prst="rect">
            <a:avLst/>
          </a:prstGeom>
          <a:solidFill>
            <a:srgbClr val="FEFEFD"/>
          </a:solidFill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4572000" y="2286000"/>
            <a:ext cx="2834640" cy="292608"/>
          </a:xfrm>
          <a:prstGeom prst="rect">
            <a:avLst/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8"/>
          <p:cNvSpPr txBox="1"/>
          <p:nvPr/>
        </p:nvSpPr>
        <p:spPr>
          <a:xfrm>
            <a:off x="4572000" y="22860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«device»</a:t>
            </a:r>
            <a:endParaRPr/>
          </a:p>
        </p:txBody>
      </p:sp>
      <p:sp>
        <p:nvSpPr>
          <p:cNvPr id="518" name="Google Shape;518;p18"/>
          <p:cNvSpPr txBox="1"/>
          <p:nvPr/>
        </p:nvSpPr>
        <p:spPr>
          <a:xfrm>
            <a:off x="4572000" y="257860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PC Bodeguero</a:t>
            </a:r>
            <a:endParaRPr/>
          </a:p>
        </p:txBody>
      </p:sp>
      <p:sp>
        <p:nvSpPr>
          <p:cNvPr id="519" name="Google Shape;519;p18"/>
          <p:cNvSpPr/>
          <p:nvPr/>
        </p:nvSpPr>
        <p:spPr>
          <a:xfrm>
            <a:off x="4663440" y="2944368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8"/>
          <p:cNvSpPr txBox="1"/>
          <p:nvPr/>
        </p:nvSpPr>
        <p:spPr>
          <a:xfrm>
            <a:off x="4663440" y="29443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«artifact»  cliente-swing.jar</a:t>
            </a:r>
            <a:endParaRPr/>
          </a:p>
        </p:txBody>
      </p:sp>
      <p:sp>
        <p:nvSpPr>
          <p:cNvPr id="521" name="Google Shape;521;p18"/>
          <p:cNvSpPr txBox="1"/>
          <p:nvPr/>
        </p:nvSpPr>
        <p:spPr>
          <a:xfrm>
            <a:off x="4663440" y="321868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Java Swing · JVM 17</a:t>
            </a:r>
            <a:endParaRPr/>
          </a:p>
        </p:txBody>
      </p:sp>
      <p:sp>
        <p:nvSpPr>
          <p:cNvPr id="522" name="Google Shape;522;p18"/>
          <p:cNvSpPr/>
          <p:nvPr/>
        </p:nvSpPr>
        <p:spPr>
          <a:xfrm>
            <a:off x="4663440" y="3447288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8"/>
          <p:cNvSpPr txBox="1"/>
          <p:nvPr/>
        </p:nvSpPr>
        <p:spPr>
          <a:xfrm>
            <a:off x="4663440" y="344728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«artifact»  Lector cód. barras</a:t>
            </a:r>
            <a:endParaRPr/>
          </a:p>
        </p:txBody>
      </p:sp>
      <p:sp>
        <p:nvSpPr>
          <p:cNvPr id="524" name="Google Shape;524;p18"/>
          <p:cNvSpPr txBox="1"/>
          <p:nvPr/>
        </p:nvSpPr>
        <p:spPr>
          <a:xfrm>
            <a:off x="4663440" y="372160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USB HID estándar</a:t>
            </a:r>
            <a:endParaRPr/>
          </a:p>
        </p:txBody>
      </p:sp>
      <p:sp>
        <p:nvSpPr>
          <p:cNvPr id="525" name="Google Shape;525;p18"/>
          <p:cNvSpPr/>
          <p:nvPr/>
        </p:nvSpPr>
        <p:spPr>
          <a:xfrm>
            <a:off x="7955279" y="2286000"/>
            <a:ext cx="2834640" cy="2194560"/>
          </a:xfrm>
          <a:prstGeom prst="rect">
            <a:avLst/>
          </a:prstGeom>
          <a:solidFill>
            <a:srgbClr val="FEFEFD"/>
          </a:solidFill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7955279" y="2286000"/>
            <a:ext cx="2834640" cy="292608"/>
          </a:xfrm>
          <a:prstGeom prst="rect">
            <a:avLst/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8"/>
          <p:cNvSpPr txBox="1"/>
          <p:nvPr/>
        </p:nvSpPr>
        <p:spPr>
          <a:xfrm>
            <a:off x="7955279" y="22860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«device»</a:t>
            </a:r>
            <a:endParaRPr/>
          </a:p>
        </p:txBody>
      </p:sp>
      <p:sp>
        <p:nvSpPr>
          <p:cNvPr id="528" name="Google Shape;528;p18"/>
          <p:cNvSpPr txBox="1"/>
          <p:nvPr/>
        </p:nvSpPr>
        <p:spPr>
          <a:xfrm>
            <a:off x="7955279" y="257860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PC Cajero</a:t>
            </a:r>
            <a:endParaRPr/>
          </a:p>
        </p:txBody>
      </p:sp>
      <p:sp>
        <p:nvSpPr>
          <p:cNvPr id="529" name="Google Shape;529;p18"/>
          <p:cNvSpPr/>
          <p:nvPr/>
        </p:nvSpPr>
        <p:spPr>
          <a:xfrm>
            <a:off x="8046719" y="2944368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8"/>
          <p:cNvSpPr txBox="1"/>
          <p:nvPr/>
        </p:nvSpPr>
        <p:spPr>
          <a:xfrm>
            <a:off x="8046719" y="29443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«artifact»  cliente-swing.jar</a:t>
            </a:r>
            <a:endParaRPr/>
          </a:p>
        </p:txBody>
      </p:sp>
      <p:sp>
        <p:nvSpPr>
          <p:cNvPr id="531" name="Google Shape;531;p18"/>
          <p:cNvSpPr txBox="1"/>
          <p:nvPr/>
        </p:nvSpPr>
        <p:spPr>
          <a:xfrm>
            <a:off x="8046719" y="321868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Java Swing · JVM 17</a:t>
            </a:r>
            <a:endParaRPr/>
          </a:p>
        </p:txBody>
      </p:sp>
      <p:sp>
        <p:nvSpPr>
          <p:cNvPr id="532" name="Google Shape;532;p18"/>
          <p:cNvSpPr/>
          <p:nvPr/>
        </p:nvSpPr>
        <p:spPr>
          <a:xfrm>
            <a:off x="10058400" y="4937760"/>
            <a:ext cx="1600200" cy="777240"/>
          </a:xfrm>
          <a:prstGeom prst="can">
            <a:avLst>
              <a:gd name="adj" fmla="val 25000"/>
            </a:avLst>
          </a:prstGeom>
          <a:solidFill>
            <a:srgbClr val="FEFEFD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8"/>
          <p:cNvSpPr txBox="1"/>
          <p:nvPr/>
        </p:nvSpPr>
        <p:spPr>
          <a:xfrm>
            <a:off x="10058400" y="50292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NAS Backup</a:t>
            </a:r>
            <a:endParaRPr/>
          </a:p>
        </p:txBody>
      </p:sp>
      <p:sp>
        <p:nvSpPr>
          <p:cNvPr id="534" name="Google Shape;534;p18"/>
          <p:cNvSpPr txBox="1"/>
          <p:nvPr/>
        </p:nvSpPr>
        <p:spPr>
          <a:xfrm>
            <a:off x="10058400" y="53035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mysqldump diario</a:t>
            </a:r>
            <a:endParaRPr/>
          </a:p>
        </p:txBody>
      </p:sp>
      <p:cxnSp>
        <p:nvCxnSpPr>
          <p:cNvPr id="535" name="Google Shape;535;p18"/>
          <p:cNvCxnSpPr/>
          <p:nvPr/>
        </p:nvCxnSpPr>
        <p:spPr>
          <a:xfrm>
            <a:off x="1325880" y="5440680"/>
            <a:ext cx="9006839" cy="0"/>
          </a:xfrm>
          <a:prstGeom prst="straightConnector1">
            <a:avLst/>
          </a:prstGeom>
          <a:noFill/>
          <a:ln w="2540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536" name="Google Shape;536;p18"/>
          <p:cNvSpPr txBox="1"/>
          <p:nvPr/>
        </p:nvSpPr>
        <p:spPr>
          <a:xfrm>
            <a:off x="960854" y="5120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LAN local · HTTP/REST · JSON</a:t>
            </a:r>
            <a:endParaRPr/>
          </a:p>
        </p:txBody>
      </p:sp>
      <p:cxnSp>
        <p:nvCxnSpPr>
          <p:cNvPr id="537" name="Google Shape;537;p18"/>
          <p:cNvCxnSpPr/>
          <p:nvPr/>
        </p:nvCxnSpPr>
        <p:spPr>
          <a:xfrm>
            <a:off x="2423160" y="5440680"/>
            <a:ext cx="0" cy="0"/>
          </a:xfrm>
          <a:prstGeom prst="straightConnector1">
            <a:avLst/>
          </a:prstGeom>
          <a:noFill/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538" name="Google Shape;538;p18"/>
          <p:cNvCxnSpPr/>
          <p:nvPr/>
        </p:nvCxnSpPr>
        <p:spPr>
          <a:xfrm>
            <a:off x="5989320" y="4983480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539" name="Google Shape;539;p18"/>
          <p:cNvCxnSpPr/>
          <p:nvPr/>
        </p:nvCxnSpPr>
        <p:spPr>
          <a:xfrm>
            <a:off x="9372599" y="4480560"/>
            <a:ext cx="0" cy="960120"/>
          </a:xfrm>
          <a:prstGeom prst="straightConnector1">
            <a:avLst/>
          </a:prstGeom>
          <a:noFill/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540" name="Google Shape;540;p18"/>
          <p:cNvCxnSpPr/>
          <p:nvPr/>
        </p:nvCxnSpPr>
        <p:spPr>
          <a:xfrm rot="10800000" flipH="1">
            <a:off x="3703320" y="4937760"/>
            <a:ext cx="7155180" cy="502920"/>
          </a:xfrm>
          <a:prstGeom prst="straightConnector1">
            <a:avLst/>
          </a:prstGeom>
          <a:noFill/>
          <a:ln w="12700" cap="flat" cmpd="sng">
            <a:solidFill>
              <a:srgbClr val="1F4133"/>
            </a:solidFill>
            <a:prstDash val="dash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541" name="Google Shape;541;p18"/>
          <p:cNvSpPr txBox="1"/>
          <p:nvPr/>
        </p:nvSpPr>
        <p:spPr>
          <a:xfrm>
            <a:off x="7498079" y="553212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Respaldo diario (mysqldump)</a:t>
            </a:r>
            <a:endParaRPr/>
          </a:p>
        </p:txBody>
      </p:sp>
      <p:sp>
        <p:nvSpPr>
          <p:cNvPr id="542" name="Google Shape;542;p18"/>
          <p:cNvSpPr/>
          <p:nvPr/>
        </p:nvSpPr>
        <p:spPr>
          <a:xfrm>
            <a:off x="502920" y="5852160"/>
            <a:ext cx="11338560" cy="502920"/>
          </a:xfrm>
          <a:prstGeom prst="rect">
            <a:avLst/>
          </a:prstGeom>
          <a:solidFill>
            <a:srgbClr val="1432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502920" y="5852160"/>
            <a:ext cx="73152" cy="502920"/>
          </a:xfrm>
          <a:prstGeom prst="rect">
            <a:avLst/>
          </a:prstGeom>
          <a:solidFill>
            <a:srgbClr val="B58A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8"/>
          <p:cNvSpPr txBox="1"/>
          <p:nvPr/>
        </p:nvSpPr>
        <p:spPr>
          <a:xfrm>
            <a:off x="777240" y="58521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Internet   ·   Sin licencias (stack libre)   ·   RNF: respaldo diario · sesión 30 min · HTTPS/JSON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9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5.6. Arbol de navegación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 1 · §4.6 · Figura 4.7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Minimarket Antucayen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6" name="Google Shape;55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970" y="1554480"/>
            <a:ext cx="11696379" cy="3445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8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6. Matriz de trazabilidad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8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n-US" sz="1600" b="0" i="1" u="none" strike="noStrike" cap="none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UR ↔ CU ↔ Diagrama ↔ Prueba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8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8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 1 · §2.5 · Tabla 2.4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8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Relaciona cada requerimiento con su caso de uso, su figura de diseño y su caso de prueba. Permite navegar bidireccionalmente desde cualquier elemento hasta su evidencia de cumplimiento.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8"/>
          <p:cNvSpPr/>
          <p:nvPr/>
        </p:nvSpPr>
        <p:spPr>
          <a:xfrm>
            <a:off x="457200" y="2377440"/>
            <a:ext cx="1920240" cy="10058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8"/>
          <p:cNvSpPr/>
          <p:nvPr/>
        </p:nvSpPr>
        <p:spPr>
          <a:xfrm>
            <a:off x="457200" y="2377440"/>
            <a:ext cx="91440" cy="1005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8"/>
          <p:cNvSpPr/>
          <p:nvPr/>
        </p:nvSpPr>
        <p:spPr>
          <a:xfrm>
            <a:off x="640080" y="24688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8"/>
          <p:cNvSpPr/>
          <p:nvPr/>
        </p:nvSpPr>
        <p:spPr>
          <a:xfrm>
            <a:off x="640080" y="2743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Problema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8"/>
          <p:cNvSpPr/>
          <p:nvPr/>
        </p:nvSpPr>
        <p:spPr>
          <a:xfrm>
            <a:off x="640080" y="31089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Doc 0 · §2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8"/>
          <p:cNvSpPr/>
          <p:nvPr/>
        </p:nvSpPr>
        <p:spPr>
          <a:xfrm>
            <a:off x="2359152" y="269748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8"/>
          <p:cNvSpPr/>
          <p:nvPr/>
        </p:nvSpPr>
        <p:spPr>
          <a:xfrm>
            <a:off x="2624328" y="2377440"/>
            <a:ext cx="1920240" cy="10058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8"/>
          <p:cNvSpPr/>
          <p:nvPr/>
        </p:nvSpPr>
        <p:spPr>
          <a:xfrm>
            <a:off x="2624328" y="2377440"/>
            <a:ext cx="91440" cy="1005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8"/>
          <p:cNvSpPr/>
          <p:nvPr/>
        </p:nvSpPr>
        <p:spPr>
          <a:xfrm>
            <a:off x="2807208" y="24688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8"/>
          <p:cNvSpPr/>
          <p:nvPr/>
        </p:nvSpPr>
        <p:spPr>
          <a:xfrm>
            <a:off x="2807208" y="2743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Requerimiento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8"/>
          <p:cNvSpPr/>
          <p:nvPr/>
        </p:nvSpPr>
        <p:spPr>
          <a:xfrm>
            <a:off x="2807208" y="31089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UR estándar ESA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8"/>
          <p:cNvSpPr/>
          <p:nvPr/>
        </p:nvSpPr>
        <p:spPr>
          <a:xfrm>
            <a:off x="4526280" y="269748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8"/>
          <p:cNvSpPr/>
          <p:nvPr/>
        </p:nvSpPr>
        <p:spPr>
          <a:xfrm>
            <a:off x="4791456" y="2377440"/>
            <a:ext cx="1920240" cy="10058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8"/>
          <p:cNvSpPr/>
          <p:nvPr/>
        </p:nvSpPr>
        <p:spPr>
          <a:xfrm>
            <a:off x="4791456" y="2377440"/>
            <a:ext cx="91440" cy="1005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8"/>
          <p:cNvSpPr/>
          <p:nvPr/>
        </p:nvSpPr>
        <p:spPr>
          <a:xfrm>
            <a:off x="4974336" y="24688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8"/>
          <p:cNvSpPr/>
          <p:nvPr/>
        </p:nvSpPr>
        <p:spPr>
          <a:xfrm>
            <a:off x="4974336" y="2743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Caso de uso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8"/>
          <p:cNvSpPr/>
          <p:nvPr/>
        </p:nvSpPr>
        <p:spPr>
          <a:xfrm>
            <a:off x="4974336" y="31089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Inc 1 · §2.4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8"/>
          <p:cNvSpPr/>
          <p:nvPr/>
        </p:nvSpPr>
        <p:spPr>
          <a:xfrm>
            <a:off x="6693408" y="269748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8"/>
          <p:cNvSpPr/>
          <p:nvPr/>
        </p:nvSpPr>
        <p:spPr>
          <a:xfrm>
            <a:off x="6958584" y="2377440"/>
            <a:ext cx="1920240" cy="10058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8"/>
          <p:cNvSpPr/>
          <p:nvPr/>
        </p:nvSpPr>
        <p:spPr>
          <a:xfrm>
            <a:off x="6958584" y="2377440"/>
            <a:ext cx="91440" cy="1005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8"/>
          <p:cNvSpPr/>
          <p:nvPr/>
        </p:nvSpPr>
        <p:spPr>
          <a:xfrm>
            <a:off x="7141464" y="24688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8"/>
          <p:cNvSpPr/>
          <p:nvPr/>
        </p:nvSpPr>
        <p:spPr>
          <a:xfrm>
            <a:off x="7141464" y="2743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Diagrama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8"/>
          <p:cNvSpPr/>
          <p:nvPr/>
        </p:nvSpPr>
        <p:spPr>
          <a:xfrm>
            <a:off x="7141464" y="31089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Figura 4.4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8"/>
          <p:cNvSpPr/>
          <p:nvPr/>
        </p:nvSpPr>
        <p:spPr>
          <a:xfrm>
            <a:off x="8860536" y="269748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8"/>
          <p:cNvSpPr/>
          <p:nvPr/>
        </p:nvSpPr>
        <p:spPr>
          <a:xfrm>
            <a:off x="9125712" y="2377440"/>
            <a:ext cx="1920240" cy="10058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8"/>
          <p:cNvSpPr/>
          <p:nvPr/>
        </p:nvSpPr>
        <p:spPr>
          <a:xfrm>
            <a:off x="9125712" y="2377440"/>
            <a:ext cx="91440" cy="1005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8"/>
          <p:cNvSpPr/>
          <p:nvPr/>
        </p:nvSpPr>
        <p:spPr>
          <a:xfrm>
            <a:off x="9308592" y="24688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8"/>
          <p:cNvSpPr/>
          <p:nvPr/>
        </p:nvSpPr>
        <p:spPr>
          <a:xfrm>
            <a:off x="9308592" y="2743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Prueba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8"/>
          <p:cNvSpPr/>
          <p:nvPr/>
        </p:nvSpPr>
        <p:spPr>
          <a:xfrm>
            <a:off x="9308592" y="31089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Inc 1 · §5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8"/>
          <p:cNvSpPr/>
          <p:nvPr/>
        </p:nvSpPr>
        <p:spPr>
          <a:xfrm>
            <a:off x="457200" y="36576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n-US" sz="1400" b="1" i="1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Ejemplo de cadena completa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8"/>
          <p:cNvSpPr/>
          <p:nvPr/>
        </p:nvSpPr>
        <p:spPr>
          <a:xfrm>
            <a:off x="457200" y="402336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8"/>
          <p:cNvSpPr/>
          <p:nvPr/>
        </p:nvSpPr>
        <p:spPr>
          <a:xfrm>
            <a:off x="457200" y="402336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Sin control de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acceso por roles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8"/>
          <p:cNvSpPr/>
          <p:nvPr/>
        </p:nvSpPr>
        <p:spPr>
          <a:xfrm>
            <a:off x="2359152" y="414223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8"/>
          <p:cNvSpPr/>
          <p:nvPr/>
        </p:nvSpPr>
        <p:spPr>
          <a:xfrm>
            <a:off x="2624328" y="402336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8"/>
          <p:cNvSpPr/>
          <p:nvPr/>
        </p:nvSpPr>
        <p:spPr>
          <a:xfrm>
            <a:off x="2624328" y="402336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RF-62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8"/>
          <p:cNvSpPr/>
          <p:nvPr/>
        </p:nvSpPr>
        <p:spPr>
          <a:xfrm>
            <a:off x="4526280" y="414223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8"/>
          <p:cNvSpPr/>
          <p:nvPr/>
        </p:nvSpPr>
        <p:spPr>
          <a:xfrm>
            <a:off x="4791456" y="402336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8"/>
          <p:cNvSpPr/>
          <p:nvPr/>
        </p:nvSpPr>
        <p:spPr>
          <a:xfrm>
            <a:off x="4791456" y="402336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CU-35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8"/>
          <p:cNvSpPr/>
          <p:nvPr/>
        </p:nvSpPr>
        <p:spPr>
          <a:xfrm>
            <a:off x="6693408" y="414223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8"/>
          <p:cNvSpPr/>
          <p:nvPr/>
        </p:nvSpPr>
        <p:spPr>
          <a:xfrm>
            <a:off x="6958584" y="402336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8"/>
          <p:cNvSpPr/>
          <p:nvPr/>
        </p:nvSpPr>
        <p:spPr>
          <a:xfrm>
            <a:off x="6958584" y="402336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Figura 4.4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DS-35 (4.4c)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8"/>
          <p:cNvSpPr/>
          <p:nvPr/>
        </p:nvSpPr>
        <p:spPr>
          <a:xfrm>
            <a:off x="8860536" y="414223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8"/>
          <p:cNvSpPr/>
          <p:nvPr/>
        </p:nvSpPr>
        <p:spPr>
          <a:xfrm>
            <a:off x="9125712" y="4023360"/>
            <a:ext cx="1920240" cy="530352"/>
          </a:xfrm>
          <a:prstGeom prst="rect">
            <a:avLst/>
          </a:prstGeom>
          <a:solidFill>
            <a:srgbClr val="DCFCE7"/>
          </a:solidFill>
          <a:ln w="9525" cap="flat" cmpd="sng">
            <a:solidFill>
              <a:srgbClr val="1B7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8"/>
          <p:cNvSpPr/>
          <p:nvPr/>
        </p:nvSpPr>
        <p:spPr>
          <a:xfrm>
            <a:off x="9125712" y="402336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PT-04-01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8"/>
          <p:cNvSpPr/>
          <p:nvPr/>
        </p:nvSpPr>
        <p:spPr>
          <a:xfrm>
            <a:off x="457200" y="461772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8"/>
          <p:cNvSpPr/>
          <p:nvPr/>
        </p:nvSpPr>
        <p:spPr>
          <a:xfrm>
            <a:off x="457200" y="461772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Catálogo desestructurado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de productos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8"/>
          <p:cNvSpPr/>
          <p:nvPr/>
        </p:nvSpPr>
        <p:spPr>
          <a:xfrm>
            <a:off x="2359152" y="473659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8"/>
          <p:cNvSpPr/>
          <p:nvPr/>
        </p:nvSpPr>
        <p:spPr>
          <a:xfrm>
            <a:off x="2624328" y="461772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8"/>
          <p:cNvSpPr/>
          <p:nvPr/>
        </p:nvSpPr>
        <p:spPr>
          <a:xfrm>
            <a:off x="2624328" y="461772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RF-01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8"/>
          <p:cNvSpPr/>
          <p:nvPr/>
        </p:nvSpPr>
        <p:spPr>
          <a:xfrm>
            <a:off x="4526280" y="473659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8"/>
          <p:cNvSpPr/>
          <p:nvPr/>
        </p:nvSpPr>
        <p:spPr>
          <a:xfrm>
            <a:off x="4791456" y="461772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8"/>
          <p:cNvSpPr/>
          <p:nvPr/>
        </p:nvSpPr>
        <p:spPr>
          <a:xfrm>
            <a:off x="4791456" y="461772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CU-01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8"/>
          <p:cNvSpPr/>
          <p:nvPr/>
        </p:nvSpPr>
        <p:spPr>
          <a:xfrm>
            <a:off x="6693408" y="473659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8"/>
          <p:cNvSpPr/>
          <p:nvPr/>
        </p:nvSpPr>
        <p:spPr>
          <a:xfrm>
            <a:off x="6958584" y="461772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8"/>
          <p:cNvSpPr/>
          <p:nvPr/>
        </p:nvSpPr>
        <p:spPr>
          <a:xfrm>
            <a:off x="6958584" y="461772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Figura 4.4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DS-01 (4.4a)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8"/>
          <p:cNvSpPr/>
          <p:nvPr/>
        </p:nvSpPr>
        <p:spPr>
          <a:xfrm>
            <a:off x="8860536" y="473659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8"/>
          <p:cNvSpPr/>
          <p:nvPr/>
        </p:nvSpPr>
        <p:spPr>
          <a:xfrm>
            <a:off x="9125712" y="4617720"/>
            <a:ext cx="1920240" cy="530352"/>
          </a:xfrm>
          <a:prstGeom prst="rect">
            <a:avLst/>
          </a:prstGeom>
          <a:solidFill>
            <a:srgbClr val="DCFCE7"/>
          </a:solidFill>
          <a:ln w="9525" cap="flat" cmpd="sng">
            <a:solidFill>
              <a:srgbClr val="1B7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8"/>
          <p:cNvSpPr/>
          <p:nvPr/>
        </p:nvSpPr>
        <p:spPr>
          <a:xfrm>
            <a:off x="9125712" y="461772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PT-01-01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8"/>
          <p:cNvSpPr/>
          <p:nvPr/>
        </p:nvSpPr>
        <p:spPr>
          <a:xfrm>
            <a:off x="457200" y="521208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8"/>
          <p:cNvSpPr/>
          <p:nvPr/>
        </p:nvSpPr>
        <p:spPr>
          <a:xfrm>
            <a:off x="457200" y="521208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Ajuste manual de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8"/>
          <p:cNvSpPr/>
          <p:nvPr/>
        </p:nvSpPr>
        <p:spPr>
          <a:xfrm>
            <a:off x="2359152" y="533095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8"/>
          <p:cNvSpPr/>
          <p:nvPr/>
        </p:nvSpPr>
        <p:spPr>
          <a:xfrm>
            <a:off x="2624328" y="521208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8"/>
          <p:cNvSpPr/>
          <p:nvPr/>
        </p:nvSpPr>
        <p:spPr>
          <a:xfrm>
            <a:off x="2624328" y="521208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RF-43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8"/>
          <p:cNvSpPr/>
          <p:nvPr/>
        </p:nvSpPr>
        <p:spPr>
          <a:xfrm>
            <a:off x="4526280" y="533095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8"/>
          <p:cNvSpPr/>
          <p:nvPr/>
        </p:nvSpPr>
        <p:spPr>
          <a:xfrm>
            <a:off x="4791456" y="521208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8"/>
          <p:cNvSpPr/>
          <p:nvPr/>
        </p:nvSpPr>
        <p:spPr>
          <a:xfrm>
            <a:off x="4791456" y="521208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CU-27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8"/>
          <p:cNvSpPr/>
          <p:nvPr/>
        </p:nvSpPr>
        <p:spPr>
          <a:xfrm>
            <a:off x="6693408" y="533095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8"/>
          <p:cNvSpPr/>
          <p:nvPr/>
        </p:nvSpPr>
        <p:spPr>
          <a:xfrm>
            <a:off x="6958584" y="521208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8"/>
          <p:cNvSpPr/>
          <p:nvPr/>
        </p:nvSpPr>
        <p:spPr>
          <a:xfrm>
            <a:off x="6958584" y="521208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Figura 4.4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DS-27 (4.4b)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8"/>
          <p:cNvSpPr/>
          <p:nvPr/>
        </p:nvSpPr>
        <p:spPr>
          <a:xfrm>
            <a:off x="8860536" y="533095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8"/>
          <p:cNvSpPr/>
          <p:nvPr/>
        </p:nvSpPr>
        <p:spPr>
          <a:xfrm>
            <a:off x="9125712" y="5212080"/>
            <a:ext cx="1920240" cy="530352"/>
          </a:xfrm>
          <a:prstGeom prst="rect">
            <a:avLst/>
          </a:prstGeom>
          <a:solidFill>
            <a:srgbClr val="DCFCE7"/>
          </a:solidFill>
          <a:ln w="9525" cap="flat" cmpd="sng">
            <a:solidFill>
              <a:srgbClr val="1B7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8"/>
          <p:cNvSpPr/>
          <p:nvPr/>
        </p:nvSpPr>
        <p:spPr>
          <a:xfrm>
            <a:off x="9125712" y="521208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PT-05-02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8"/>
          <p:cNvSpPr/>
          <p:nvPr/>
        </p:nvSpPr>
        <p:spPr>
          <a:xfrm>
            <a:off x="457200" y="5989320"/>
            <a:ext cx="11247120" cy="13716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8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Tabla 2.4 traza los 24 URs   •   3 CUs   •   3 Figuras   •   20 casos de prueba ejecutados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8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Minimarket Antucayen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0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7. Pruebas unitarias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0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n-US" sz="1600" b="0" i="1" u="none" strike="noStrike" cap="none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20 casos ejecutados sobre sistema funcional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0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0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 1 · §5 · Tablas 5.1-5.3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0"/>
          <p:cNvSpPr/>
          <p:nvPr/>
        </p:nvSpPr>
        <p:spPr>
          <a:xfrm>
            <a:off x="457200" y="1783080"/>
            <a:ext cx="5029200" cy="4434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0"/>
          <p:cNvSpPr/>
          <p:nvPr/>
        </p:nvSpPr>
        <p:spPr>
          <a:xfrm>
            <a:off x="640080" y="196596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RESULTADO DE LA BATERÍA FINAL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0"/>
          <p:cNvSpPr/>
          <p:nvPr/>
        </p:nvSpPr>
        <p:spPr>
          <a:xfrm>
            <a:off x="640080" y="2606040"/>
            <a:ext cx="46634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eorgia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 / 20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5" name="Google Shape;655;p10"/>
          <p:cNvCxnSpPr/>
          <p:nvPr/>
        </p:nvCxnSpPr>
        <p:spPr>
          <a:xfrm>
            <a:off x="1554480" y="4160520"/>
            <a:ext cx="2834640" cy="0"/>
          </a:xfrm>
          <a:prstGeom prst="straightConnector1">
            <a:avLst/>
          </a:prstGeom>
          <a:noFill/>
          <a:ln w="1905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6" name="Google Shape;656;p10"/>
          <p:cNvSpPr/>
          <p:nvPr/>
        </p:nvSpPr>
        <p:spPr>
          <a:xfrm>
            <a:off x="640080" y="429768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3600"/>
              <a:buFont typeface="Georgia"/>
              <a:buNone/>
            </a:pPr>
            <a:r>
              <a:rPr lang="en-US" sz="3600" b="1" i="0" u="none" strike="noStrike" cap="none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PASS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0"/>
          <p:cNvSpPr/>
          <p:nvPr/>
        </p:nvSpPr>
        <p:spPr>
          <a:xfrm>
            <a:off x="640080" y="49834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 FAIL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0"/>
          <p:cNvSpPr/>
          <p:nvPr/>
        </p:nvSpPr>
        <p:spPr>
          <a:xfrm>
            <a:off x="640080" y="553212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Ejecutadas el 13 de junio sobre sistema completamente funcional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0"/>
          <p:cNvSpPr/>
          <p:nvPr/>
        </p:nvSpPr>
        <p:spPr>
          <a:xfrm>
            <a:off x="5852160" y="1783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Distribución por caso de uso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0"/>
          <p:cNvSpPr/>
          <p:nvPr/>
        </p:nvSpPr>
        <p:spPr>
          <a:xfrm>
            <a:off x="5852160" y="2286000"/>
            <a:ext cx="585216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0"/>
          <p:cNvSpPr/>
          <p:nvPr/>
        </p:nvSpPr>
        <p:spPr>
          <a:xfrm>
            <a:off x="5852160" y="2286000"/>
            <a:ext cx="91440" cy="118872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0"/>
          <p:cNvSpPr/>
          <p:nvPr/>
        </p:nvSpPr>
        <p:spPr>
          <a:xfrm>
            <a:off x="6080760" y="245059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CU-01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0"/>
          <p:cNvSpPr/>
          <p:nvPr/>
        </p:nvSpPr>
        <p:spPr>
          <a:xfrm>
            <a:off x="7132320" y="24505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Registrando Productos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0"/>
          <p:cNvSpPr/>
          <p:nvPr/>
        </p:nvSpPr>
        <p:spPr>
          <a:xfrm>
            <a:off x="10515600" y="2487168"/>
            <a:ext cx="1005840" cy="54864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0"/>
          <p:cNvSpPr/>
          <p:nvPr/>
        </p:nvSpPr>
        <p:spPr>
          <a:xfrm>
            <a:off x="10515600" y="2487168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7/7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0"/>
          <p:cNvSpPr/>
          <p:nvPr/>
        </p:nvSpPr>
        <p:spPr>
          <a:xfrm>
            <a:off x="6080760" y="29718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Tabla 5.1 · PT-01-01 a PT-01-07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0"/>
          <p:cNvSpPr/>
          <p:nvPr/>
        </p:nvSpPr>
        <p:spPr>
          <a:xfrm>
            <a:off x="5852160" y="3611880"/>
            <a:ext cx="585216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0"/>
          <p:cNvSpPr/>
          <p:nvPr/>
        </p:nvSpPr>
        <p:spPr>
          <a:xfrm>
            <a:off x="5852160" y="3611880"/>
            <a:ext cx="91440" cy="118872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0"/>
          <p:cNvSpPr/>
          <p:nvPr/>
        </p:nvSpPr>
        <p:spPr>
          <a:xfrm>
            <a:off x="6080759" y="3776472"/>
            <a:ext cx="196257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CU-27 – CU-34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800"/>
              <a:buFont typeface="Georgia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0"/>
          <p:cNvSpPr/>
          <p:nvPr/>
        </p:nvSpPr>
        <p:spPr>
          <a:xfrm>
            <a:off x="10515600" y="3813048"/>
            <a:ext cx="1005840" cy="54864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0"/>
          <p:cNvSpPr/>
          <p:nvPr/>
        </p:nvSpPr>
        <p:spPr>
          <a:xfrm>
            <a:off x="10515600" y="3813048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6/6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0"/>
          <p:cNvSpPr/>
          <p:nvPr/>
        </p:nvSpPr>
        <p:spPr>
          <a:xfrm>
            <a:off x="6080760" y="42976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Tabla 5.2 · PT-04-01 a PT-04-06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0"/>
          <p:cNvSpPr/>
          <p:nvPr/>
        </p:nvSpPr>
        <p:spPr>
          <a:xfrm>
            <a:off x="5852160" y="4937760"/>
            <a:ext cx="585216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0"/>
          <p:cNvSpPr/>
          <p:nvPr/>
        </p:nvSpPr>
        <p:spPr>
          <a:xfrm>
            <a:off x="5852160" y="4937760"/>
            <a:ext cx="91440" cy="118872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0"/>
          <p:cNvSpPr/>
          <p:nvPr/>
        </p:nvSpPr>
        <p:spPr>
          <a:xfrm>
            <a:off x="6080760" y="510235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CU-35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0"/>
          <p:cNvSpPr/>
          <p:nvPr/>
        </p:nvSpPr>
        <p:spPr>
          <a:xfrm>
            <a:off x="7132320" y="5102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Controlando Acceso Mediante Credenciales 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0"/>
          <p:cNvSpPr/>
          <p:nvPr/>
        </p:nvSpPr>
        <p:spPr>
          <a:xfrm>
            <a:off x="10515600" y="5138928"/>
            <a:ext cx="1005840" cy="54864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0"/>
          <p:cNvSpPr/>
          <p:nvPr/>
        </p:nvSpPr>
        <p:spPr>
          <a:xfrm>
            <a:off x="10515600" y="5138928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7/7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0"/>
          <p:cNvSpPr/>
          <p:nvPr/>
        </p:nvSpPr>
        <p:spPr>
          <a:xfrm>
            <a:off x="6080760" y="56235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Tabla 5.3 · PT-05-01 a PT-05-07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0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Minimarket Antucayen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0"/>
          <p:cNvSpPr/>
          <p:nvPr/>
        </p:nvSpPr>
        <p:spPr>
          <a:xfrm>
            <a:off x="8043332" y="3756861"/>
            <a:ext cx="2057401" cy="39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Importando Archivo Excel de Ajuste de Inventario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1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8. Traza Scrum++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1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n-US" sz="1600" b="0" i="1" u="none" strike="noStrike" cap="none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Línea de tiempo del primer sprint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1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1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 1 · §3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1"/>
          <p:cNvSpPr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Documentación completa del primer sprint integrada con las cinco vistas del modelo 4+1.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1"/>
          <p:cNvSpPr/>
          <p:nvPr/>
        </p:nvSpPr>
        <p:spPr>
          <a:xfrm>
            <a:off x="457200" y="2286000"/>
            <a:ext cx="36576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1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1"/>
          <p:cNvSpPr/>
          <p:nvPr/>
        </p:nvSpPr>
        <p:spPr>
          <a:xfrm>
            <a:off x="640080" y="2286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01/06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1"/>
          <p:cNvSpPr/>
          <p:nvPr/>
        </p:nvSpPr>
        <p:spPr>
          <a:xfrm>
            <a:off x="685800" y="29260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Sprint Planning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1"/>
          <p:cNvSpPr/>
          <p:nvPr/>
        </p:nvSpPr>
        <p:spPr>
          <a:xfrm>
            <a:off x="685800" y="3429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Planificación de 24 URs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1"/>
          <p:cNvSpPr/>
          <p:nvPr/>
        </p:nvSpPr>
        <p:spPr>
          <a:xfrm>
            <a:off x="4297680" y="2286000"/>
            <a:ext cx="36576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1"/>
          <p:cNvSpPr/>
          <p:nvPr/>
        </p:nvSpPr>
        <p:spPr>
          <a:xfrm>
            <a:off x="4297680" y="2286000"/>
            <a:ext cx="3657600" cy="4572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1"/>
          <p:cNvSpPr/>
          <p:nvPr/>
        </p:nvSpPr>
        <p:spPr>
          <a:xfrm>
            <a:off x="4480560" y="2286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08-12/06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1"/>
          <p:cNvSpPr/>
          <p:nvPr/>
        </p:nvSpPr>
        <p:spPr>
          <a:xfrm>
            <a:off x="4526280" y="29260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5 Daily Scrums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1"/>
          <p:cNvSpPr/>
          <p:nvPr/>
        </p:nvSpPr>
        <p:spPr>
          <a:xfrm>
            <a:off x="4526280" y="3429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Sincronización diaria · 15 min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1"/>
          <p:cNvSpPr/>
          <p:nvPr/>
        </p:nvSpPr>
        <p:spPr>
          <a:xfrm>
            <a:off x="8138160" y="2286000"/>
            <a:ext cx="36576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1"/>
          <p:cNvSpPr/>
          <p:nvPr/>
        </p:nvSpPr>
        <p:spPr>
          <a:xfrm>
            <a:off x="8138160" y="2286000"/>
            <a:ext cx="3657600" cy="4572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1"/>
          <p:cNvSpPr/>
          <p:nvPr/>
        </p:nvSpPr>
        <p:spPr>
          <a:xfrm>
            <a:off x="8321040" y="2286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10/06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1"/>
          <p:cNvSpPr/>
          <p:nvPr/>
        </p:nvSpPr>
        <p:spPr>
          <a:xfrm>
            <a:off x="8366760" y="29260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Sprint Backlog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1"/>
          <p:cNvSpPr/>
          <p:nvPr/>
        </p:nvSpPr>
        <p:spPr>
          <a:xfrm>
            <a:off x="8366760" y="3429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72 tareas · 167 HH efectivas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1"/>
          <p:cNvSpPr/>
          <p:nvPr/>
        </p:nvSpPr>
        <p:spPr>
          <a:xfrm>
            <a:off x="457200" y="4251960"/>
            <a:ext cx="36576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1"/>
          <p:cNvSpPr/>
          <p:nvPr/>
        </p:nvSpPr>
        <p:spPr>
          <a:xfrm>
            <a:off x="457200" y="4251960"/>
            <a:ext cx="3657600" cy="4572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1"/>
          <p:cNvSpPr/>
          <p:nvPr/>
        </p:nvSpPr>
        <p:spPr>
          <a:xfrm>
            <a:off x="640080" y="42519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13/06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1"/>
          <p:cNvSpPr/>
          <p:nvPr/>
        </p:nvSpPr>
        <p:spPr>
          <a:xfrm>
            <a:off x="685800" y="48920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Pruebas Unitarias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1"/>
          <p:cNvSpPr/>
          <p:nvPr/>
        </p:nvSpPr>
        <p:spPr>
          <a:xfrm>
            <a:off x="685800" y="53949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20 PASS · 0 FAIL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1"/>
          <p:cNvSpPr/>
          <p:nvPr/>
        </p:nvSpPr>
        <p:spPr>
          <a:xfrm>
            <a:off x="4297680" y="4251960"/>
            <a:ext cx="36576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1"/>
          <p:cNvSpPr/>
          <p:nvPr/>
        </p:nvSpPr>
        <p:spPr>
          <a:xfrm>
            <a:off x="4297680" y="4251960"/>
            <a:ext cx="3657600" cy="4572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1"/>
          <p:cNvSpPr/>
          <p:nvPr/>
        </p:nvSpPr>
        <p:spPr>
          <a:xfrm>
            <a:off x="4480560" y="42519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14/06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1"/>
          <p:cNvSpPr/>
          <p:nvPr/>
        </p:nvSpPr>
        <p:spPr>
          <a:xfrm>
            <a:off x="4526280" y="48920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Sprint Review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1"/>
          <p:cNvSpPr/>
          <p:nvPr/>
        </p:nvSpPr>
        <p:spPr>
          <a:xfrm>
            <a:off x="4526280" y="53949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Demo + retroalimentación cliente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1"/>
          <p:cNvSpPr/>
          <p:nvPr/>
        </p:nvSpPr>
        <p:spPr>
          <a:xfrm>
            <a:off x="8138160" y="4251960"/>
            <a:ext cx="36576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1"/>
          <p:cNvSpPr/>
          <p:nvPr/>
        </p:nvSpPr>
        <p:spPr>
          <a:xfrm>
            <a:off x="8138160" y="4251960"/>
            <a:ext cx="3657600" cy="4572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1"/>
          <p:cNvSpPr/>
          <p:nvPr/>
        </p:nvSpPr>
        <p:spPr>
          <a:xfrm>
            <a:off x="8321040" y="42519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14/06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1"/>
          <p:cNvSpPr/>
          <p:nvPr/>
        </p:nvSpPr>
        <p:spPr>
          <a:xfrm>
            <a:off x="8366760" y="48920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Sprint Retrospective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1"/>
          <p:cNvSpPr/>
          <p:nvPr/>
        </p:nvSpPr>
        <p:spPr>
          <a:xfrm>
            <a:off x="8366760" y="53949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Plan de mejora siguiente sprint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1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Minimarket Antucayen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2F"/>
        </a:solidFill>
        <a:effectLst/>
      </p:bgPr>
    </p:bg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2"/>
          <p:cNvSpPr/>
          <p:nvPr/>
        </p:nvSpPr>
        <p:spPr>
          <a:xfrm>
            <a:off x="-2286000" y="-1371600"/>
            <a:ext cx="5029200" cy="5029200"/>
          </a:xfrm>
          <a:prstGeom prst="ellipse">
            <a:avLst/>
          </a:prstGeom>
          <a:solidFill>
            <a:srgbClr val="143025"/>
          </a:solidFill>
          <a:ln w="12700" cap="flat" cmpd="sng">
            <a:solidFill>
              <a:srgbClr val="1430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2"/>
          <p:cNvSpPr/>
          <p:nvPr/>
        </p:nvSpPr>
        <p:spPr>
          <a:xfrm>
            <a:off x="9144000" y="3200400"/>
            <a:ext cx="5029200" cy="5029200"/>
          </a:xfrm>
          <a:prstGeom prst="ellipse">
            <a:avLst/>
          </a:prstGeom>
          <a:solidFill>
            <a:srgbClr val="A88444"/>
          </a:solidFill>
          <a:ln w="12700" cap="flat" cmpd="sng">
            <a:solidFill>
              <a:srgbClr val="A88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2"/>
          <p:cNvSpPr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0"/>
              <a:buFont typeface="Georgia"/>
              <a:buNone/>
            </a:pPr>
            <a:r>
              <a:rPr lang="en-US" sz="11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GRACIAS</a:t>
            </a:r>
            <a:endParaRPr sz="1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3" name="Google Shape;733;p12"/>
          <p:cNvCxnSpPr/>
          <p:nvPr/>
        </p:nvCxnSpPr>
        <p:spPr>
          <a:xfrm>
            <a:off x="5029200" y="3611880"/>
            <a:ext cx="2103120" cy="0"/>
          </a:xfrm>
          <a:prstGeom prst="straightConnector1">
            <a:avLst/>
          </a:prstGeom>
          <a:noFill/>
          <a:ln w="254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4" name="Google Shape;734;p12"/>
          <p:cNvSpPr/>
          <p:nvPr/>
        </p:nvSpPr>
        <p:spPr>
          <a:xfrm>
            <a:off x="457200" y="3749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800"/>
              <a:buFont typeface="Georgia"/>
              <a:buNone/>
            </a:pPr>
            <a:r>
              <a:rPr lang="en-US" sz="2800" b="0" i="1" u="none" strike="noStrike" cap="none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¿Preguntas?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2"/>
          <p:cNvSpPr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de Gestión de Inventario y Facturas   •   Minimarket Antucayen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2"/>
          <p:cNvSpPr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Grupo 20   •   Ingeniería de Software II   •   Universidad Andrés Bello   •  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2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Matías Ale · Fabián Gómez · Erick Hernández · </a:t>
            </a:r>
            <a:r>
              <a:rPr lang="en-US" sz="11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Diego Lobos · </a:t>
            </a:r>
            <a:r>
              <a:rPr lang="en-US" sz="11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Nicolás López · </a:t>
            </a:r>
            <a:r>
              <a:rPr lang="en-US" sz="11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Cristóbal Osorio</a:t>
            </a:r>
            <a:r>
              <a:rPr lang="en-US" sz="11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· Felipe Salas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16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Grupo 20</dc:creator>
  <cp:revision>24</cp:revision>
  <dcterms:created xsi:type="dcterms:W3CDTF">2026-06-08T06:33:53Z</dcterms:created>
  <dcterms:modified xsi:type="dcterms:W3CDTF">2026-09-25T04:16:37Z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6cc498283a99416091b4b86933b7991a_22</vt:lpwstr>
  </property>
</Properties>
</file>